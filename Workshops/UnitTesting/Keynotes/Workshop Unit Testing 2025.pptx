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1.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8" name="Shape 88"/>
          <p:cNvSpPr/>
          <p:nvPr>
            <p:ph type="sldImg"/>
          </p:nvPr>
        </p:nvSpPr>
        <p:spPr>
          <a:xfrm>
            <a:off x="1143000" y="685800"/>
            <a:ext cx="4572000" cy="3429000"/>
          </a:xfrm>
          <a:prstGeom prst="rect">
            <a:avLst/>
          </a:prstGeom>
        </p:spPr>
        <p:txBody>
          <a:bodyPr/>
          <a:lstStyle/>
          <a:p>
            <a:pPr/>
          </a:p>
        </p:txBody>
      </p:sp>
      <p:sp>
        <p:nvSpPr>
          <p:cNvPr id="89" name="Shape 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defRPr sz="1700"/>
            </a:pPr>
            <a:r>
              <a:t>cmake -B build</a:t>
            </a:r>
          </a:p>
          <a:p>
            <a:pPr>
              <a:defRPr sz="1700"/>
            </a:pPr>
            <a:r>
              <a:t>cmake --build build</a:t>
            </a:r>
          </a:p>
          <a:p>
            <a:pPr>
              <a:defRPr sz="1700"/>
            </a:pPr>
            <a:r>
              <a:t>./build/first_test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defRPr sz="1700"/>
            </a:pPr>
            <a:r>
              <a:t>cmake -B build</a:t>
            </a:r>
          </a:p>
          <a:p>
            <a:pPr>
              <a:defRPr sz="1700"/>
            </a:pPr>
            <a:r>
              <a:t>cmake --build build</a:t>
            </a:r>
          </a:p>
          <a:p>
            <a:pPr>
              <a:defRPr sz="1700"/>
            </a:pPr>
            <a:r>
              <a:t>./build/test_temperature_conversion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defRPr sz="1700"/>
            </a:pPr>
            <a:r>
              <a:t>cmake -B build</a:t>
            </a:r>
          </a:p>
          <a:p>
            <a:pPr>
              <a:defRPr sz="1700"/>
            </a:pPr>
            <a:r>
              <a:t>cmake --build build</a:t>
            </a:r>
          </a:p>
          <a:p>
            <a:pPr>
              <a:defRPr sz="1700"/>
            </a:pPr>
            <a:r>
              <a:t>./build/test_temperature_filter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defRPr sz="1700"/>
            </a:pPr>
            <a:r>
              <a:t>cmake -B build</a:t>
            </a:r>
          </a:p>
          <a:p>
            <a:pPr>
              <a:defRPr sz="1700"/>
            </a:pPr>
            <a:r>
              <a:t>cmake --build build</a:t>
            </a:r>
          </a:p>
          <a:p>
            <a:pPr>
              <a:defRPr sz="1700"/>
            </a:pPr>
            <a:r>
              <a:t>./build/test_temperature_filter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r>
              <a:t>https://martinfowler.com/bliki/UnitTest.html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https://martinfowler.com/bliki/UnitTest.html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https://martinfowler.com/bliki/UnitTest.html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https://martinfowler.com/bliki/UnitTest.html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dia">
    <p:spTree>
      <p:nvGrpSpPr>
        <p:cNvPr id="1" name=""/>
        <p:cNvGrpSpPr/>
        <p:nvPr/>
      </p:nvGrpSpPr>
      <p:grpSpPr>
        <a:xfrm>
          <a:off x="0" y="0"/>
          <a:ext cx="0" cy="0"/>
          <a:chOff x="0" y="0"/>
          <a:chExt cx="0" cy="0"/>
        </a:xfrm>
      </p:grpSpPr>
      <p:sp>
        <p:nvSpPr>
          <p:cNvPr id="12"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13"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1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Tekst">
    <p:spTree>
      <p:nvGrpSpPr>
        <p:cNvPr id="1" name=""/>
        <p:cNvGrpSpPr/>
        <p:nvPr/>
      </p:nvGrpSpPr>
      <p:grpSpPr>
        <a:xfrm>
          <a:off x="0" y="0"/>
          <a:ext cx="0" cy="0"/>
          <a:chOff x="0" y="0"/>
          <a:chExt cx="0" cy="0"/>
        </a:xfrm>
      </p:grpSpPr>
      <p:sp>
        <p:nvSpPr>
          <p:cNvPr id="21" name="Titeltekst"/>
          <p:cNvSpPr txBox="1"/>
          <p:nvPr>
            <p:ph type="title"/>
          </p:nvPr>
        </p:nvSpPr>
        <p:spPr>
          <a:prstGeom prst="rect">
            <a:avLst/>
          </a:prstGeom>
        </p:spPr>
        <p:txBody>
          <a:bodyPr/>
          <a:lstStyle/>
          <a:p>
            <a:pPr/>
            <a:r>
              <a:t>Titeltekst</a:t>
            </a:r>
          </a:p>
        </p:txBody>
      </p:sp>
      <p:sp>
        <p:nvSpPr>
          <p:cNvPr id="22" name="Hoofdtekst - niveau één…"/>
          <p:cNvSpPr txBox="1"/>
          <p:nvPr>
            <p:ph type="body" idx="1"/>
          </p:nvPr>
        </p:nvSpPr>
        <p:spPr>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2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halve tekst">
    <p:spTree>
      <p:nvGrpSpPr>
        <p:cNvPr id="1" name=""/>
        <p:cNvGrpSpPr/>
        <p:nvPr/>
      </p:nvGrpSpPr>
      <p:grpSpPr>
        <a:xfrm>
          <a:off x="0" y="0"/>
          <a:ext cx="0" cy="0"/>
          <a:chOff x="0" y="0"/>
          <a:chExt cx="0" cy="0"/>
        </a:xfrm>
      </p:grpSpPr>
      <p:sp>
        <p:nvSpPr>
          <p:cNvPr id="30" name="Titeltekst"/>
          <p:cNvSpPr txBox="1"/>
          <p:nvPr>
            <p:ph type="title"/>
          </p:nvPr>
        </p:nvSpPr>
        <p:spPr>
          <a:prstGeom prst="rect">
            <a:avLst/>
          </a:prstGeom>
        </p:spPr>
        <p:txBody>
          <a:bodyPr/>
          <a:lstStyle/>
          <a:p>
            <a:pPr/>
            <a:r>
              <a:t>Titeltekst</a:t>
            </a:r>
          </a:p>
        </p:txBody>
      </p:sp>
      <p:sp>
        <p:nvSpPr>
          <p:cNvPr id="31" name="Hoofdtekst - niveau één…"/>
          <p:cNvSpPr txBox="1"/>
          <p:nvPr>
            <p:ph type="body" sz="half" idx="1"/>
          </p:nvPr>
        </p:nvSpPr>
        <p:spPr>
          <a:xfrm>
            <a:off x="1688592" y="3069576"/>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32" name="Tijdelijke aanduiding voor tekst 2"/>
          <p:cNvSpPr/>
          <p:nvPr/>
        </p:nvSpPr>
        <p:spPr>
          <a:xfrm>
            <a:off x="891921" y="12336122"/>
            <a:ext cx="20805776" cy="1031359"/>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lvl="1">
              <a:lnSpc>
                <a:spcPct val="80000"/>
              </a:lnSpc>
              <a:spcBef>
                <a:spcPts val="1000"/>
              </a:spcBef>
              <a:defRPr sz="4200">
                <a:solidFill>
                  <a:srgbClr val="E50856"/>
                </a:solidFill>
                <a:latin typeface="Avenir Next Condensed Regular"/>
                <a:ea typeface="Avenir Next Condensed Regular"/>
                <a:cs typeface="Avenir Next Condensed Regular"/>
                <a:sym typeface="Avenir Next Condensed Regular"/>
              </a:defRPr>
            </a:pPr>
            <a:r>
              <a:t>Prog 6 - Unit Testing</a:t>
            </a:r>
          </a:p>
        </p:txBody>
      </p:sp>
      <p:sp>
        <p:nvSpPr>
          <p:cNvPr id="3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Afbeelding">
    <p:spTree>
      <p:nvGrpSpPr>
        <p:cNvPr id="1" name=""/>
        <p:cNvGrpSpPr/>
        <p:nvPr/>
      </p:nvGrpSpPr>
      <p:grpSpPr>
        <a:xfrm>
          <a:off x="0" y="0"/>
          <a:ext cx="0" cy="0"/>
          <a:chOff x="0" y="0"/>
          <a:chExt cx="0" cy="0"/>
        </a:xfrm>
      </p:grpSpPr>
      <p:sp>
        <p:nvSpPr>
          <p:cNvPr id="40" name="Tijdelijke aanduiding voor afbeelding 15"/>
          <p:cNvSpPr/>
          <p:nvPr>
            <p:ph type="pic" sz="half" idx="21"/>
          </p:nvPr>
        </p:nvSpPr>
        <p:spPr>
          <a:xfrm>
            <a:off x="13169900" y="3064497"/>
            <a:ext cx="9525000" cy="9223248"/>
          </a:xfrm>
          <a:prstGeom prst="rect">
            <a:avLst/>
          </a:prstGeom>
        </p:spPr>
        <p:txBody>
          <a:bodyPr lIns="91439" rIns="91439">
            <a:noAutofit/>
          </a:bodyPr>
          <a:lstStyle/>
          <a:p>
            <a:pPr/>
          </a:p>
        </p:txBody>
      </p:sp>
      <p:sp>
        <p:nvSpPr>
          <p:cNvPr id="41" name="Titeltekst"/>
          <p:cNvSpPr txBox="1"/>
          <p:nvPr>
            <p:ph type="title"/>
          </p:nvPr>
        </p:nvSpPr>
        <p:spPr>
          <a:prstGeom prst="rect">
            <a:avLst/>
          </a:prstGeom>
        </p:spPr>
        <p:txBody>
          <a:bodyPr/>
          <a:lstStyle/>
          <a:p>
            <a:pPr/>
            <a:r>
              <a:t>Titeltekst</a:t>
            </a:r>
          </a:p>
        </p:txBody>
      </p:sp>
      <p:sp>
        <p:nvSpPr>
          <p:cNvPr id="42" name="Hoofdtekst - niveau één…"/>
          <p:cNvSpPr txBox="1"/>
          <p:nvPr>
            <p:ph type="body" sz="half" idx="1"/>
          </p:nvPr>
        </p:nvSpPr>
        <p:spPr>
          <a:xfrm>
            <a:off x="1689100" y="3064497"/>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3"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4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ubbele Titel en Tekst">
    <p:spTree>
      <p:nvGrpSpPr>
        <p:cNvPr id="1" name=""/>
        <p:cNvGrpSpPr/>
        <p:nvPr/>
      </p:nvGrpSpPr>
      <p:grpSpPr>
        <a:xfrm>
          <a:off x="0" y="0"/>
          <a:ext cx="0" cy="0"/>
          <a:chOff x="0" y="0"/>
          <a:chExt cx="0" cy="0"/>
        </a:xfrm>
      </p:grpSpPr>
      <p:sp>
        <p:nvSpPr>
          <p:cNvPr id="51" name="Titeltekst"/>
          <p:cNvSpPr txBox="1"/>
          <p:nvPr>
            <p:ph type="title"/>
          </p:nvPr>
        </p:nvSpPr>
        <p:spPr>
          <a:prstGeom prst="rect">
            <a:avLst/>
          </a:prstGeom>
        </p:spPr>
        <p:txBody>
          <a:bodyPr/>
          <a:lstStyle/>
          <a:p>
            <a:pPr/>
            <a:r>
              <a:t>Titeltekst</a:t>
            </a:r>
          </a:p>
        </p:txBody>
      </p:sp>
      <p:sp>
        <p:nvSpPr>
          <p:cNvPr id="52" name="Hoofdtekst - niveau één…"/>
          <p:cNvSpPr txBox="1"/>
          <p:nvPr>
            <p:ph type="body" sz="half" idx="1"/>
          </p:nvPr>
        </p:nvSpPr>
        <p:spPr>
          <a:xfrm>
            <a:off x="1689100" y="4791455"/>
            <a:ext cx="9537701" cy="7569442"/>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53" name="Tijdelijke aanduiding voor tekst 23"/>
          <p:cNvSpPr/>
          <p:nvPr>
            <p:ph type="body" sz="half" idx="21"/>
          </p:nvPr>
        </p:nvSpPr>
        <p:spPr>
          <a:xfrm>
            <a:off x="13157198" y="4791455"/>
            <a:ext cx="9537702" cy="7569439"/>
          </a:xfrm>
          <a:prstGeom prst="rect">
            <a:avLst/>
          </a:prstGeom>
        </p:spPr>
        <p:txBody>
          <a:bodyPr/>
          <a:lstStyle/>
          <a:p>
            <a:pPr/>
          </a:p>
        </p:txBody>
      </p:sp>
      <p:sp>
        <p:nvSpPr>
          <p:cNvPr id="54" name="Tijdelijke aanduiding voor tekst 2"/>
          <p:cNvSpPr/>
          <p:nvPr>
            <p:ph type="body" sz="quarter" idx="22"/>
          </p:nvPr>
        </p:nvSpPr>
        <p:spPr>
          <a:xfrm>
            <a:off x="1676400" y="3154677"/>
            <a:ext cx="9537700" cy="1289307"/>
          </a:xfrm>
          <a:prstGeom prst="rect">
            <a:avLst/>
          </a:prstGeom>
        </p:spPr>
        <p:txBody>
          <a:bodyPr anchor="ctr"/>
          <a:lstStyle/>
          <a:p>
            <a:pPr>
              <a:defRPr b="1" sz="2800"/>
            </a:pPr>
          </a:p>
        </p:txBody>
      </p:sp>
      <p:sp>
        <p:nvSpPr>
          <p:cNvPr id="55" name="Tijdelijke aanduiding voor tekst 2"/>
          <p:cNvSpPr/>
          <p:nvPr>
            <p:ph type="body" sz="quarter" idx="23"/>
          </p:nvPr>
        </p:nvSpPr>
        <p:spPr>
          <a:xfrm>
            <a:off x="13157198" y="3150106"/>
            <a:ext cx="9537701" cy="1289306"/>
          </a:xfrm>
          <a:prstGeom prst="rect">
            <a:avLst/>
          </a:prstGeom>
        </p:spPr>
        <p:txBody>
          <a:bodyPr anchor="ctr"/>
          <a:lstStyle/>
          <a:p>
            <a:pPr>
              <a:defRPr b="1" sz="2800"/>
            </a:pPr>
          </a:p>
        </p:txBody>
      </p:sp>
      <p:pic>
        <p:nvPicPr>
          <p:cNvPr id="56"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5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Zwarte Achtergrond)">
    <p:spTree>
      <p:nvGrpSpPr>
        <p:cNvPr id="1" name=""/>
        <p:cNvGrpSpPr/>
        <p:nvPr/>
      </p:nvGrpSpPr>
      <p:grpSpPr>
        <a:xfrm>
          <a:off x="0" y="0"/>
          <a:ext cx="0" cy="0"/>
          <a:chOff x="0" y="0"/>
          <a:chExt cx="0" cy="0"/>
        </a:xfrm>
      </p:grpSpPr>
      <p:sp>
        <p:nvSpPr>
          <p:cNvPr id="64" name="Rechthoek"/>
          <p:cNvSpPr/>
          <p:nvPr/>
        </p:nvSpPr>
        <p:spPr>
          <a:xfrm>
            <a:off x="6756400" y="1088828"/>
            <a:ext cx="10871200" cy="11484172"/>
          </a:xfrm>
          <a:prstGeom prst="rect">
            <a:avLst/>
          </a:prstGeom>
          <a:solidFill>
            <a:srgbClr val="000000"/>
          </a:solidFill>
          <a:ln w="12700">
            <a:miter lim="400000"/>
          </a:ln>
        </p:spPr>
        <p:txBody>
          <a:bodyPr lIns="45719" rIns="45719" anchor="ctr"/>
          <a:lstStyle/>
          <a:p>
            <a:pPr>
              <a:defRPr sz="3200">
                <a:solidFill>
                  <a:srgbClr val="FFFFFF"/>
                </a:solidFill>
              </a:defRPr>
            </a:pPr>
          </a:p>
        </p:txBody>
      </p:sp>
      <p:pic>
        <p:nvPicPr>
          <p:cNvPr id="65" name="Afbeelding 2" descr="Afbeelding 2"/>
          <p:cNvPicPr>
            <a:picLocks noChangeAspect="1"/>
          </p:cNvPicPr>
          <p:nvPr/>
        </p:nvPicPr>
        <p:blipFill>
          <a:blip r:embed="rId2">
            <a:extLst/>
          </a:blip>
          <a:stretch>
            <a:fillRect/>
          </a:stretch>
        </p:blipFill>
        <p:spPr>
          <a:xfrm>
            <a:off x="7416848" y="760549"/>
            <a:ext cx="633048" cy="528756"/>
          </a:xfrm>
          <a:prstGeom prst="rect">
            <a:avLst/>
          </a:prstGeom>
          <a:ln w="12700">
            <a:miter lim="400000"/>
          </a:ln>
        </p:spPr>
      </p:pic>
      <p:sp>
        <p:nvSpPr>
          <p:cNvPr id="66" name="Titeltekst"/>
          <p:cNvSpPr txBox="1"/>
          <p:nvPr>
            <p:ph type="title"/>
          </p:nvPr>
        </p:nvSpPr>
        <p:spPr>
          <a:xfrm>
            <a:off x="7416848" y="2708721"/>
            <a:ext cx="9550304" cy="8298558"/>
          </a:xfrm>
          <a:prstGeom prst="rect">
            <a:avLst/>
          </a:prstGeom>
        </p:spPr>
        <p:txBody>
          <a:bodyPr anchor="t"/>
          <a:lstStyle>
            <a:lvl1pPr>
              <a:lnSpc>
                <a:spcPct val="100000"/>
              </a:lnSpc>
              <a:defRPr b="1">
                <a:solidFill>
                  <a:srgbClr val="FFFFFF"/>
                </a:solidFill>
              </a:defRPr>
            </a:lvl1pPr>
          </a:lstStyle>
          <a:p>
            <a:pPr/>
            <a:r>
              <a:t>Titeltekst</a:t>
            </a:r>
          </a:p>
        </p:txBody>
      </p:sp>
      <p:sp>
        <p:nvSpPr>
          <p:cNvPr id="67" name="Hoofdtekst - niveau één…"/>
          <p:cNvSpPr txBox="1"/>
          <p:nvPr>
            <p:ph type="body" sz="quarter" idx="1"/>
          </p:nvPr>
        </p:nvSpPr>
        <p:spPr>
          <a:xfrm>
            <a:off x="7416848" y="11256364"/>
            <a:ext cx="9550301" cy="1142900"/>
          </a:xfrm>
          <a:prstGeom prst="rect">
            <a:avLst/>
          </a:prstGeom>
        </p:spPr>
        <p:txBody>
          <a:bodyPr anchor="ctr"/>
          <a:lstStyle>
            <a:lvl1pPr>
              <a:defRPr sz="5200">
                <a:solidFill>
                  <a:srgbClr val="FFFFFF"/>
                </a:solidFill>
              </a:defRPr>
            </a:lvl1pPr>
            <a:lvl2pPr marL="821600" indent="-330200">
              <a:defRPr sz="5200">
                <a:solidFill>
                  <a:srgbClr val="FFFFFF"/>
                </a:solidFill>
              </a:defRPr>
            </a:lvl2pPr>
            <a:lvl3pPr marL="1222874" indent="-371475">
              <a:defRPr sz="5200">
                <a:solidFill>
                  <a:srgbClr val="FFFFFF"/>
                </a:solidFill>
              </a:defRPr>
            </a:lvl3pPr>
            <a:lvl4pPr marL="1815942" indent="-424542">
              <a:defRPr sz="5200">
                <a:solidFill>
                  <a:srgbClr val="FFFFFF"/>
                </a:solidFill>
              </a:defRPr>
            </a:lvl4pPr>
            <a:lvl5pPr marL="2265942" indent="-424542">
              <a:defRPr sz="5200">
                <a:solidFill>
                  <a:srgbClr val="FFFFFF"/>
                </a:solidFill>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68"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sp>
        <p:nvSpPr>
          <p:cNvPr id="6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dia">
    <p:spTree>
      <p:nvGrpSpPr>
        <p:cNvPr id="1" name=""/>
        <p:cNvGrpSpPr/>
        <p:nvPr/>
      </p:nvGrpSpPr>
      <p:grpSpPr>
        <a:xfrm>
          <a:off x="0" y="0"/>
          <a:ext cx="0" cy="0"/>
          <a:chOff x="0" y="0"/>
          <a:chExt cx="0" cy="0"/>
        </a:xfrm>
      </p:grpSpPr>
      <p:pic>
        <p:nvPicPr>
          <p:cNvPr id="76" name="D5FhM3ZXoAMfgI-.jpg_large.jpeg" descr="D5FhM3ZXoAMfgI-.jpg_large.jpeg"/>
          <p:cNvPicPr>
            <a:picLocks noChangeAspect="1"/>
          </p:cNvPicPr>
          <p:nvPr/>
        </p:nvPicPr>
        <p:blipFill>
          <a:blip r:embed="rId2">
            <a:extLst/>
          </a:blip>
          <a:srcRect l="0" t="4916" r="0" b="32757"/>
          <a:stretch>
            <a:fillRect/>
          </a:stretch>
        </p:blipFill>
        <p:spPr>
          <a:xfrm>
            <a:off x="0" y="3391197"/>
            <a:ext cx="24384000" cy="5728694"/>
          </a:xfrm>
          <a:prstGeom prst="rect">
            <a:avLst/>
          </a:prstGeom>
          <a:ln w="12700">
            <a:miter lim="400000"/>
          </a:ln>
        </p:spPr>
      </p:pic>
      <p:pic>
        <p:nvPicPr>
          <p:cNvPr id="77"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pic>
        <p:nvPicPr>
          <p:cNvPr id="78" name="Afbeelding 2" descr="Afbeelding 2"/>
          <p:cNvPicPr>
            <a:picLocks noChangeAspect="1"/>
          </p:cNvPicPr>
          <p:nvPr/>
        </p:nvPicPr>
        <p:blipFill>
          <a:blip r:embed="rId4">
            <a:extLst/>
          </a:blip>
          <a:stretch>
            <a:fillRect/>
          </a:stretch>
        </p:blipFill>
        <p:spPr>
          <a:xfrm>
            <a:off x="8184454" y="2107775"/>
            <a:ext cx="11271116" cy="7162250"/>
          </a:xfrm>
          <a:prstGeom prst="rect">
            <a:avLst/>
          </a:prstGeom>
          <a:ln w="12700">
            <a:miter lim="400000"/>
          </a:ln>
        </p:spPr>
      </p:pic>
      <p:sp>
        <p:nvSpPr>
          <p:cNvPr id="79"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80"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81" name="Text Placeholder 3"/>
          <p:cNvSpPr/>
          <p:nvPr>
            <p:ph type="body" sz="half" idx="22"/>
          </p:nvPr>
        </p:nvSpPr>
        <p:spPr>
          <a:xfrm>
            <a:off x="1800225" y="3894137"/>
            <a:ext cx="20828000" cy="5199063"/>
          </a:xfrm>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8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eltekst"/>
          <p:cNvSpPr txBox="1"/>
          <p:nvPr>
            <p:ph type="title"/>
          </p:nvPr>
        </p:nvSpPr>
        <p:spPr>
          <a:xfrm>
            <a:off x="1676400" y="730253"/>
            <a:ext cx="21031200" cy="2067811"/>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Titeltekst</a:t>
            </a:r>
          </a:p>
        </p:txBody>
      </p:sp>
      <p:sp>
        <p:nvSpPr>
          <p:cNvPr id="3" name="Hoofdtekst - niveau één…"/>
          <p:cNvSpPr txBox="1"/>
          <p:nvPr>
            <p:ph type="body" idx="1"/>
          </p:nvPr>
        </p:nvSpPr>
        <p:spPr>
          <a:xfrm>
            <a:off x="1688592" y="3069576"/>
            <a:ext cx="21031201" cy="92964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 name="Afbeelding 3" descr="Afbeelding 3"/>
          <p:cNvPicPr>
            <a:picLocks noChangeAspect="1"/>
          </p:cNvPicPr>
          <p:nvPr/>
        </p:nvPicPr>
        <p:blipFill>
          <a:blip r:embed="rId2">
            <a:extLst/>
          </a:blip>
          <a:stretch>
            <a:fillRect/>
          </a:stretch>
        </p:blipFill>
        <p:spPr>
          <a:xfrm>
            <a:off x="20913394" y="12431076"/>
            <a:ext cx="3127287" cy="1354999"/>
          </a:xfrm>
          <a:prstGeom prst="rect">
            <a:avLst/>
          </a:prstGeom>
          <a:ln w="12700">
            <a:miter lim="400000"/>
          </a:ln>
        </p:spPr>
      </p:pic>
      <p:sp>
        <p:nvSpPr>
          <p:cNvPr id="5" name="Dianummer"/>
          <p:cNvSpPr txBox="1"/>
          <p:nvPr>
            <p:ph type="sldNum" sz="quarter" idx="2"/>
          </p:nvPr>
        </p:nvSpPr>
        <p:spPr>
          <a:xfrm>
            <a:off x="11785600" y="12344400"/>
            <a:ext cx="5689600" cy="7366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1pPr>
      <a:lvl2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2pPr>
      <a:lvl3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3pPr>
      <a:lvl4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4pPr>
      <a:lvl5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5pPr>
      <a:lvl6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6pPr>
      <a:lvl7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7pPr>
      <a:lvl8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8pPr>
      <a:lvl9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9pPr>
    </p:titleStyle>
    <p:bodyStyle>
      <a:lvl1pPr marL="0" marR="0" indent="0" algn="l" defTabSz="914400" rtl="0" latinLnBrk="0">
        <a:lnSpc>
          <a:spcPct val="80000"/>
        </a:lnSpc>
        <a:spcBef>
          <a:spcPts val="1000"/>
        </a:spcBef>
        <a:spcAft>
          <a:spcPts val="0"/>
        </a:spcAft>
        <a:buClrTx/>
        <a:buSzTx/>
        <a:buFontTx/>
        <a:buNone/>
        <a:tabLst/>
        <a:defRPr b="0" baseline="0" cap="none" i="0" spc="0" strike="noStrike" sz="3800" u="none">
          <a:solidFill>
            <a:srgbClr val="000000"/>
          </a:solidFill>
          <a:uFillTx/>
          <a:latin typeface="Arial"/>
          <a:ea typeface="Arial"/>
          <a:cs typeface="Arial"/>
          <a:sym typeface="Arial"/>
        </a:defRPr>
      </a:lvl1pPr>
      <a:lvl2pPr marL="732699" marR="0" indent="-2413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2pPr>
      <a:lvl3pPr marL="1122862" marR="0" indent="-27146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3pPr>
      <a:lvl4pPr marL="170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4pPr>
      <a:lvl5pPr marL="215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5pPr>
      <a:lvl6pPr marL="27686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6pPr>
      <a:lvl7pPr marL="32258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7pPr>
      <a:lvl8pPr marL="36830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8pPr>
      <a:lvl9pPr marL="41402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tif"/></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EAEmbedded/ESE_PROG/tree/main/Workshops/UnitTesting" TargetMode="External"/><Relationship Id="rId3" Type="http://schemas.openxmlformats.org/officeDocument/2006/relationships/hyperlink" Target="https://github.com/AEAEmbedded/ESE_PROG.git" TargetMode="External"/><Relationship Id="rId4" Type="http://schemas.openxmlformats.org/officeDocument/2006/relationships/image" Target="../media/image1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tif"/></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lauterbach.com/" TargetMode="External"/><Relationship Id="rId3" Type="http://schemas.openxmlformats.org/officeDocument/2006/relationships/image" Target="../media/image19.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ijdelijke aanduiding voor tekst 1"/>
          <p:cNvSpPr txBox="1"/>
          <p:nvPr>
            <p:ph type="body" sz="quarter" idx="1"/>
          </p:nvPr>
        </p:nvSpPr>
        <p:spPr>
          <a:prstGeom prst="rect">
            <a:avLst/>
          </a:prstGeom>
        </p:spPr>
        <p:txBody>
          <a:bodyPr/>
          <a:lstStyle/>
          <a:p>
            <a:pPr/>
            <a:r>
              <a:t>Workshop on CMake</a:t>
            </a:r>
          </a:p>
        </p:txBody>
      </p:sp>
      <p:sp>
        <p:nvSpPr>
          <p:cNvPr id="92" name="Tijdelijke aanduiding voor tekst 2"/>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lvl="1" marL="0" indent="457200">
              <a:buSzTx/>
              <a:buNone/>
              <a:defRPr sz="5200">
                <a:solidFill>
                  <a:srgbClr val="E50856"/>
                </a:solidFill>
                <a:latin typeface="Avenir Next Condensed Regular"/>
                <a:ea typeface="Avenir Next Condensed Regular"/>
                <a:cs typeface="Avenir Next Condensed Regular"/>
                <a:sym typeface="Avenir Next Condensed Regular"/>
              </a:defRPr>
            </a:pPr>
            <a:r>
              <a:t>Programming 6</a:t>
            </a:r>
          </a:p>
        </p:txBody>
      </p:sp>
      <p:sp>
        <p:nvSpPr>
          <p:cNvPr id="93" name="Tijdelijke aanduiding voor tekst 3"/>
          <p:cNvSpPr/>
          <p:nvPr>
            <p:ph type="body" idx="22"/>
          </p:nvPr>
        </p:nvSpPr>
        <p:spPr>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94" name="Tijdelijke aanduiding voor tekst 1"/>
          <p:cNvSpPr txBox="1"/>
          <p:nvPr/>
        </p:nvSpPr>
        <p:spPr>
          <a:xfrm>
            <a:off x="1800225" y="11121881"/>
            <a:ext cx="20828000" cy="16097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80000"/>
              </a:lnSpc>
              <a:spcBef>
                <a:spcPts val="1000"/>
              </a:spcBef>
              <a:defRPr sz="3000">
                <a:latin typeface="Avenir Next Condensed Regular"/>
                <a:ea typeface="Avenir Next Condensed Regular"/>
                <a:cs typeface="Avenir Next Condensed Regular"/>
                <a:sym typeface="Avenir Next Condensed Regular"/>
              </a:defRPr>
            </a:pPr>
            <a:r>
              <a:t>johan.korten@han.nl </a:t>
            </a:r>
          </a:p>
          <a:p>
            <a:pPr>
              <a:lnSpc>
                <a:spcPct val="80000"/>
              </a:lnSpc>
              <a:spcBef>
                <a:spcPts val="1000"/>
              </a:spcBef>
              <a:defRPr sz="3000">
                <a:latin typeface="Avenir Next Condensed Regular"/>
                <a:ea typeface="Avenir Next Condensed Regular"/>
                <a:cs typeface="Avenir Next Condensed Regular"/>
                <a:sym typeface="Avenir Next Condensed Regular"/>
              </a:defRPr>
            </a:pPr>
            <a:r>
              <a:t>V1.0 Nov 2025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Workshop Topics overview"/>
          <p:cNvSpPr txBox="1"/>
          <p:nvPr>
            <p:ph type="title"/>
          </p:nvPr>
        </p:nvSpPr>
        <p:spPr>
          <a:prstGeom prst="rect">
            <a:avLst/>
          </a:prstGeom>
        </p:spPr>
        <p:txBody>
          <a:bodyPr/>
          <a:lstStyle/>
          <a:p>
            <a:pPr/>
            <a:r>
              <a:t>Workshop Topics overview</a:t>
            </a:r>
          </a:p>
        </p:txBody>
      </p:sp>
      <p:sp>
        <p:nvSpPr>
          <p:cNvPr id="97" name="Clean code (beyond SOLID)…"/>
          <p:cNvSpPr txBox="1"/>
          <p:nvPr>
            <p:ph type="body" idx="1"/>
          </p:nvPr>
        </p:nvSpPr>
        <p:spPr>
          <a:xfrm>
            <a:off x="1688592" y="3069576"/>
            <a:ext cx="21824355" cy="9296401"/>
          </a:xfrm>
          <a:prstGeom prst="rect">
            <a:avLst/>
          </a:prstGeom>
        </p:spPr>
        <p:txBody>
          <a:bodyPr/>
          <a:lstStyle/>
          <a:p>
            <a:pPr>
              <a:lnSpc>
                <a:spcPct val="120000"/>
              </a:lnSpc>
            </a:pPr>
            <a:r>
              <a:t>Clean code (beyond SOLID)</a:t>
            </a:r>
          </a:p>
          <a:p>
            <a:pPr>
              <a:lnSpc>
                <a:spcPct val="120000"/>
              </a:lnSpc>
            </a:pPr>
            <a:r>
              <a:t>CMake</a:t>
            </a:r>
          </a:p>
          <a:p>
            <a:pPr>
              <a:lnSpc>
                <a:spcPct val="120000"/>
              </a:lnSpc>
              <a:defRPr b="1"/>
            </a:pPr>
            <a:r>
              <a:t>Unit testing</a:t>
            </a:r>
          </a:p>
          <a:p>
            <a:pPr>
              <a:lnSpc>
                <a:spcPct val="120000"/>
              </a:lnSpc>
            </a:pPr>
            <a:r>
              <a:t>Commentaar</a:t>
            </a:r>
          </a:p>
          <a:p>
            <a:pPr>
              <a:lnSpc>
                <a:spcPct val="120000"/>
              </a:lnSpc>
            </a:pPr>
            <a:r>
              <a:t>Patterns (Clean architecture)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Workshop Topics for Today"/>
          <p:cNvSpPr txBox="1"/>
          <p:nvPr>
            <p:ph type="title"/>
          </p:nvPr>
        </p:nvSpPr>
        <p:spPr>
          <a:prstGeom prst="rect">
            <a:avLst/>
          </a:prstGeom>
        </p:spPr>
        <p:txBody>
          <a:bodyPr/>
          <a:lstStyle/>
          <a:p>
            <a:pPr/>
            <a:r>
              <a:t>Workshop Topics for Today</a:t>
            </a:r>
          </a:p>
        </p:txBody>
      </p:sp>
      <p:sp>
        <p:nvSpPr>
          <p:cNvPr id="100" name="- Testing in General…"/>
          <p:cNvSpPr txBox="1"/>
          <p:nvPr>
            <p:ph type="body" idx="1"/>
          </p:nvPr>
        </p:nvSpPr>
        <p:spPr>
          <a:xfrm>
            <a:off x="1688592" y="3069576"/>
            <a:ext cx="21824355" cy="9296401"/>
          </a:xfrm>
          <a:prstGeom prst="rect">
            <a:avLst/>
          </a:prstGeom>
        </p:spPr>
        <p:txBody>
          <a:bodyPr/>
          <a:lstStyle/>
          <a:p>
            <a:pPr>
              <a:lnSpc>
                <a:spcPct val="120000"/>
              </a:lnSpc>
              <a:defRPr b="1"/>
            </a:pPr>
            <a:r>
              <a:t>- Testing in General</a:t>
            </a:r>
          </a:p>
          <a:p>
            <a:pPr>
              <a:lnSpc>
                <a:spcPct val="120000"/>
              </a:lnSpc>
              <a:defRPr b="1"/>
            </a:pPr>
            <a:r>
              <a:t>- V-Model vs Testing Pyramid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General Warning on Testing"/>
          <p:cNvSpPr txBox="1"/>
          <p:nvPr>
            <p:ph type="title"/>
          </p:nvPr>
        </p:nvSpPr>
        <p:spPr>
          <a:prstGeom prst="rect">
            <a:avLst/>
          </a:prstGeom>
        </p:spPr>
        <p:txBody>
          <a:bodyPr/>
          <a:lstStyle/>
          <a:p>
            <a:pPr/>
            <a:r>
              <a:t>General Warning on Testing</a:t>
            </a:r>
          </a:p>
        </p:txBody>
      </p:sp>
      <p:sp>
        <p:nvSpPr>
          <p:cNvPr id="103" name="“Program testing can be used to show the presence of bugs,…"/>
          <p:cNvSpPr txBox="1"/>
          <p:nvPr>
            <p:ph type="body" idx="1"/>
          </p:nvPr>
        </p:nvSpPr>
        <p:spPr>
          <a:xfrm>
            <a:off x="1688592" y="3069576"/>
            <a:ext cx="21824355" cy="9296401"/>
          </a:xfrm>
          <a:prstGeom prst="rect">
            <a:avLst/>
          </a:prstGeom>
        </p:spPr>
        <p:txBody>
          <a:bodyPr/>
          <a:lstStyle/>
          <a:p>
            <a:pPr>
              <a:lnSpc>
                <a:spcPct val="120000"/>
              </a:lnSpc>
            </a:pPr>
            <a:r>
              <a:t>“Program testing can be used to show the presence of bugs, </a:t>
            </a:r>
          </a:p>
          <a:p>
            <a:pPr>
              <a:lnSpc>
                <a:spcPct val="120000"/>
              </a:lnSpc>
            </a:pPr>
            <a:r>
              <a:t>but never to show their absence!” </a:t>
            </a:r>
          </a:p>
          <a:p>
            <a:pPr>
              <a:lnSpc>
                <a:spcPct val="120000"/>
              </a:lnSpc>
            </a:pPr>
          </a:p>
          <a:p>
            <a:pPr>
              <a:lnSpc>
                <a:spcPct val="120000"/>
              </a:lnSpc>
            </a:pPr>
            <a:r>
              <a:t>― Edsger W. Dijkstra</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General Warning on Testing"/>
          <p:cNvSpPr txBox="1"/>
          <p:nvPr>
            <p:ph type="title"/>
          </p:nvPr>
        </p:nvSpPr>
        <p:spPr>
          <a:prstGeom prst="rect">
            <a:avLst/>
          </a:prstGeom>
        </p:spPr>
        <p:txBody>
          <a:bodyPr/>
          <a:lstStyle/>
          <a:p>
            <a:pPr/>
            <a:r>
              <a:t>General Warning on Testing</a:t>
            </a:r>
          </a:p>
        </p:txBody>
      </p:sp>
      <p:sp>
        <p:nvSpPr>
          <p:cNvPr id="106" name="“Program testing can be used to show the presence of bugs,…"/>
          <p:cNvSpPr txBox="1"/>
          <p:nvPr>
            <p:ph type="body" idx="1"/>
          </p:nvPr>
        </p:nvSpPr>
        <p:spPr>
          <a:xfrm>
            <a:off x="1688592" y="3069576"/>
            <a:ext cx="21824355" cy="9296401"/>
          </a:xfrm>
          <a:prstGeom prst="rect">
            <a:avLst/>
          </a:prstGeom>
        </p:spPr>
        <p:txBody>
          <a:bodyPr/>
          <a:lstStyle/>
          <a:p>
            <a:pPr>
              <a:lnSpc>
                <a:spcPct val="120000"/>
              </a:lnSpc>
            </a:pPr>
            <a:r>
              <a:t>“Program testing can be used to show the presence of bugs, </a:t>
            </a:r>
          </a:p>
          <a:p>
            <a:pPr>
              <a:lnSpc>
                <a:spcPct val="120000"/>
              </a:lnSpc>
            </a:pPr>
            <a:r>
              <a:t>but never to show their absence!” </a:t>
            </a:r>
          </a:p>
          <a:p>
            <a:pPr>
              <a:lnSpc>
                <a:spcPct val="120000"/>
              </a:lnSpc>
            </a:pPr>
          </a:p>
          <a:p>
            <a:pPr>
              <a:lnSpc>
                <a:spcPct val="120000"/>
              </a:lnSpc>
            </a:pPr>
            <a:r>
              <a:t>― Edsger W. Dijkstra</a:t>
            </a:r>
          </a:p>
          <a:p>
            <a:pPr>
              <a:lnSpc>
                <a:spcPct val="120000"/>
              </a:lnSpc>
            </a:pPr>
          </a:p>
          <a:p>
            <a:pPr>
              <a:lnSpc>
                <a:spcPct val="120000"/>
              </a:lnSpc>
            </a:pPr>
            <a:r>
              <a:t>- Testing is inherently incomplete. </a:t>
            </a:r>
          </a:p>
          <a:p>
            <a:pPr>
              <a:lnSpc>
                <a:spcPct val="120000"/>
              </a:lnSpc>
            </a:pPr>
            <a:r>
              <a:t>- You can run a million tests and still miss the one input that breaks everything. </a:t>
            </a:r>
          </a:p>
          <a:p>
            <a:pPr>
              <a:lnSpc>
                <a:spcPct val="120000"/>
              </a:lnSpc>
            </a:pPr>
            <a:r>
              <a:t>- Tests prove "this scenario works," not "all scenarios work."</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Testing Focus"/>
          <p:cNvSpPr txBox="1"/>
          <p:nvPr>
            <p:ph type="title"/>
          </p:nvPr>
        </p:nvSpPr>
        <p:spPr>
          <a:prstGeom prst="rect">
            <a:avLst/>
          </a:prstGeom>
        </p:spPr>
        <p:txBody>
          <a:bodyPr/>
          <a:lstStyle/>
          <a:p>
            <a:pPr/>
            <a:r>
              <a:t>Testing Focus</a:t>
            </a:r>
          </a:p>
        </p:txBody>
      </p:sp>
      <p:sp>
        <p:nvSpPr>
          <p:cNvPr id="109" name="- V-model = what and when (traceability to requirements, phase gates)…"/>
          <p:cNvSpPr txBox="1"/>
          <p:nvPr>
            <p:ph type="body" idx="1"/>
          </p:nvPr>
        </p:nvSpPr>
        <p:spPr>
          <a:xfrm>
            <a:off x="1688592" y="3069576"/>
            <a:ext cx="21824355" cy="9296401"/>
          </a:xfrm>
          <a:prstGeom prst="rect">
            <a:avLst/>
          </a:prstGeom>
        </p:spPr>
        <p:txBody>
          <a:bodyPr/>
          <a:lstStyle/>
          <a:p>
            <a:pPr>
              <a:lnSpc>
                <a:spcPct val="120000"/>
              </a:lnSpc>
            </a:pPr>
            <a:r>
              <a:t>- </a:t>
            </a:r>
            <a:r>
              <a:rPr b="1"/>
              <a:t>V-model</a:t>
            </a:r>
            <a:r>
              <a:t> = </a:t>
            </a:r>
            <a:r>
              <a:rPr i="1"/>
              <a:t>what</a:t>
            </a:r>
            <a:r>
              <a:t> and </a:t>
            </a:r>
            <a:r>
              <a:rPr i="1"/>
              <a:t>when</a:t>
            </a:r>
            <a:r>
              <a:t> (traceability to requirements, phase gates)</a:t>
            </a:r>
          </a:p>
          <a:p>
            <a:pPr>
              <a:lnSpc>
                <a:spcPct val="120000"/>
              </a:lnSpc>
            </a:pPr>
            <a:r>
              <a:t>- </a:t>
            </a:r>
            <a:r>
              <a:rPr b="1"/>
              <a:t>Pyramid</a:t>
            </a:r>
            <a:r>
              <a:t> = </a:t>
            </a:r>
            <a:r>
              <a:rPr i="1"/>
              <a:t>how many</a:t>
            </a:r>
            <a:r>
              <a:t> (economics of test distribution)</a:t>
            </a:r>
          </a:p>
          <a:p>
            <a:pPr>
              <a:lnSpc>
                <a:spcPct val="120000"/>
              </a:lnSpc>
            </a:pPr>
            <a:r>
              <a:t>- </a:t>
            </a:r>
            <a:r>
              <a:rPr b="1"/>
              <a:t>Both agree</a:t>
            </a:r>
            <a:r>
              <a:t>: unit tests are the foundation</a:t>
            </a:r>
          </a:p>
          <a:p>
            <a:pPr>
              <a:lnSpc>
                <a:spcPct val="120000"/>
              </a:lnSpc>
            </a:pPr>
          </a:p>
          <a:p>
            <a:pPr>
              <a:lnSpc>
                <a:spcPct val="120000"/>
              </a:lnSpc>
            </a:pPr>
          </a:p>
          <a:p>
            <a:pPr>
              <a:lnSpc>
                <a:spcPct val="120000"/>
              </a:lnSpc>
              <a:defRPr i="1"/>
            </a:pPr>
            <a:r>
              <a:t>Essential for e.g. medical device development (IEC 62304) or automotive (ISO 26262)</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V-Model"/>
          <p:cNvSpPr txBox="1"/>
          <p:nvPr>
            <p:ph type="title"/>
          </p:nvPr>
        </p:nvSpPr>
        <p:spPr>
          <a:prstGeom prst="rect">
            <a:avLst/>
          </a:prstGeom>
        </p:spPr>
        <p:txBody>
          <a:bodyPr/>
          <a:lstStyle/>
          <a:p>
            <a:pPr/>
            <a:r>
              <a:t>V-Model</a:t>
            </a:r>
          </a:p>
        </p:txBody>
      </p:sp>
      <p:pic>
        <p:nvPicPr>
          <p:cNvPr id="112" name="Afbeelding" descr="Afbeelding"/>
          <p:cNvPicPr>
            <a:picLocks noChangeAspect="1"/>
          </p:cNvPicPr>
          <p:nvPr/>
        </p:nvPicPr>
        <p:blipFill>
          <a:blip r:embed="rId2">
            <a:extLst/>
          </a:blip>
          <a:stretch>
            <a:fillRect/>
          </a:stretch>
        </p:blipFill>
        <p:spPr>
          <a:xfrm>
            <a:off x="2484310" y="3447308"/>
            <a:ext cx="17620997" cy="859898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V-Model: Acceptance Test"/>
          <p:cNvSpPr txBox="1"/>
          <p:nvPr>
            <p:ph type="title"/>
          </p:nvPr>
        </p:nvSpPr>
        <p:spPr>
          <a:prstGeom prst="rect">
            <a:avLst/>
          </a:prstGeom>
        </p:spPr>
        <p:txBody>
          <a:bodyPr/>
          <a:lstStyle/>
          <a:p>
            <a:pPr/>
            <a:r>
              <a:t>V-Model: Acceptance Test</a:t>
            </a:r>
          </a:p>
        </p:txBody>
      </p:sp>
      <p:sp>
        <p:nvSpPr>
          <p:cNvPr id="115" name="- Validation…"/>
          <p:cNvSpPr txBox="1"/>
          <p:nvPr>
            <p:ph type="body" idx="1"/>
          </p:nvPr>
        </p:nvSpPr>
        <p:spPr>
          <a:xfrm>
            <a:off x="1688592" y="3069576"/>
            <a:ext cx="21824355" cy="9296401"/>
          </a:xfrm>
          <a:prstGeom prst="rect">
            <a:avLst/>
          </a:prstGeom>
        </p:spPr>
        <p:txBody>
          <a:bodyPr/>
          <a:lstStyle/>
          <a:p>
            <a:pPr>
              <a:lnSpc>
                <a:spcPct val="120000"/>
              </a:lnSpc>
            </a:pPr>
            <a:r>
              <a:t>- Validation</a:t>
            </a:r>
          </a:p>
          <a:p>
            <a:pPr>
              <a:lnSpc>
                <a:spcPct val="120000"/>
              </a:lnSpc>
            </a:pPr>
            <a:r>
              <a:t>- With real users/environment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V-Model: System Test"/>
          <p:cNvSpPr txBox="1"/>
          <p:nvPr>
            <p:ph type="title"/>
          </p:nvPr>
        </p:nvSpPr>
        <p:spPr>
          <a:prstGeom prst="rect">
            <a:avLst/>
          </a:prstGeom>
        </p:spPr>
        <p:txBody>
          <a:bodyPr/>
          <a:lstStyle/>
          <a:p>
            <a:pPr/>
            <a:r>
              <a:t>V-Model: System Test</a:t>
            </a:r>
          </a:p>
        </p:txBody>
      </p:sp>
      <p:sp>
        <p:nvSpPr>
          <p:cNvPr id="118" name="- Hardware + Software…"/>
          <p:cNvSpPr txBox="1"/>
          <p:nvPr>
            <p:ph type="body" idx="1"/>
          </p:nvPr>
        </p:nvSpPr>
        <p:spPr>
          <a:xfrm>
            <a:off x="1688592" y="3069576"/>
            <a:ext cx="21824355" cy="9296401"/>
          </a:xfrm>
          <a:prstGeom prst="rect">
            <a:avLst/>
          </a:prstGeom>
        </p:spPr>
        <p:txBody>
          <a:bodyPr/>
          <a:lstStyle/>
          <a:p>
            <a:pPr>
              <a:lnSpc>
                <a:spcPct val="120000"/>
              </a:lnSpc>
            </a:pPr>
            <a:r>
              <a:t>- Hardware + Software</a:t>
            </a:r>
          </a:p>
          <a:p>
            <a:pPr>
              <a:lnSpc>
                <a:spcPct val="120000"/>
              </a:lnSpc>
            </a:pPr>
            <a:r>
              <a:t>- Real target, real peripherals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V-Model: Integration Testing"/>
          <p:cNvSpPr txBox="1"/>
          <p:nvPr>
            <p:ph type="title"/>
          </p:nvPr>
        </p:nvSpPr>
        <p:spPr>
          <a:prstGeom prst="rect">
            <a:avLst/>
          </a:prstGeom>
        </p:spPr>
        <p:txBody>
          <a:bodyPr/>
          <a:lstStyle/>
          <a:p>
            <a:pPr/>
            <a:r>
              <a:t>V-Model: Integration Testing</a:t>
            </a:r>
          </a:p>
        </p:txBody>
      </p:sp>
      <p:sp>
        <p:nvSpPr>
          <p:cNvPr id="121" name="Software Integration:…"/>
          <p:cNvSpPr txBox="1"/>
          <p:nvPr>
            <p:ph type="body" idx="1"/>
          </p:nvPr>
        </p:nvSpPr>
        <p:spPr>
          <a:xfrm>
            <a:off x="1688592" y="3069576"/>
            <a:ext cx="21824355" cy="9296401"/>
          </a:xfrm>
          <a:prstGeom prst="rect">
            <a:avLst/>
          </a:prstGeom>
        </p:spPr>
        <p:txBody>
          <a:bodyPr/>
          <a:lstStyle/>
          <a:p>
            <a:pPr>
              <a:lnSpc>
                <a:spcPct val="120000"/>
              </a:lnSpc>
              <a:defRPr b="1"/>
            </a:pPr>
            <a:r>
              <a:t>Software Integration:</a:t>
            </a:r>
          </a:p>
          <a:p>
            <a:pPr>
              <a:lnSpc>
                <a:spcPct val="120000"/>
              </a:lnSpc>
            </a:pPr>
            <a:r>
              <a:t>- Simulated Hardware</a:t>
            </a:r>
          </a:p>
          <a:p>
            <a:pPr>
              <a:lnSpc>
                <a:spcPct val="120000"/>
              </a:lnSpc>
            </a:pPr>
          </a:p>
          <a:p>
            <a:pPr>
              <a:lnSpc>
                <a:spcPct val="120000"/>
              </a:lnSpc>
              <a:defRPr b="1"/>
            </a:pPr>
            <a:r>
              <a:t>Hardware Integration:</a:t>
            </a:r>
          </a:p>
          <a:p>
            <a:pPr>
              <a:lnSpc>
                <a:spcPct val="120000"/>
              </a:lnSpc>
            </a:pPr>
            <a:r>
              <a:t>- Board Bring-up</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Unit Testing"/>
          <p:cNvSpPr txBox="1"/>
          <p:nvPr>
            <p:ph type="title"/>
          </p:nvPr>
        </p:nvSpPr>
        <p:spPr>
          <a:prstGeom prst="rect">
            <a:avLst/>
          </a:prstGeom>
        </p:spPr>
        <p:txBody>
          <a:bodyPr/>
          <a:lstStyle/>
          <a:p>
            <a:pPr/>
            <a:r>
              <a:t>Unit Testing</a:t>
            </a:r>
          </a:p>
        </p:txBody>
      </p:sp>
      <p:sp>
        <p:nvSpPr>
          <p:cNvPr id="124" name="Software Unit Testing:…"/>
          <p:cNvSpPr txBox="1"/>
          <p:nvPr>
            <p:ph type="body" idx="1"/>
          </p:nvPr>
        </p:nvSpPr>
        <p:spPr>
          <a:xfrm>
            <a:off x="1688592" y="3069576"/>
            <a:ext cx="21824355" cy="9296401"/>
          </a:xfrm>
          <a:prstGeom prst="rect">
            <a:avLst/>
          </a:prstGeom>
        </p:spPr>
        <p:txBody>
          <a:bodyPr/>
          <a:lstStyle/>
          <a:p>
            <a:pPr>
              <a:lnSpc>
                <a:spcPct val="120000"/>
              </a:lnSpc>
              <a:defRPr b="1"/>
            </a:pPr>
            <a:r>
              <a:t>Software Unit Testing:</a:t>
            </a:r>
          </a:p>
          <a:p>
            <a:pPr>
              <a:lnSpc>
                <a:spcPct val="120000"/>
              </a:lnSpc>
            </a:pPr>
            <a:r>
              <a:t>- Today’s Main Topic</a:t>
            </a:r>
          </a:p>
          <a:p>
            <a:pPr>
              <a:lnSpc>
                <a:spcPct val="120000"/>
              </a:lnSpc>
            </a:pPr>
          </a:p>
          <a:p>
            <a:pPr>
              <a:lnSpc>
                <a:spcPct val="120000"/>
              </a:lnSpc>
              <a:defRPr b="1"/>
            </a:pPr>
            <a:r>
              <a:t>Hardware Unit Testing:</a:t>
            </a:r>
          </a:p>
          <a:p>
            <a:pPr>
              <a:lnSpc>
                <a:spcPct val="120000"/>
              </a:lnSpc>
            </a:pPr>
            <a:r>
              <a:t>- Component Test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esting Pyramid vs. V-Model"/>
          <p:cNvSpPr txBox="1"/>
          <p:nvPr>
            <p:ph type="title"/>
          </p:nvPr>
        </p:nvSpPr>
        <p:spPr>
          <a:prstGeom prst="rect">
            <a:avLst/>
          </a:prstGeom>
        </p:spPr>
        <p:txBody>
          <a:bodyPr/>
          <a:lstStyle/>
          <a:p>
            <a:pPr/>
            <a:r>
              <a:t>Testing Pyramid vs. V-Model</a:t>
            </a:r>
          </a:p>
        </p:txBody>
      </p:sp>
      <p:pic>
        <p:nvPicPr>
          <p:cNvPr id="127" name="Afbeelding" descr="Afbeelding"/>
          <p:cNvPicPr>
            <a:picLocks noChangeAspect="1"/>
          </p:cNvPicPr>
          <p:nvPr/>
        </p:nvPicPr>
        <p:blipFill>
          <a:blip r:embed="rId2">
            <a:extLst/>
          </a:blip>
          <a:stretch>
            <a:fillRect/>
          </a:stretch>
        </p:blipFill>
        <p:spPr>
          <a:xfrm>
            <a:off x="4419613" y="2646553"/>
            <a:ext cx="10917568" cy="945489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esting versus Verification"/>
          <p:cNvSpPr txBox="1"/>
          <p:nvPr>
            <p:ph type="title"/>
          </p:nvPr>
        </p:nvSpPr>
        <p:spPr>
          <a:prstGeom prst="rect">
            <a:avLst/>
          </a:prstGeom>
        </p:spPr>
        <p:txBody>
          <a:bodyPr/>
          <a:lstStyle/>
          <a:p>
            <a:pPr/>
            <a:r>
              <a:t>Testing versus Verification</a:t>
            </a:r>
          </a:p>
        </p:txBody>
      </p:sp>
      <p:sp>
        <p:nvSpPr>
          <p:cNvPr id="130" name="Computer Science Theorists (Dijkstra formalized this) prefer Verification over Testing, but:…"/>
          <p:cNvSpPr txBox="1"/>
          <p:nvPr>
            <p:ph type="body" idx="1"/>
          </p:nvPr>
        </p:nvSpPr>
        <p:spPr>
          <a:xfrm>
            <a:off x="1688592" y="3069576"/>
            <a:ext cx="21824355" cy="9296401"/>
          </a:xfrm>
          <a:prstGeom prst="rect">
            <a:avLst/>
          </a:prstGeom>
        </p:spPr>
        <p:txBody>
          <a:bodyPr/>
          <a:lstStyle/>
          <a:p>
            <a:pPr>
              <a:lnSpc>
                <a:spcPct val="120000"/>
              </a:lnSpc>
            </a:pPr>
            <a:r>
              <a:t>Computer Science Theorists (Dijkstra formalized this) prefer Verification over Testing, but:</a:t>
            </a:r>
          </a:p>
          <a:p>
            <a:pPr>
              <a:lnSpc>
                <a:spcPct val="120000"/>
              </a:lnSpc>
            </a:pPr>
            <a:r>
              <a:t>- Formal verification is expensive and limited in scope</a:t>
            </a:r>
          </a:p>
          <a:p>
            <a:pPr>
              <a:lnSpc>
                <a:spcPct val="120000"/>
              </a:lnSpc>
            </a:pPr>
            <a:r>
              <a:t>- Testing catches many bugs cheaply</a:t>
            </a:r>
          </a:p>
        </p:txBody>
      </p:sp>
      <p:graphicFrame>
        <p:nvGraphicFramePr>
          <p:cNvPr id="131" name="Tabel 1"/>
          <p:cNvGraphicFramePr/>
          <p:nvPr/>
        </p:nvGraphicFramePr>
        <p:xfrm>
          <a:off x="1791015" y="5637864"/>
          <a:ext cx="18709784" cy="6624027"/>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6232361"/>
                <a:gridCol w="6232361"/>
                <a:gridCol w="6232361"/>
              </a:tblGrid>
              <a:tr h="1110933">
                <a:tc>
                  <a:txBody>
                    <a:bodyPr/>
                    <a:lstStyle/>
                    <a:p>
                      <a:pPr algn="l">
                        <a:defRPr b="0" sz="1800">
                          <a:solidFill>
                            <a:srgbClr val="000000"/>
                          </a:solidFill>
                        </a:defRPr>
                      </a:pPr>
                      <a:r>
                        <a:rPr b="1" sz="2600">
                          <a:solidFill>
                            <a:srgbClr val="FFFFFF"/>
                          </a:solidFill>
                        </a:rPr>
                        <a:t>Approach</a:t>
                      </a:r>
                    </a:p>
                  </a:txBody>
                  <a:tcPr marL="0" marR="0" marT="0" marB="0" anchor="ctr" anchorCtr="0" horzOverflow="overflow"/>
                </a:tc>
                <a:tc>
                  <a:txBody>
                    <a:bodyPr/>
                    <a:lstStyle/>
                    <a:p>
                      <a:pPr algn="l">
                        <a:defRPr b="0" sz="1800">
                          <a:solidFill>
                            <a:srgbClr val="000000"/>
                          </a:solidFill>
                        </a:defRPr>
                      </a:pPr>
                      <a:r>
                        <a:rPr b="1" sz="2600">
                          <a:solidFill>
                            <a:srgbClr val="FFFFFF"/>
                          </a:solidFill>
                        </a:rPr>
                        <a:t>Proves</a:t>
                      </a:r>
                    </a:p>
                  </a:txBody>
                  <a:tcPr marL="0" marR="0" marT="0" marB="0" anchor="ctr" anchorCtr="0" horzOverflow="overflow"/>
                </a:tc>
                <a:tc>
                  <a:txBody>
                    <a:bodyPr/>
                    <a:lstStyle/>
                    <a:p>
                      <a:pPr algn="l">
                        <a:defRPr b="0" sz="1800">
                          <a:solidFill>
                            <a:srgbClr val="000000"/>
                          </a:solidFill>
                        </a:defRPr>
                      </a:pPr>
                      <a:r>
                        <a:rPr b="1" sz="2600">
                          <a:solidFill>
                            <a:srgbClr val="FFFFFF"/>
                          </a:solidFill>
                        </a:rPr>
                        <a:t>Cost</a:t>
                      </a:r>
                    </a:p>
                  </a:txBody>
                  <a:tcPr marL="0" marR="0" marT="0" marB="0" anchor="ctr" anchorCtr="0" horzOverflow="overflow"/>
                </a:tc>
              </a:tr>
              <a:tr h="1110933">
                <a:tc>
                  <a:txBody>
                    <a:bodyPr/>
                    <a:lstStyle/>
                    <a:p>
                      <a:pPr algn="l">
                        <a:defRPr sz="1800"/>
                      </a:pPr>
                      <a:r>
                        <a:rPr sz="2600"/>
                        <a:t>Formal verification</a:t>
                      </a:r>
                    </a:p>
                  </a:txBody>
                  <a:tcPr marL="0" marR="0" marT="0" marB="0" anchor="ctr" anchorCtr="0" horzOverflow="overflow"/>
                </a:tc>
                <a:tc>
                  <a:txBody>
                    <a:bodyPr/>
                    <a:lstStyle/>
                    <a:p>
                      <a:pPr algn="l">
                        <a:defRPr sz="1800"/>
                      </a:pPr>
                      <a:r>
                        <a:rPr sz="2600"/>
                        <a:t>Correctness (for specific properties)</a:t>
                      </a:r>
                    </a:p>
                  </a:txBody>
                  <a:tcPr marL="0" marR="0" marT="0" marB="0" anchor="ctr" anchorCtr="0" horzOverflow="overflow"/>
                </a:tc>
                <a:tc>
                  <a:txBody>
                    <a:bodyPr/>
                    <a:lstStyle/>
                    <a:p>
                      <a:pPr algn="l">
                        <a:defRPr sz="1800"/>
                      </a:pPr>
                      <a:r>
                        <a:rPr sz="2600"/>
                        <a:t>Very high</a:t>
                      </a:r>
                    </a:p>
                  </a:txBody>
                  <a:tcPr marL="0" marR="0" marT="0" marB="0" anchor="ctr" anchorCtr="0" horzOverflow="overflow"/>
                </a:tc>
              </a:tr>
              <a:tr h="1058101">
                <a:tc>
                  <a:txBody>
                    <a:bodyPr/>
                    <a:lstStyle/>
                    <a:p>
                      <a:pPr algn="l">
                        <a:defRPr sz="1800"/>
                      </a:pPr>
                      <a:r>
                        <a:rPr sz="2600"/>
                        <a:t>Unit tests</a:t>
                      </a:r>
                    </a:p>
                  </a:txBody>
                  <a:tcPr marL="0" marR="0" marT="0" marB="0" anchor="ctr" anchorCtr="0" horzOverflow="overflow"/>
                </a:tc>
                <a:tc>
                  <a:txBody>
                    <a:bodyPr/>
                    <a:lstStyle/>
                    <a:p>
                      <a:pPr algn="l">
                        <a:defRPr sz="1800"/>
                      </a:pPr>
                      <a:r>
                        <a:rPr sz="2600"/>
                        <a:t>Stops execution entirely—timing-sensitive code breaks</a:t>
                      </a:r>
                    </a:p>
                  </a:txBody>
                  <a:tcPr marL="0" marR="0" marT="0" marB="0" anchor="ctr" anchorCtr="0" horzOverflow="overflow"/>
                </a:tc>
                <a:tc>
                  <a:txBody>
                    <a:bodyPr/>
                    <a:lstStyle/>
                    <a:p>
                      <a:pPr algn="l">
                        <a:defRPr sz="1800"/>
                      </a:pPr>
                      <a:r>
                        <a:rPr sz="2600"/>
                        <a:t>Low</a:t>
                      </a:r>
                    </a:p>
                  </a:txBody>
                  <a:tcPr marL="0" marR="0" marT="0" marB="0" anchor="ctr" anchorCtr="0" horzOverflow="overflow"/>
                </a:tc>
              </a:tr>
              <a:tr h="2273256">
                <a:tc>
                  <a:txBody>
                    <a:bodyPr/>
                    <a:lstStyle/>
                    <a:p>
                      <a:pPr algn="l">
                        <a:defRPr sz="1800"/>
                      </a:pPr>
                      <a:r>
                        <a:rPr sz="2600"/>
                        <a:t>Integration/system tests</a:t>
                      </a:r>
                    </a:p>
                  </a:txBody>
                  <a:tcPr marL="0" marR="0" marT="0" marB="0" anchor="ctr" anchorCtr="0" horzOverflow="overflow"/>
                </a:tc>
                <a:tc>
                  <a:txBody>
                    <a:bodyPr/>
                    <a:lstStyle/>
                    <a:p>
                      <a:pPr algn="l">
                        <a:defRPr sz="1800"/>
                      </a:pPr>
                      <a:r>
                        <a:rPr sz="2600"/>
                        <a:t>Changes memory layout, stack usage, cache behavior</a:t>
                      </a:r>
                    </a:p>
                  </a:txBody>
                  <a:tcPr marL="0" marR="0" marT="0" marB="0" anchor="ctr" anchorCtr="0" horzOverflow="overflow"/>
                </a:tc>
                <a:tc>
                  <a:txBody>
                    <a:bodyPr/>
                    <a:lstStyle/>
                    <a:p>
                      <a:pPr algn="l">
                        <a:defRPr sz="1800"/>
                      </a:pPr>
                      <a:r>
                        <a:rPr sz="2600"/>
                        <a:t>Medium</a:t>
                      </a:r>
                    </a:p>
                  </a:txBody>
                  <a:tcPr marL="0" marR="0" marT="0" marB="0" anchor="ctr" anchorCtr="0" horzOverflow="overflow"/>
                </a:tc>
              </a:tr>
              <a:tr h="1058101">
                <a:tc>
                  <a:txBody>
                    <a:bodyPr/>
                    <a:lstStyle/>
                    <a:p>
                      <a:pPr algn="l">
                        <a:defRPr sz="1800"/>
                      </a:pPr>
                      <a:r>
                        <a:rPr sz="2600"/>
                        <a:t>No testing</a:t>
                      </a:r>
                    </a:p>
                  </a:txBody>
                  <a:tcPr marL="0" marR="0" marT="0" marB="0" anchor="ctr" anchorCtr="0" horzOverflow="overflow"/>
                </a:tc>
                <a:tc>
                  <a:txBody>
                    <a:bodyPr/>
                    <a:lstStyle/>
                    <a:p>
                      <a:pPr algn="l">
                        <a:defRPr sz="1800"/>
                      </a:pPr>
                      <a:r>
                        <a:rPr sz="2600"/>
                        <a:t>Nothing</a:t>
                      </a:r>
                    </a:p>
                  </a:txBody>
                  <a:tcPr marL="0" marR="0" marT="0" marB="0" anchor="ctr" anchorCtr="0" horzOverflow="overflow"/>
                </a:tc>
                <a:tc>
                  <a:txBody>
                    <a:bodyPr/>
                    <a:lstStyle/>
                    <a:p>
                      <a:pPr algn="l">
                        <a:defRPr sz="1800"/>
                      </a:pPr>
                      <a:r>
                        <a:rPr sz="2600"/>
                        <a:t>Zero (until production fails)</a:t>
                      </a: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esting Pyramid vs. V-Model"/>
          <p:cNvSpPr txBox="1"/>
          <p:nvPr>
            <p:ph type="title"/>
          </p:nvPr>
        </p:nvSpPr>
        <p:spPr>
          <a:prstGeom prst="rect">
            <a:avLst/>
          </a:prstGeom>
        </p:spPr>
        <p:txBody>
          <a:bodyPr/>
          <a:lstStyle/>
          <a:p>
            <a:pPr/>
            <a:r>
              <a:t>Testing Pyramid vs. V-Model</a:t>
            </a:r>
          </a:p>
        </p:txBody>
      </p:sp>
      <p:pic>
        <p:nvPicPr>
          <p:cNvPr id="134" name="Afbeelding" descr="Afbeelding"/>
          <p:cNvPicPr>
            <a:picLocks noChangeAspect="1"/>
          </p:cNvPicPr>
          <p:nvPr/>
        </p:nvPicPr>
        <p:blipFill>
          <a:blip r:embed="rId2">
            <a:extLst/>
          </a:blip>
          <a:stretch>
            <a:fillRect/>
          </a:stretch>
        </p:blipFill>
        <p:spPr>
          <a:xfrm>
            <a:off x="2484310" y="3447308"/>
            <a:ext cx="17620997" cy="8598981"/>
          </a:xfrm>
          <a:prstGeom prst="rect">
            <a:avLst/>
          </a:prstGeom>
          <a:ln w="12700">
            <a:miter lim="400000"/>
          </a:ln>
        </p:spPr>
      </p:pic>
      <p:pic>
        <p:nvPicPr>
          <p:cNvPr id="135" name="Afbeelding" descr="Afbeelding"/>
          <p:cNvPicPr>
            <a:picLocks noChangeAspect="1"/>
          </p:cNvPicPr>
          <p:nvPr/>
        </p:nvPicPr>
        <p:blipFill>
          <a:blip r:embed="rId3">
            <a:extLst/>
          </a:blip>
          <a:stretch>
            <a:fillRect/>
          </a:stretch>
        </p:blipFill>
        <p:spPr>
          <a:xfrm>
            <a:off x="12429390" y="5015176"/>
            <a:ext cx="6308412" cy="5463246"/>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 Real target, real peripherals…"/>
          <p:cNvSpPr txBox="1"/>
          <p:nvPr>
            <p:ph type="body" idx="1"/>
          </p:nvPr>
        </p:nvSpPr>
        <p:spPr>
          <a:xfrm>
            <a:off x="1688592" y="3069576"/>
            <a:ext cx="21824355" cy="9296401"/>
          </a:xfrm>
          <a:prstGeom prst="rect">
            <a:avLst/>
          </a:prstGeom>
        </p:spPr>
        <p:txBody>
          <a:bodyPr/>
          <a:lstStyle/>
          <a:p>
            <a:pPr>
              <a:lnSpc>
                <a:spcPct val="120000"/>
              </a:lnSpc>
            </a:pPr>
            <a:r>
              <a:t>- Real target, real peripherals</a:t>
            </a:r>
          </a:p>
          <a:p>
            <a:pPr>
              <a:lnSpc>
                <a:spcPct val="120000"/>
              </a:lnSpc>
            </a:pPr>
            <a:r>
              <a:t>- Slow, expensive, sometimes flaky</a:t>
            </a:r>
          </a:p>
          <a:p>
            <a:pPr>
              <a:lnSpc>
                <a:spcPct val="120000"/>
              </a:lnSpc>
            </a:pPr>
            <a:r>
              <a:t>- Essential but not where you want to catch bugs</a:t>
            </a:r>
          </a:p>
        </p:txBody>
      </p:sp>
      <p:sp>
        <p:nvSpPr>
          <p:cNvPr id="138" name="UI / End-to-end / Hardware tests (top, fewest tests)"/>
          <p:cNvSpPr txBox="1"/>
          <p:nvPr>
            <p:ph type="title"/>
          </p:nvPr>
        </p:nvSpPr>
        <p:spPr>
          <a:prstGeom prst="rect">
            <a:avLst/>
          </a:prstGeom>
        </p:spPr>
        <p:txBody>
          <a:bodyPr/>
          <a:lstStyle/>
          <a:p>
            <a:pPr/>
            <a:r>
              <a:t>UI / End-to-end / Hardware tests (top, fewest tests)</a:t>
            </a:r>
          </a:p>
        </p:txBody>
      </p:sp>
      <p:pic>
        <p:nvPicPr>
          <p:cNvPr id="139" name="Afbeelding" descr="Afbeelding"/>
          <p:cNvPicPr>
            <a:picLocks noChangeAspect="1"/>
          </p:cNvPicPr>
          <p:nvPr/>
        </p:nvPicPr>
        <p:blipFill>
          <a:blip r:embed="rId2">
            <a:extLst/>
          </a:blip>
          <a:stretch>
            <a:fillRect/>
          </a:stretch>
        </p:blipFill>
        <p:spPr>
          <a:xfrm>
            <a:off x="14653781" y="4003503"/>
            <a:ext cx="6592177" cy="5708994"/>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Integration tests (middle)"/>
          <p:cNvSpPr txBox="1"/>
          <p:nvPr>
            <p:ph type="title"/>
          </p:nvPr>
        </p:nvSpPr>
        <p:spPr>
          <a:prstGeom prst="rect">
            <a:avLst/>
          </a:prstGeom>
        </p:spPr>
        <p:txBody>
          <a:bodyPr/>
          <a:lstStyle/>
          <a:p>
            <a:pPr/>
            <a:r>
              <a:t>Integration tests (middle)</a:t>
            </a:r>
          </a:p>
        </p:txBody>
      </p:sp>
      <p:sp>
        <p:nvSpPr>
          <p:cNvPr id="142" name="- Test interactions between components…"/>
          <p:cNvSpPr txBox="1"/>
          <p:nvPr>
            <p:ph type="body" idx="1"/>
          </p:nvPr>
        </p:nvSpPr>
        <p:spPr>
          <a:xfrm>
            <a:off x="1688592" y="3069576"/>
            <a:ext cx="21824355" cy="9296401"/>
          </a:xfrm>
          <a:prstGeom prst="rect">
            <a:avLst/>
          </a:prstGeom>
        </p:spPr>
        <p:txBody>
          <a:bodyPr/>
          <a:lstStyle/>
          <a:p>
            <a:pPr>
              <a:lnSpc>
                <a:spcPct val="120000"/>
              </a:lnSpc>
            </a:pPr>
            <a:r>
              <a:t>- Test interactions between components</a:t>
            </a:r>
          </a:p>
          <a:p>
            <a:pPr>
              <a:lnSpc>
                <a:spcPct val="120000"/>
              </a:lnSpc>
            </a:pPr>
            <a:r>
              <a:t>- May include HAL with simulated peripherals</a:t>
            </a:r>
          </a:p>
          <a:p>
            <a:pPr>
              <a:lnSpc>
                <a:spcPct val="120000"/>
              </a:lnSpc>
            </a:pPr>
            <a:r>
              <a:t>- Slower, but still on PC or emulator</a:t>
            </a:r>
          </a:p>
        </p:txBody>
      </p:sp>
      <p:pic>
        <p:nvPicPr>
          <p:cNvPr id="143" name="Afbeelding" descr="Afbeelding"/>
          <p:cNvPicPr>
            <a:picLocks noChangeAspect="1"/>
          </p:cNvPicPr>
          <p:nvPr/>
        </p:nvPicPr>
        <p:blipFill>
          <a:blip r:embed="rId2">
            <a:extLst/>
          </a:blip>
          <a:stretch>
            <a:fillRect/>
          </a:stretch>
        </p:blipFill>
        <p:spPr>
          <a:xfrm>
            <a:off x="14653781" y="4003503"/>
            <a:ext cx="6592177" cy="5708994"/>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Unit tests (base, most tests)"/>
          <p:cNvSpPr txBox="1"/>
          <p:nvPr>
            <p:ph type="title"/>
          </p:nvPr>
        </p:nvSpPr>
        <p:spPr>
          <a:prstGeom prst="rect">
            <a:avLst/>
          </a:prstGeom>
        </p:spPr>
        <p:txBody>
          <a:bodyPr/>
          <a:lstStyle/>
          <a:p>
            <a:pPr/>
            <a:r>
              <a:t>Unit tests (base, most tests)</a:t>
            </a:r>
          </a:p>
        </p:txBody>
      </p:sp>
      <p:sp>
        <p:nvSpPr>
          <p:cNvPr id="146" name="- Fast: milliseconds per test…"/>
          <p:cNvSpPr txBox="1"/>
          <p:nvPr>
            <p:ph type="body" idx="1"/>
          </p:nvPr>
        </p:nvSpPr>
        <p:spPr>
          <a:xfrm>
            <a:off x="1688592" y="3069576"/>
            <a:ext cx="21824355" cy="9296401"/>
          </a:xfrm>
          <a:prstGeom prst="rect">
            <a:avLst/>
          </a:prstGeom>
        </p:spPr>
        <p:txBody>
          <a:bodyPr/>
          <a:lstStyle/>
          <a:p>
            <a:pPr>
              <a:lnSpc>
                <a:spcPct val="120000"/>
              </a:lnSpc>
            </a:pPr>
            <a:r>
              <a:t>- Fast: milliseconds per test</a:t>
            </a:r>
          </a:p>
          <a:p>
            <a:pPr>
              <a:lnSpc>
                <a:spcPct val="120000"/>
              </a:lnSpc>
            </a:pPr>
            <a:r>
              <a:t>- Cheap: no hardware needed</a:t>
            </a:r>
          </a:p>
          <a:p>
            <a:pPr>
              <a:lnSpc>
                <a:spcPct val="120000"/>
              </a:lnSpc>
            </a:pPr>
            <a:r>
              <a:t>- Precise: failures pinpoint the problem</a:t>
            </a:r>
          </a:p>
          <a:p>
            <a:pPr>
              <a:lnSpc>
                <a:spcPct val="120000"/>
              </a:lnSpc>
            </a:pPr>
            <a:r>
              <a:t>- Stable: no flaky hardware timing issues</a:t>
            </a:r>
          </a:p>
        </p:txBody>
      </p:sp>
      <p:pic>
        <p:nvPicPr>
          <p:cNvPr id="147" name="Afbeelding" descr="Afbeelding"/>
          <p:cNvPicPr>
            <a:picLocks noChangeAspect="1"/>
          </p:cNvPicPr>
          <p:nvPr/>
        </p:nvPicPr>
        <p:blipFill>
          <a:blip r:embed="rId2">
            <a:extLst/>
          </a:blip>
          <a:stretch>
            <a:fillRect/>
          </a:stretch>
        </p:blipFill>
        <p:spPr>
          <a:xfrm>
            <a:off x="14653781" y="4003503"/>
            <a:ext cx="6592177" cy="5708994"/>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Unit Testing"/>
          <p:cNvSpPr txBox="1"/>
          <p:nvPr>
            <p:ph type="title"/>
          </p:nvPr>
        </p:nvSpPr>
        <p:spPr>
          <a:prstGeom prst="rect">
            <a:avLst/>
          </a:prstGeom>
        </p:spPr>
        <p:txBody>
          <a:bodyPr/>
          <a:lstStyle/>
          <a:p>
            <a:pPr/>
            <a:r>
              <a:t>Unit Testing</a:t>
            </a:r>
          </a:p>
        </p:txBody>
      </p:sp>
      <p:pic>
        <p:nvPicPr>
          <p:cNvPr id="150" name="Afbeelding" descr="Afbeelding"/>
          <p:cNvPicPr>
            <a:picLocks noChangeAspect="1"/>
          </p:cNvPicPr>
          <p:nvPr/>
        </p:nvPicPr>
        <p:blipFill>
          <a:blip r:embed="rId2">
            <a:extLst/>
          </a:blip>
          <a:stretch>
            <a:fillRect/>
          </a:stretch>
        </p:blipFill>
        <p:spPr>
          <a:xfrm>
            <a:off x="2558651" y="4504676"/>
            <a:ext cx="8204201" cy="642620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Basic Unit Test mechanics"/>
          <p:cNvSpPr txBox="1"/>
          <p:nvPr>
            <p:ph type="title"/>
          </p:nvPr>
        </p:nvSpPr>
        <p:spPr>
          <a:prstGeom prst="rect">
            <a:avLst/>
          </a:prstGeom>
        </p:spPr>
        <p:txBody>
          <a:bodyPr/>
          <a:lstStyle/>
          <a:p>
            <a:pPr/>
            <a:r>
              <a:t>Basic Unit Test mechanics</a:t>
            </a:r>
          </a:p>
        </p:txBody>
      </p:sp>
      <p:sp>
        <p:nvSpPr>
          <p:cNvPr id="153" name="Rechthoek"/>
          <p:cNvSpPr/>
          <p:nvPr/>
        </p:nvSpPr>
        <p:spPr>
          <a:xfrm>
            <a:off x="1509709" y="3036652"/>
            <a:ext cx="14420842" cy="9214622"/>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pic>
        <p:nvPicPr>
          <p:cNvPr id="154" name="geplakte-film.png" descr="geplakte-film.png"/>
          <p:cNvPicPr>
            <a:picLocks noChangeAspect="1"/>
          </p:cNvPicPr>
          <p:nvPr/>
        </p:nvPicPr>
        <p:blipFill>
          <a:blip r:embed="rId2">
            <a:extLst/>
          </a:blip>
          <a:stretch>
            <a:fillRect/>
          </a:stretch>
        </p:blipFill>
        <p:spPr>
          <a:xfrm>
            <a:off x="1893880" y="3412476"/>
            <a:ext cx="13652501" cy="861060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ests that can’t fail…"/>
          <p:cNvSpPr txBox="1"/>
          <p:nvPr>
            <p:ph type="title"/>
          </p:nvPr>
        </p:nvSpPr>
        <p:spPr>
          <a:prstGeom prst="rect">
            <a:avLst/>
          </a:prstGeom>
        </p:spPr>
        <p:txBody>
          <a:bodyPr/>
          <a:lstStyle/>
          <a:p>
            <a:pPr/>
            <a:r>
              <a:t>Tests that can’t fail…</a:t>
            </a:r>
          </a:p>
        </p:txBody>
      </p:sp>
      <p:sp>
        <p:nvSpPr>
          <p:cNvPr id="157" name="No Asserts"/>
          <p:cNvSpPr txBox="1"/>
          <p:nvPr>
            <p:ph type="body" idx="1"/>
          </p:nvPr>
        </p:nvSpPr>
        <p:spPr>
          <a:prstGeom prst="rect">
            <a:avLst/>
          </a:prstGeom>
        </p:spPr>
        <p:txBody>
          <a:bodyPr/>
          <a:lstStyle/>
          <a:p>
            <a:pPr/>
            <a:r>
              <a:t>No Asserts</a:t>
            </a:r>
          </a:p>
        </p:txBody>
      </p:sp>
      <p:sp>
        <p:nvSpPr>
          <p:cNvPr id="158"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pic>
        <p:nvPicPr>
          <p:cNvPr id="159" name="geplakte-film.png" descr="geplakte-film.png"/>
          <p:cNvPicPr>
            <a:picLocks noChangeAspect="1"/>
          </p:cNvPicPr>
          <p:nvPr/>
        </p:nvPicPr>
        <p:blipFill>
          <a:blip r:embed="rId2">
            <a:extLst/>
          </a:blip>
          <a:stretch>
            <a:fillRect/>
          </a:stretch>
        </p:blipFill>
        <p:spPr>
          <a:xfrm>
            <a:off x="1804980" y="5020610"/>
            <a:ext cx="13652501" cy="2971801"/>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sts that can’t fail…"/>
          <p:cNvSpPr txBox="1"/>
          <p:nvPr>
            <p:ph type="title"/>
          </p:nvPr>
        </p:nvSpPr>
        <p:spPr>
          <a:prstGeom prst="rect">
            <a:avLst/>
          </a:prstGeom>
        </p:spPr>
        <p:txBody>
          <a:bodyPr/>
          <a:lstStyle/>
          <a:p>
            <a:pPr/>
            <a:r>
              <a:t>Tests that can’t fail…</a:t>
            </a:r>
          </a:p>
        </p:txBody>
      </p:sp>
      <p:sp>
        <p:nvSpPr>
          <p:cNvPr id="162" name="Tautology"/>
          <p:cNvSpPr txBox="1"/>
          <p:nvPr>
            <p:ph type="body" idx="1"/>
          </p:nvPr>
        </p:nvSpPr>
        <p:spPr>
          <a:prstGeom prst="rect">
            <a:avLst/>
          </a:prstGeom>
        </p:spPr>
        <p:txBody>
          <a:bodyPr/>
          <a:lstStyle/>
          <a:p>
            <a:pPr/>
            <a:r>
              <a:t>Tautology</a:t>
            </a:r>
          </a:p>
        </p:txBody>
      </p:sp>
      <p:sp>
        <p:nvSpPr>
          <p:cNvPr id="163"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pic>
        <p:nvPicPr>
          <p:cNvPr id="164" name="geplakte-film.png" descr="geplakte-film.png"/>
          <p:cNvPicPr>
            <a:picLocks noChangeAspect="1"/>
          </p:cNvPicPr>
          <p:nvPr/>
        </p:nvPicPr>
        <p:blipFill>
          <a:blip r:embed="rId2">
            <a:extLst/>
          </a:blip>
          <a:stretch>
            <a:fillRect/>
          </a:stretch>
        </p:blipFill>
        <p:spPr>
          <a:xfrm>
            <a:off x="1989130" y="5026960"/>
            <a:ext cx="13462001" cy="2959101"/>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Tests that can’t fail…"/>
          <p:cNvSpPr txBox="1"/>
          <p:nvPr>
            <p:ph type="title"/>
          </p:nvPr>
        </p:nvSpPr>
        <p:spPr>
          <a:prstGeom prst="rect">
            <a:avLst/>
          </a:prstGeom>
        </p:spPr>
        <p:txBody>
          <a:bodyPr/>
          <a:lstStyle/>
          <a:p>
            <a:pPr/>
            <a:r>
              <a:t>Tests that can’t fail…</a:t>
            </a:r>
          </a:p>
        </p:txBody>
      </p:sp>
      <p:sp>
        <p:nvSpPr>
          <p:cNvPr id="167" name="Wrong assertion"/>
          <p:cNvSpPr txBox="1"/>
          <p:nvPr>
            <p:ph type="body" idx="1"/>
          </p:nvPr>
        </p:nvSpPr>
        <p:spPr>
          <a:prstGeom prst="rect">
            <a:avLst/>
          </a:prstGeom>
        </p:spPr>
        <p:txBody>
          <a:bodyPr/>
          <a:lstStyle/>
          <a:p>
            <a:pPr/>
            <a:r>
              <a:t>Wrong assertion</a:t>
            </a:r>
          </a:p>
        </p:txBody>
      </p:sp>
      <p:sp>
        <p:nvSpPr>
          <p:cNvPr id="168"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pic>
        <p:nvPicPr>
          <p:cNvPr id="169" name="geplakte-film.png" descr="geplakte-film.png"/>
          <p:cNvPicPr>
            <a:picLocks noChangeAspect="1"/>
          </p:cNvPicPr>
          <p:nvPr/>
        </p:nvPicPr>
        <p:blipFill>
          <a:blip r:embed="rId2">
            <a:extLst/>
          </a:blip>
          <a:stretch>
            <a:fillRect/>
          </a:stretch>
        </p:blipFill>
        <p:spPr>
          <a:xfrm>
            <a:off x="1989130" y="5026960"/>
            <a:ext cx="13462001" cy="2959101"/>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 Unit Testing Frameworks"/>
          <p:cNvSpPr txBox="1"/>
          <p:nvPr>
            <p:ph type="title"/>
          </p:nvPr>
        </p:nvSpPr>
        <p:spPr>
          <a:prstGeom prst="rect">
            <a:avLst/>
          </a:prstGeom>
        </p:spPr>
        <p:txBody>
          <a:bodyPr/>
          <a:lstStyle/>
          <a:p>
            <a:pPr/>
            <a:r>
              <a:t>C++ Unit Testing Frameworks</a:t>
            </a:r>
          </a:p>
        </p:txBody>
      </p:sp>
      <p:sp>
        <p:nvSpPr>
          <p:cNvPr id="172" name="Wijzig tekst: klik 2x"/>
          <p:cNvSpPr txBox="1"/>
          <p:nvPr>
            <p:ph type="body" idx="1"/>
          </p:nvPr>
        </p:nvSpPr>
        <p:spPr>
          <a:xfrm>
            <a:off x="1688592" y="3069576"/>
            <a:ext cx="21824355" cy="9296401"/>
          </a:xfrm>
          <a:prstGeom prst="rect">
            <a:avLst/>
          </a:prstGeom>
        </p:spPr>
        <p:txBody>
          <a:bodyPr/>
          <a:lstStyle/>
          <a:p>
            <a:pPr>
              <a:lnSpc>
                <a:spcPct val="120000"/>
              </a:lnSpc>
              <a:defRPr b="1"/>
            </a:pPr>
          </a:p>
        </p:txBody>
      </p:sp>
      <p:graphicFrame>
        <p:nvGraphicFramePr>
          <p:cNvPr id="173" name="Tabel 1"/>
          <p:cNvGraphicFramePr/>
          <p:nvPr/>
        </p:nvGraphicFramePr>
        <p:xfrm>
          <a:off x="1694406" y="3203329"/>
          <a:ext cx="17136726" cy="7361065"/>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281006"/>
                <a:gridCol w="4281006"/>
                <a:gridCol w="4281006"/>
                <a:gridCol w="4281006"/>
              </a:tblGrid>
              <a:tr h="1110933">
                <a:tc>
                  <a:txBody>
                    <a:bodyPr/>
                    <a:lstStyle/>
                    <a:p>
                      <a:pPr algn="l">
                        <a:defRPr b="0" sz="1800">
                          <a:solidFill>
                            <a:srgbClr val="000000"/>
                          </a:solidFill>
                        </a:defRPr>
                      </a:pPr>
                      <a:r>
                        <a:rPr b="1" sz="2600">
                          <a:solidFill>
                            <a:srgbClr val="FFFFFF"/>
                          </a:solidFill>
                        </a:rPr>
                        <a:t>Framework</a:t>
                      </a:r>
                    </a:p>
                  </a:txBody>
                  <a:tcPr marL="0" marR="0" marT="0" marB="0" anchor="ctr" anchorCtr="0" horzOverflow="overflow"/>
                </a:tc>
                <a:tc>
                  <a:txBody>
                    <a:bodyPr/>
                    <a:lstStyle/>
                    <a:p>
                      <a:pPr algn="l">
                        <a:defRPr b="0" sz="1800">
                          <a:solidFill>
                            <a:srgbClr val="000000"/>
                          </a:solidFill>
                        </a:defRPr>
                      </a:pPr>
                      <a:r>
                        <a:rPr b="1" sz="2600">
                          <a:solidFill>
                            <a:srgbClr val="FFFFFF"/>
                          </a:solidFill>
                        </a:rPr>
                        <a:t>Style</a:t>
                      </a:r>
                    </a:p>
                  </a:txBody>
                  <a:tcPr marL="0" marR="0" marT="0" marB="0" anchor="ctr" anchorCtr="0" horzOverflow="overflow"/>
                </a:tc>
                <a:tc>
                  <a:txBody>
                    <a:bodyPr/>
                    <a:lstStyle/>
                    <a:p>
                      <a:pPr algn="l">
                        <a:defRPr b="0" sz="1800">
                          <a:solidFill>
                            <a:srgbClr val="000000"/>
                          </a:solidFill>
                        </a:defRPr>
                      </a:pPr>
                      <a:r>
                        <a:rPr b="1" sz="2600">
                          <a:solidFill>
                            <a:srgbClr val="FFFFFF"/>
                          </a:solidFill>
                        </a:rPr>
                        <a:t>Embedded Suitability</a:t>
                      </a:r>
                    </a:p>
                  </a:txBody>
                  <a:tcPr marL="0" marR="0" marT="0" marB="0" anchor="ctr" anchorCtr="0" horzOverflow="overflow"/>
                </a:tc>
                <a:tc>
                  <a:txBody>
                    <a:bodyPr/>
                    <a:lstStyle/>
                    <a:p>
                      <a:pPr algn="l">
                        <a:defRPr b="0" sz="1800">
                          <a:solidFill>
                            <a:srgbClr val="000000"/>
                          </a:solidFill>
                        </a:defRPr>
                      </a:pPr>
                      <a:r>
                        <a:rPr b="1" sz="2600">
                          <a:solidFill>
                            <a:srgbClr val="FFFFFF"/>
                          </a:solidFill>
                        </a:rPr>
                        <a:t>Notes</a:t>
                      </a:r>
                    </a:p>
                  </a:txBody>
                  <a:tcPr marL="0" marR="0" marT="0" marB="0" anchor="ctr" anchorCtr="0" horzOverflow="overflow"/>
                </a:tc>
              </a:tr>
              <a:tr h="790723">
                <a:tc>
                  <a:txBody>
                    <a:bodyPr/>
                    <a:lstStyle/>
                    <a:p>
                      <a:pPr algn="l">
                        <a:defRPr sz="1800"/>
                      </a:pPr>
                      <a:r>
                        <a:rPr sz="2600"/>
                        <a:t>Catch2</a:t>
                      </a:r>
                    </a:p>
                  </a:txBody>
                  <a:tcPr marL="0" marR="0" marT="0" marB="0" anchor="ctr" anchorCtr="0" horzOverflow="overflow"/>
                </a:tc>
                <a:tc>
                  <a:txBody>
                    <a:bodyPr/>
                    <a:lstStyle/>
                    <a:p>
                      <a:pPr algn="l">
                        <a:defRPr sz="1800"/>
                      </a:pPr>
                      <a:r>
                        <a:rPr sz="2600"/>
                        <a:t>Modern, header-heavy</a:t>
                      </a:r>
                    </a:p>
                  </a:txBody>
                  <a:tcPr marL="0" marR="0" marT="0" marB="0" anchor="ctr" anchorCtr="0" horzOverflow="overflow"/>
                </a:tc>
                <a:tc>
                  <a:txBody>
                    <a:bodyPr/>
                    <a:lstStyle/>
                    <a:p>
                      <a:pPr algn="l">
                        <a:defRPr sz="1800"/>
                      </a:pPr>
                      <a:r>
                        <a:rPr sz="2600"/>
                        <a:t>Good</a:t>
                      </a:r>
                    </a:p>
                  </a:txBody>
                  <a:tcPr marL="0" marR="0" marT="0" marB="0" anchor="ctr" anchorCtr="0" horzOverflow="overflow"/>
                </a:tc>
                <a:tc>
                  <a:txBody>
                    <a:bodyPr/>
                    <a:lstStyle/>
                    <a:p>
                      <a:pPr algn="l">
                        <a:defRPr sz="1800"/>
                      </a:pPr>
                      <a:r>
                        <a:rPr sz="2600"/>
                        <a:t>Nice syntax, no macros for test registration, slow compile</a:t>
                      </a:r>
                    </a:p>
                  </a:txBody>
                  <a:tcPr marL="0" marR="0" marT="0" marB="0" anchor="ctr" anchorCtr="0" horzOverflow="overflow"/>
                </a:tc>
              </a:tr>
              <a:tr h="778023">
                <a:tc>
                  <a:txBody>
                    <a:bodyPr/>
                    <a:lstStyle/>
                    <a:p>
                      <a:pPr algn="l">
                        <a:defRPr sz="1800"/>
                      </a:pPr>
                      <a:r>
                        <a:rPr sz="2600"/>
                        <a:t>GoogleTest</a:t>
                      </a:r>
                    </a:p>
                  </a:txBody>
                  <a:tcPr marL="0" marR="0" marT="0" marB="0" anchor="ctr" anchorCtr="0" horzOverflow="overflow"/>
                </a:tc>
                <a:tc>
                  <a:txBody>
                    <a:bodyPr/>
                    <a:lstStyle/>
                    <a:p>
                      <a:pPr algn="l">
                        <a:defRPr sz="1800"/>
                      </a:pPr>
                      <a:r>
                        <a:rPr sz="2600"/>
                        <a:t>Full-featured</a:t>
                      </a:r>
                    </a:p>
                  </a:txBody>
                  <a:tcPr marL="0" marR="0" marT="0" marB="0" anchor="ctr" anchorCtr="0" horzOverflow="overflow"/>
                </a:tc>
                <a:tc>
                  <a:txBody>
                    <a:bodyPr/>
                    <a:lstStyle/>
                    <a:p>
                      <a:pPr algn="l">
                        <a:defRPr sz="1800"/>
                      </a:pPr>
                      <a:r>
                        <a:rPr sz="2600"/>
                        <a:t>Good</a:t>
                      </a:r>
                    </a:p>
                  </a:txBody>
                  <a:tcPr marL="0" marR="0" marT="0" marB="0" anchor="ctr" anchorCtr="0" horzOverflow="overflow"/>
                </a:tc>
                <a:tc>
                  <a:txBody>
                    <a:bodyPr/>
                    <a:lstStyle/>
                    <a:p>
                      <a:pPr algn="l">
                        <a:defRPr sz="1800"/>
                      </a:pPr>
                      <a:r>
                        <a:rPr sz="2600"/>
                        <a:t>Industry standard, mature, more setup</a:t>
                      </a:r>
                    </a:p>
                  </a:txBody>
                  <a:tcPr marL="0" marR="0" marT="0" marB="0" anchor="ctr" anchorCtr="0" horzOverflow="overflow"/>
                </a:tc>
              </a:tr>
              <a:tr h="778023">
                <a:tc>
                  <a:txBody>
                    <a:bodyPr/>
                    <a:lstStyle/>
                    <a:p>
                      <a:pPr algn="l">
                        <a:defRPr sz="1800"/>
                      </a:pPr>
                      <a:r>
                        <a:rPr sz="2600"/>
                        <a:t>doctest</a:t>
                      </a:r>
                    </a:p>
                  </a:txBody>
                  <a:tcPr marL="0" marR="0" marT="0" marB="0" anchor="ctr" anchorCtr="0" horzOverflow="overflow"/>
                </a:tc>
                <a:tc>
                  <a:txBody>
                    <a:bodyPr/>
                    <a:lstStyle/>
                    <a:p>
                      <a:pPr algn="l">
                        <a:defRPr sz="1800"/>
                      </a:pPr>
                      <a:r>
                        <a:rPr sz="2600"/>
                        <a:t>Lightweight Catch2</a:t>
                      </a:r>
                    </a:p>
                  </a:txBody>
                  <a:tcPr marL="0" marR="0" marT="0" marB="0" anchor="ctr" anchorCtr="0" horzOverflow="overflow"/>
                </a:tc>
                <a:tc>
                  <a:txBody>
                    <a:bodyPr/>
                    <a:lstStyle/>
                    <a:p>
                      <a:pPr algn="l">
                        <a:defRPr sz="1800"/>
                      </a:pPr>
                      <a:r>
                        <a:rPr sz="2600"/>
                        <a:t>Excellent</a:t>
                      </a:r>
                    </a:p>
                  </a:txBody>
                  <a:tcPr marL="0" marR="0" marT="0" marB="0" anchor="ctr" anchorCtr="0" horzOverflow="overflow"/>
                </a:tc>
                <a:tc>
                  <a:txBody>
                    <a:bodyPr/>
                    <a:lstStyle/>
                    <a:p>
                      <a:pPr algn="l">
                        <a:defRPr sz="1800"/>
                      </a:pPr>
                      <a:r>
                        <a:rPr sz="2600"/>
                        <a:t>Fastest compile, minimal footprint, Catch2-like syntax</a:t>
                      </a:r>
                    </a:p>
                  </a:txBody>
                  <a:tcPr marL="0" marR="0" marT="0" marB="0" anchor="ctr" anchorCtr="0" horzOverflow="overflow"/>
                </a:tc>
              </a:tr>
              <a:tr h="358923">
                <a:tc>
                  <a:txBody>
                    <a:bodyPr/>
                    <a:lstStyle/>
                    <a:p>
                      <a:pPr algn="l">
                        <a:defRPr sz="1800"/>
                      </a:pPr>
                      <a:r>
                        <a:rPr sz="2600"/>
                        <a:t>Unity</a:t>
                      </a:r>
                    </a:p>
                  </a:txBody>
                  <a:tcPr marL="0" marR="0" marT="0" marB="0" anchor="ctr" anchorCtr="0" horzOverflow="overflow"/>
                </a:tc>
                <a:tc>
                  <a:txBody>
                    <a:bodyPr/>
                    <a:lstStyle/>
                    <a:p>
                      <a:pPr algn="l">
                        <a:defRPr sz="1800"/>
                      </a:pPr>
                      <a:r>
                        <a:rPr sz="2600"/>
                        <a:t>Pure C</a:t>
                      </a:r>
                    </a:p>
                  </a:txBody>
                  <a:tcPr marL="0" marR="0" marT="0" marB="0" anchor="ctr" anchorCtr="0" horzOverflow="overflow"/>
                </a:tc>
                <a:tc>
                  <a:txBody>
                    <a:bodyPr/>
                    <a:lstStyle/>
                    <a:p>
                      <a:pPr algn="l">
                        <a:defRPr sz="1800"/>
                      </a:pPr>
                      <a:r>
                        <a:rPr sz="2600"/>
                        <a:t>Excellent</a:t>
                      </a:r>
                    </a:p>
                  </a:txBody>
                  <a:tcPr marL="0" marR="0" marT="0" marB="0" anchor="ctr" anchorCtr="0" horzOverflow="overflow"/>
                </a:tc>
                <a:tc>
                  <a:txBody>
                    <a:bodyPr/>
                    <a:lstStyle/>
                    <a:p>
                      <a:pPr algn="l">
                        <a:defRPr sz="1800"/>
                      </a:pPr>
                      <a:r>
                        <a:rPr sz="2600"/>
                        <a:t>ThrowTheSwitch, tiny, runs anywhere</a:t>
                      </a:r>
                    </a:p>
                  </a:txBody>
                  <a:tcPr marL="0" marR="0" marT="0" marB="0" anchor="ctr" anchorCtr="0" horzOverflow="overflow"/>
                </a:tc>
              </a:tr>
              <a:tr h="358923">
                <a:tc>
                  <a:txBody>
                    <a:bodyPr/>
                    <a:lstStyle/>
                    <a:p>
                      <a:pPr algn="l">
                        <a:defRPr sz="1800"/>
                      </a:pPr>
                      <a:r>
                        <a:rPr sz="2600"/>
                        <a:t>CppUTest</a:t>
                      </a:r>
                    </a:p>
                  </a:txBody>
                  <a:tcPr marL="0" marR="0" marT="0" marB="0" anchor="ctr" anchorCtr="0" horzOverflow="overflow"/>
                </a:tc>
                <a:tc>
                  <a:txBody>
                    <a:bodyPr/>
                    <a:lstStyle/>
                    <a:p>
                      <a:pPr algn="l">
                        <a:defRPr sz="1800"/>
                      </a:pPr>
                      <a:r>
                        <a:rPr sz="2600"/>
                        <a:t>Embedded-focused</a:t>
                      </a:r>
                    </a:p>
                  </a:txBody>
                  <a:tcPr marL="0" marR="0" marT="0" marB="0" anchor="ctr" anchorCtr="0" horzOverflow="overflow"/>
                </a:tc>
                <a:tc>
                  <a:txBody>
                    <a:bodyPr/>
                    <a:lstStyle/>
                    <a:p>
                      <a:pPr algn="l">
                        <a:defRPr sz="1800"/>
                      </a:pPr>
                      <a:r>
                        <a:rPr sz="2600"/>
                        <a:t>Excellent</a:t>
                      </a:r>
                    </a:p>
                  </a:txBody>
                  <a:tcPr marL="0" marR="0" marT="0" marB="0" anchor="ctr" anchorCtr="0" horzOverflow="overflow"/>
                </a:tc>
                <a:tc>
                  <a:txBody>
                    <a:bodyPr/>
                    <a:lstStyle/>
                    <a:p>
                      <a:pPr algn="l">
                        <a:defRPr sz="1800"/>
                      </a:pPr>
                      <a:r>
                        <a:rPr sz="2600"/>
                        <a:t>Made for embedded, James Grenning's book uses it</a:t>
                      </a:r>
                    </a:p>
                  </a:txBody>
                  <a:tcPr marL="0" marR="0" marT="0" marB="0" anchor="ctr" anchorCtr="0" horzOverflow="overflow"/>
                </a:tc>
              </a:tr>
              <a:tr h="358923">
                <a:tc>
                  <a:txBody>
                    <a:bodyPr/>
                    <a:lstStyle/>
                    <a:p>
                      <a:pPr algn="l">
                        <a:defRPr sz="1800"/>
                      </a:pPr>
                      <a:r>
                        <a:rPr sz="2600"/>
                        <a:t>µTest</a:t>
                      </a:r>
                    </a:p>
                  </a:txBody>
                  <a:tcPr marL="0" marR="0" marT="0" marB="0" anchor="ctr" anchorCtr="0" horzOverflow="overflow"/>
                </a:tc>
                <a:tc>
                  <a:txBody>
                    <a:bodyPr/>
                    <a:lstStyle/>
                    <a:p>
                      <a:pPr algn="l">
                        <a:defRPr sz="1800"/>
                      </a:pPr>
                      <a:r>
                        <a:rPr sz="2600"/>
                        <a:t>Minimal</a:t>
                      </a:r>
                    </a:p>
                  </a:txBody>
                  <a:tcPr marL="0" marR="0" marT="0" marB="0" anchor="ctr" anchorCtr="0" horzOverflow="overflow"/>
                </a:tc>
                <a:tc>
                  <a:txBody>
                    <a:bodyPr/>
                    <a:lstStyle/>
                    <a:p>
                      <a:pPr algn="l">
                        <a:defRPr sz="1800"/>
                      </a:pPr>
                      <a:r>
                        <a:rPr sz="2600"/>
                        <a:t>Excellent</a:t>
                      </a:r>
                    </a:p>
                  </a:txBody>
                  <a:tcPr marL="0" marR="0" marT="0" marB="0" anchor="ctr" anchorCtr="0" horzOverflow="overflow"/>
                </a:tc>
                <a:tc>
                  <a:txBody>
                    <a:bodyPr/>
                    <a:lstStyle/>
                    <a:p>
                      <a:pPr algn="l">
                        <a:defRPr sz="1800"/>
                      </a:pPr>
                      <a:r>
                        <a:rPr sz="2600"/>
                        <a:t>Header-only, tiny</a:t>
                      </a: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CppUTest"/>
          <p:cNvSpPr txBox="1"/>
          <p:nvPr>
            <p:ph type="title"/>
          </p:nvPr>
        </p:nvSpPr>
        <p:spPr>
          <a:prstGeom prst="rect">
            <a:avLst/>
          </a:prstGeom>
        </p:spPr>
        <p:txBody>
          <a:bodyPr/>
          <a:lstStyle/>
          <a:p>
            <a:pPr/>
            <a:r>
              <a:t>CppUTest</a:t>
            </a:r>
          </a:p>
        </p:txBody>
      </p:sp>
      <p:sp>
        <p:nvSpPr>
          <p:cNvPr id="176" name="- Purpose-built for embedded…"/>
          <p:cNvSpPr txBox="1"/>
          <p:nvPr>
            <p:ph type="body" idx="1"/>
          </p:nvPr>
        </p:nvSpPr>
        <p:spPr>
          <a:xfrm>
            <a:off x="1688592" y="3069576"/>
            <a:ext cx="21824355" cy="9296401"/>
          </a:xfrm>
          <a:prstGeom prst="rect">
            <a:avLst/>
          </a:prstGeom>
        </p:spPr>
        <p:txBody>
          <a:bodyPr/>
          <a:lstStyle/>
          <a:p>
            <a:pPr>
              <a:lnSpc>
                <a:spcPct val="120000"/>
              </a:lnSpc>
            </a:pPr>
            <a:r>
              <a:t>- Purpose-built for embedded</a:t>
            </a:r>
          </a:p>
          <a:p>
            <a:pPr>
              <a:lnSpc>
                <a:spcPct val="120000"/>
              </a:lnSpc>
            </a:pPr>
            <a:r>
              <a:t>- James Grenning's </a:t>
            </a:r>
            <a:r>
              <a:rPr i="1"/>
              <a:t>Test-Driven Development for Embedded C</a:t>
            </a:r>
            <a:r>
              <a:t> uses it</a:t>
            </a:r>
          </a:p>
          <a:p>
            <a:pPr>
              <a:lnSpc>
                <a:spcPct val="120000"/>
              </a:lnSpc>
            </a:pPr>
            <a:r>
              <a:t>- Better memory leak detection out of the box</a:t>
            </a:r>
          </a:p>
          <a:p>
            <a:pPr>
              <a:lnSpc>
                <a:spcPct val="120000"/>
              </a:lnSpc>
            </a:pPr>
            <a:r>
              <a:t>- More C-friendly if they mix C and C++</a:t>
            </a:r>
          </a:p>
          <a:p>
            <a:pPr>
              <a:lnSpc>
                <a:spcPct val="120000"/>
              </a:lnSpc>
            </a:pPr>
            <a:r>
              <a:t>- Has CppUMock built in</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Please pull the repo"/>
          <p:cNvSpPr txBox="1"/>
          <p:nvPr>
            <p:ph type="title"/>
          </p:nvPr>
        </p:nvSpPr>
        <p:spPr>
          <a:prstGeom prst="rect">
            <a:avLst/>
          </a:prstGeom>
        </p:spPr>
        <p:txBody>
          <a:bodyPr/>
          <a:lstStyle/>
          <a:p>
            <a:pPr/>
            <a:r>
              <a:t>Please pull the repo</a:t>
            </a:r>
          </a:p>
        </p:txBody>
      </p:sp>
      <p:sp>
        <p:nvSpPr>
          <p:cNvPr id="179" name="https://github.com/AEAEmbedded/ESE_PROG/tree/main/Workshops/UnitTesting…"/>
          <p:cNvSpPr txBox="1"/>
          <p:nvPr>
            <p:ph type="body" idx="1"/>
          </p:nvPr>
        </p:nvSpPr>
        <p:spPr>
          <a:xfrm>
            <a:off x="1688592" y="3069576"/>
            <a:ext cx="21824355" cy="9296401"/>
          </a:xfrm>
          <a:prstGeom prst="rect">
            <a:avLst/>
          </a:prstGeom>
        </p:spPr>
        <p:txBody>
          <a:bodyPr/>
          <a:lstStyle/>
          <a:p>
            <a:pPr>
              <a:lnSpc>
                <a:spcPct val="120000"/>
              </a:lnSpc>
            </a:pPr>
            <a:r>
              <a:rPr u="sng">
                <a:solidFill>
                  <a:srgbClr val="0563C1"/>
                </a:solidFill>
                <a:uFill>
                  <a:solidFill>
                    <a:srgbClr val="0563C1"/>
                  </a:solidFill>
                </a:uFill>
                <a:hlinkClick r:id="rId2" invalidUrl="" action="" tgtFrame="" tooltip="" history="1" highlightClick="0" endSnd="0"/>
              </a:rPr>
              <a:t>https://github.com/AEAEmbedded/ESE_PROG/tree/main/Workshops/UnitTesting</a:t>
            </a:r>
          </a:p>
          <a:p>
            <a:pPr>
              <a:lnSpc>
                <a:spcPct val="120000"/>
              </a:lnSpc>
            </a:pPr>
          </a:p>
          <a:p>
            <a:pPr>
              <a:lnSpc>
                <a:spcPct val="120000"/>
              </a:lnSpc>
            </a:pPr>
            <a:r>
              <a:rPr u="sng">
                <a:solidFill>
                  <a:srgbClr val="0563C1"/>
                </a:solidFill>
                <a:uFill>
                  <a:solidFill>
                    <a:srgbClr val="0563C1"/>
                  </a:solidFill>
                </a:uFill>
                <a:hlinkClick r:id="rId3" invalidUrl="" action="" tgtFrame="" tooltip="" history="1" highlightClick="0" endSnd="0"/>
              </a:rPr>
              <a:t>https://github.com/AEAEmbedded/ESE_PROG.git</a:t>
            </a:r>
          </a:p>
          <a:p>
            <a:pPr>
              <a:lnSpc>
                <a:spcPct val="120000"/>
              </a:lnSpc>
            </a:pPr>
          </a:p>
        </p:txBody>
      </p:sp>
      <p:pic>
        <p:nvPicPr>
          <p:cNvPr id="180" name="qrcode_282523169_8da620ca33308ece0bcc7d69050a3e4e.png" descr="qrcode_282523169_8da620ca33308ece0bcc7d69050a3e4e.png"/>
          <p:cNvPicPr>
            <a:picLocks noChangeAspect="1"/>
          </p:cNvPicPr>
          <p:nvPr/>
        </p:nvPicPr>
        <p:blipFill>
          <a:blip r:embed="rId4">
            <a:extLst/>
          </a:blip>
          <a:stretch>
            <a:fillRect/>
          </a:stretch>
        </p:blipFill>
        <p:spPr>
          <a:xfrm>
            <a:off x="15730716" y="4689376"/>
            <a:ext cx="6601246" cy="6601247"/>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183" name="MinimalTest using CppUTest"/>
          <p:cNvSpPr txBox="1"/>
          <p:nvPr>
            <p:ph type="title"/>
          </p:nvPr>
        </p:nvSpPr>
        <p:spPr>
          <a:prstGeom prst="rect">
            <a:avLst/>
          </a:prstGeom>
        </p:spPr>
        <p:txBody>
          <a:bodyPr/>
          <a:lstStyle/>
          <a:p>
            <a:pPr/>
            <a:r>
              <a:t>MinimalTest using CppUTest</a:t>
            </a:r>
          </a:p>
        </p:txBody>
      </p:sp>
      <p:sp>
        <p:nvSpPr>
          <p:cNvPr id="184" name="MinimalTest…"/>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defTabSz="457200">
              <a:lnSpc>
                <a:spcPct val="100000"/>
              </a:lnSpc>
              <a:spcBef>
                <a:spcPts val="0"/>
              </a:spcBef>
              <a:defRPr sz="3000">
                <a:solidFill>
                  <a:srgbClr val="D4D4D4"/>
                </a:solidFill>
                <a:latin typeface="Menlo Regular"/>
                <a:ea typeface="Menlo Regular"/>
                <a:cs typeface="Menlo Regular"/>
                <a:sym typeface="Menlo Regular"/>
              </a:defRPr>
            </a:pPr>
            <a:r>
              <a:t>MinimalTest</a:t>
            </a:r>
          </a:p>
          <a:p>
            <a:pPr defTabSz="457200">
              <a:lnSpc>
                <a:spcPct val="100000"/>
              </a:lnSpc>
              <a:spcBef>
                <a:spcPts val="0"/>
              </a:spcBef>
              <a:defRPr sz="3000">
                <a:solidFill>
                  <a:srgbClr val="D4D4D4"/>
                </a:solidFill>
                <a:latin typeface="Menlo Regular"/>
                <a:ea typeface="Menlo Regular"/>
                <a:cs typeface="Menlo Regular"/>
                <a:sym typeface="Menlo Regular"/>
              </a:defRPr>
            </a:pPr>
            <a:r>
              <a:t>    ├── CMakeLists.txt </a:t>
            </a:r>
          </a:p>
          <a:p>
            <a:pPr defTabSz="457200">
              <a:lnSpc>
                <a:spcPct val="100000"/>
              </a:lnSpc>
              <a:spcBef>
                <a:spcPts val="0"/>
              </a:spcBef>
              <a:defRPr sz="3000">
                <a:solidFill>
                  <a:srgbClr val="D4D4D4"/>
                </a:solidFill>
                <a:latin typeface="Menlo Regular"/>
                <a:ea typeface="Menlo Regular"/>
                <a:cs typeface="Menlo Regular"/>
                <a:sym typeface="Menlo Regular"/>
              </a:defRPr>
            </a:pPr>
            <a:r>
              <a:t>    ├── main.cpp </a:t>
            </a:r>
          </a:p>
          <a:p>
            <a:pPr defTabSz="457200">
              <a:lnSpc>
                <a:spcPct val="100000"/>
              </a:lnSpc>
              <a:spcBef>
                <a:spcPts val="0"/>
              </a:spcBef>
              <a:defRPr sz="3000">
                <a:solidFill>
                  <a:srgbClr val="D4D4D4"/>
                </a:solidFill>
                <a:latin typeface="Menlo Regular"/>
                <a:ea typeface="Menlo Regular"/>
                <a:cs typeface="Menlo Regular"/>
                <a:sym typeface="Menlo Regular"/>
              </a:defRPr>
            </a:pPr>
            <a:r>
              <a:t>    └── test_first.cpp</a:t>
            </a:r>
          </a:p>
        </p:txBody>
      </p:sp>
      <p:sp>
        <p:nvSpPr>
          <p:cNvPr id="185" name="Case 0"/>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0</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188" name="MinimalTest using CppUTest"/>
          <p:cNvSpPr txBox="1"/>
          <p:nvPr>
            <p:ph type="title"/>
          </p:nvPr>
        </p:nvSpPr>
        <p:spPr>
          <a:prstGeom prst="rect">
            <a:avLst/>
          </a:prstGeom>
        </p:spPr>
        <p:txBody>
          <a:bodyPr/>
          <a:lstStyle/>
          <a:p>
            <a:pPr/>
            <a:r>
              <a:t>MinimalTest using CppUTest</a:t>
            </a:r>
          </a:p>
        </p:txBody>
      </p:sp>
      <p:sp>
        <p:nvSpPr>
          <p:cNvPr id="189" name="- main.cpp…"/>
          <p:cNvSpPr txBox="1"/>
          <p:nvPr>
            <p:ph type="body" idx="1"/>
          </p:nvPr>
        </p:nvSpPr>
        <p:spPr>
          <a:xfrm>
            <a:off x="1688592" y="3069576"/>
            <a:ext cx="21824355" cy="9296401"/>
          </a:xfrm>
          <a:prstGeom prst="rect">
            <a:avLst/>
          </a:prstGeom>
        </p:spPr>
        <p:txBody>
          <a:bodyPr/>
          <a:lstStyle/>
          <a:p>
            <a:pPr>
              <a:lnSpc>
                <a:spcPct val="120000"/>
              </a:lnSpc>
            </a:pPr>
            <a:r>
              <a:t>- main.cpp</a:t>
            </a:r>
          </a:p>
          <a:p>
            <a:pPr>
              <a:lnSpc>
                <a:spcPct val="120000"/>
              </a:lnSpc>
            </a:pPr>
          </a:p>
          <a:p>
            <a:pPr defTabSz="457200">
              <a:lnSpc>
                <a:spcPct val="100000"/>
              </a:lnSpc>
              <a:spcBef>
                <a:spcPts val="0"/>
              </a:spcBef>
              <a:defRPr sz="3000">
                <a:solidFill>
                  <a:srgbClr val="CE9178"/>
                </a:solidFill>
                <a:latin typeface="Menlo Regular"/>
                <a:ea typeface="Menlo Regular"/>
                <a:cs typeface="Menlo Regular"/>
                <a:sym typeface="Menlo Regular"/>
              </a:defRPr>
            </a:pPr>
            <a:r>
              <a:rPr>
                <a:solidFill>
                  <a:srgbClr val="CE92A4"/>
                </a:solidFill>
              </a:rPr>
              <a:t>#include</a:t>
            </a:r>
            <a:r>
              <a:rPr>
                <a:solidFill>
                  <a:srgbClr val="569CD6"/>
                </a:solidFill>
              </a:rPr>
              <a:t> </a:t>
            </a:r>
            <a:r>
              <a:t>"CppUTest/CommandLineTestRunner.h"</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569CD6"/>
                </a:solidFill>
                <a:latin typeface="Menlo Regular"/>
                <a:ea typeface="Menlo Regular"/>
                <a:cs typeface="Menlo Regular"/>
                <a:sym typeface="Menlo Regular"/>
              </a:defRPr>
            </a:pPr>
            <a:r>
              <a:t>int</a:t>
            </a:r>
            <a:r>
              <a:rPr>
                <a:solidFill>
                  <a:srgbClr val="D4D4D4"/>
                </a:solidFill>
              </a:rPr>
              <a:t> </a:t>
            </a:r>
            <a:r>
              <a:rPr>
                <a:solidFill>
                  <a:srgbClr val="DCDCAA"/>
                </a:solidFill>
              </a:rPr>
              <a:t>main</a:t>
            </a:r>
            <a:r>
              <a:rPr>
                <a:solidFill>
                  <a:srgbClr val="D4D4D4"/>
                </a:solidFill>
              </a:rPr>
              <a:t>(</a:t>
            </a:r>
            <a:r>
              <a:t>int</a:t>
            </a:r>
            <a:r>
              <a:rPr>
                <a:solidFill>
                  <a:srgbClr val="D4D4D4"/>
                </a:solidFill>
              </a:rPr>
              <a:t> </a:t>
            </a:r>
            <a:r>
              <a:rPr>
                <a:solidFill>
                  <a:srgbClr val="9CDCFE"/>
                </a:solidFill>
              </a:rPr>
              <a:t>argc</a:t>
            </a:r>
            <a:r>
              <a:rPr>
                <a:solidFill>
                  <a:srgbClr val="D4D4D4"/>
                </a:solidFill>
              </a:rPr>
              <a:t>, </a:t>
            </a:r>
            <a:r>
              <a:t>char**</a:t>
            </a:r>
            <a:r>
              <a:rPr>
                <a:solidFill>
                  <a:srgbClr val="D4D4D4"/>
                </a:solidFill>
              </a:rPr>
              <a:t> </a:t>
            </a:r>
            <a:r>
              <a:rPr>
                <a:solidFill>
                  <a:srgbClr val="9CDCFE"/>
                </a:solidFill>
              </a:rPr>
              <a:t>argv</a:t>
            </a:r>
            <a:r>
              <a:rPr>
                <a:solidFill>
                  <a:srgbClr val="D4D4D4"/>
                </a:solidFill>
              </a:rPr>
              <a:t>) {</a:t>
            </a:r>
            <a:endParaRPr>
              <a:solidFill>
                <a:srgbClr val="D4D4D4"/>
              </a:solidFill>
            </a:endParaRPr>
          </a:p>
          <a:p>
            <a:pPr defTabSz="457200">
              <a:lnSpc>
                <a:spcPct val="100000"/>
              </a:lnSpc>
              <a:spcBef>
                <a:spcPts val="0"/>
              </a:spcBef>
              <a:defRPr sz="3000">
                <a:solidFill>
                  <a:srgbClr val="4EC9B0"/>
                </a:solidFill>
                <a:latin typeface="Menlo Regular"/>
                <a:ea typeface="Menlo Regular"/>
                <a:cs typeface="Menlo Regular"/>
                <a:sym typeface="Menlo Regular"/>
              </a:defRPr>
            </a:pPr>
            <a:r>
              <a:rPr>
                <a:solidFill>
                  <a:srgbClr val="D4D4D4"/>
                </a:solidFill>
              </a:rPr>
              <a:t>    </a:t>
            </a:r>
            <a:r>
              <a:rPr>
                <a:solidFill>
                  <a:srgbClr val="CE92A4"/>
                </a:solidFill>
              </a:rPr>
              <a:t>return</a:t>
            </a:r>
            <a:r>
              <a:rPr>
                <a:solidFill>
                  <a:srgbClr val="D4D4D4"/>
                </a:solidFill>
              </a:rPr>
              <a:t> </a:t>
            </a:r>
            <a:r>
              <a:t>CommandLineTestRunner</a:t>
            </a:r>
            <a:r>
              <a:rPr>
                <a:solidFill>
                  <a:srgbClr val="D4D4D4"/>
                </a:solidFill>
              </a:rPr>
              <a:t>::</a:t>
            </a:r>
            <a:r>
              <a:rPr>
                <a:solidFill>
                  <a:srgbClr val="DCDCAA"/>
                </a:solidFill>
              </a:rPr>
              <a:t>RunAllTests</a:t>
            </a:r>
            <a:r>
              <a:rPr>
                <a:solidFill>
                  <a:srgbClr val="D4D4D4"/>
                </a:solidFill>
              </a:rPr>
              <a:t>(argc, argv);</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190" name="Case 0"/>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0</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193" name="MinimalTest using CppUTest"/>
          <p:cNvSpPr txBox="1"/>
          <p:nvPr>
            <p:ph type="title"/>
          </p:nvPr>
        </p:nvSpPr>
        <p:spPr>
          <a:prstGeom prst="rect">
            <a:avLst/>
          </a:prstGeom>
        </p:spPr>
        <p:txBody>
          <a:bodyPr/>
          <a:lstStyle/>
          <a:p>
            <a:pPr/>
            <a:r>
              <a:t>MinimalTest using CppUTest</a:t>
            </a:r>
          </a:p>
        </p:txBody>
      </p:sp>
      <p:sp>
        <p:nvSpPr>
          <p:cNvPr id="194" name="- CMake to fetch CppUTest…"/>
          <p:cNvSpPr txBox="1"/>
          <p:nvPr>
            <p:ph type="body" idx="1"/>
          </p:nvPr>
        </p:nvSpPr>
        <p:spPr>
          <a:xfrm>
            <a:off x="1688592" y="3069576"/>
            <a:ext cx="21824355" cy="9296401"/>
          </a:xfrm>
          <a:prstGeom prst="rect">
            <a:avLst/>
          </a:prstGeom>
        </p:spPr>
        <p:txBody>
          <a:bodyPr/>
          <a:lstStyle/>
          <a:p>
            <a:pPr>
              <a:lnSpc>
                <a:spcPct val="120000"/>
              </a:lnSpc>
            </a:pPr>
            <a:r>
              <a:t>- CMake to fetch CppUTest</a:t>
            </a:r>
          </a:p>
          <a:p>
            <a:pPr>
              <a:lnSpc>
                <a:spcPct val="120000"/>
              </a:lnSpc>
            </a:pPr>
          </a:p>
          <a:p>
            <a:pPr defTabSz="457200">
              <a:lnSpc>
                <a:spcPct val="100000"/>
              </a:lnSpc>
              <a:spcBef>
                <a:spcPts val="0"/>
              </a:spcBef>
              <a:defRPr sz="3000">
                <a:solidFill>
                  <a:srgbClr val="6A9955"/>
                </a:solidFill>
                <a:latin typeface="Menlo Regular"/>
                <a:ea typeface="Menlo Regular"/>
                <a:cs typeface="Menlo Regular"/>
                <a:sym typeface="Menlo Regular"/>
              </a:defRPr>
            </a:pPr>
            <a:r>
              <a:t># Fetch CppUTest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include</a:t>
            </a:r>
            <a:r>
              <a:t>(FetchContent)</a:t>
            </a:r>
          </a:p>
          <a:p>
            <a:pPr defTabSz="457200">
              <a:lnSpc>
                <a:spcPct val="100000"/>
              </a:lnSpc>
              <a:spcBef>
                <a:spcPts val="0"/>
              </a:spcBef>
              <a:defRPr sz="3000">
                <a:solidFill>
                  <a:srgbClr val="D4D4D4"/>
                </a:solidFill>
                <a:latin typeface="Menlo Regular"/>
                <a:ea typeface="Menlo Regular"/>
                <a:cs typeface="Menlo Regular"/>
                <a:sym typeface="Menlo Regular"/>
              </a:defRPr>
            </a:pPr>
            <a:r>
              <a:t>FetchContent_Declare(</a:t>
            </a:r>
          </a:p>
          <a:p>
            <a:pPr defTabSz="457200">
              <a:lnSpc>
                <a:spcPct val="100000"/>
              </a:lnSpc>
              <a:spcBef>
                <a:spcPts val="0"/>
              </a:spcBef>
              <a:defRPr sz="3000">
                <a:solidFill>
                  <a:srgbClr val="D4D4D4"/>
                </a:solidFill>
                <a:latin typeface="Menlo Regular"/>
                <a:ea typeface="Menlo Regular"/>
                <a:cs typeface="Menlo Regular"/>
                <a:sym typeface="Menlo Regular"/>
              </a:defRPr>
            </a:pPr>
            <a:r>
              <a:t>    CppUTest</a:t>
            </a:r>
          </a:p>
          <a:p>
            <a:pPr defTabSz="457200">
              <a:lnSpc>
                <a:spcPct val="100000"/>
              </a:lnSpc>
              <a:spcBef>
                <a:spcPts val="0"/>
              </a:spcBef>
              <a:defRPr sz="3000">
                <a:solidFill>
                  <a:srgbClr val="D4D4D4"/>
                </a:solidFill>
                <a:latin typeface="Menlo Regular"/>
                <a:ea typeface="Menlo Regular"/>
                <a:cs typeface="Menlo Regular"/>
                <a:sym typeface="Menlo Regular"/>
              </a:defRPr>
            </a:pPr>
            <a:r>
              <a:t>    GIT_REPOSITORY https://github.com/cpputest/cpputest.git</a:t>
            </a:r>
          </a:p>
          <a:p>
            <a:pPr defTabSz="457200">
              <a:lnSpc>
                <a:spcPct val="100000"/>
              </a:lnSpc>
              <a:spcBef>
                <a:spcPts val="0"/>
              </a:spcBef>
              <a:defRPr sz="3000">
                <a:solidFill>
                  <a:srgbClr val="D4D4D4"/>
                </a:solidFill>
                <a:latin typeface="Menlo Regular"/>
                <a:ea typeface="Menlo Regular"/>
                <a:cs typeface="Menlo Regular"/>
                <a:sym typeface="Menlo Regular"/>
              </a:defRPr>
            </a:pPr>
            <a:r>
              <a:t>    GIT_TAG master</a:t>
            </a: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195" name="Case 0"/>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0</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Rechthoek"/>
          <p:cNvSpPr/>
          <p:nvPr/>
        </p:nvSpPr>
        <p:spPr>
          <a:xfrm>
            <a:off x="1509709" y="4174898"/>
            <a:ext cx="14420842" cy="7776663"/>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198" name="MinimalTest using CppUTest"/>
          <p:cNvSpPr txBox="1"/>
          <p:nvPr>
            <p:ph type="title"/>
          </p:nvPr>
        </p:nvSpPr>
        <p:spPr>
          <a:prstGeom prst="rect">
            <a:avLst/>
          </a:prstGeom>
        </p:spPr>
        <p:txBody>
          <a:bodyPr/>
          <a:lstStyle/>
          <a:p>
            <a:pPr/>
            <a:r>
              <a:t>MinimalTest using CppUTest</a:t>
            </a:r>
          </a:p>
        </p:txBody>
      </p:sp>
      <p:sp>
        <p:nvSpPr>
          <p:cNvPr id="199" name="- test_first.cpp…"/>
          <p:cNvSpPr txBox="1"/>
          <p:nvPr>
            <p:ph type="body" idx="1"/>
          </p:nvPr>
        </p:nvSpPr>
        <p:spPr>
          <a:xfrm>
            <a:off x="1688592" y="3069576"/>
            <a:ext cx="21824355" cy="9296401"/>
          </a:xfrm>
          <a:prstGeom prst="rect">
            <a:avLst/>
          </a:prstGeom>
        </p:spPr>
        <p:txBody>
          <a:bodyPr/>
          <a:lstStyle/>
          <a:p>
            <a:pPr>
              <a:lnSpc>
                <a:spcPct val="120000"/>
              </a:lnSpc>
            </a:pPr>
            <a:r>
              <a:t>- test_first.cpp</a:t>
            </a:r>
          </a:p>
          <a:p>
            <a:pPr>
              <a:lnSpc>
                <a:spcPct val="120000"/>
              </a:lnSpc>
            </a:pPr>
          </a:p>
          <a:p>
            <a:pPr defTabSz="457200">
              <a:lnSpc>
                <a:spcPct val="100000"/>
              </a:lnSpc>
              <a:spcBef>
                <a:spcPts val="0"/>
              </a:spcBef>
              <a:defRPr sz="3000">
                <a:solidFill>
                  <a:srgbClr val="CE9178"/>
                </a:solidFill>
                <a:latin typeface="Menlo Regular"/>
                <a:ea typeface="Menlo Regular"/>
                <a:cs typeface="Menlo Regular"/>
                <a:sym typeface="Menlo Regular"/>
              </a:defRPr>
            </a:pPr>
            <a:r>
              <a:rPr>
                <a:solidFill>
                  <a:srgbClr val="CE92A4"/>
                </a:solidFill>
              </a:rPr>
              <a:t>#include</a:t>
            </a:r>
            <a:r>
              <a:rPr>
                <a:solidFill>
                  <a:srgbClr val="569CD6"/>
                </a:solidFill>
              </a:rPr>
              <a:t> </a:t>
            </a:r>
            <a:r>
              <a:t>"CppUTest/TestHarness.h"</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TEST_GROUP</a:t>
            </a:r>
            <a:r>
              <a:t>(FirstTest) {</a:t>
            </a: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TEST</a:t>
            </a:r>
            <a:r>
              <a:t>(FirstTest, TrueIsTrue) {</a:t>
            </a:r>
          </a:p>
          <a:p>
            <a:pPr defTabSz="457200">
              <a:lnSpc>
                <a:spcPct val="100000"/>
              </a:lnSpc>
              <a:spcBef>
                <a:spcPts val="0"/>
              </a:spcBef>
              <a:defRPr sz="3000">
                <a:solidFill>
                  <a:srgbClr val="569CD6"/>
                </a:solidFill>
                <a:latin typeface="Menlo Regular"/>
                <a:ea typeface="Menlo Regular"/>
                <a:cs typeface="Menlo Regular"/>
                <a:sym typeface="Menlo Regular"/>
              </a:defRPr>
            </a:pPr>
            <a:r>
              <a:rPr>
                <a:solidFill>
                  <a:srgbClr val="D4D4D4"/>
                </a:solidFill>
              </a:rPr>
              <a:t>    </a:t>
            </a:r>
            <a:r>
              <a:t>CHECK_TRUE</a:t>
            </a:r>
            <a:r>
              <a:rPr>
                <a:solidFill>
                  <a:srgbClr val="D4D4D4"/>
                </a:solidFill>
              </a:rPr>
              <a:t>(</a:t>
            </a:r>
            <a:r>
              <a:t>true</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TEST</a:t>
            </a:r>
            <a:r>
              <a:t>(FirstTest, OnePlusOneIsTwo) {</a:t>
            </a:r>
          </a:p>
          <a:p>
            <a:pPr defTabSz="457200">
              <a:lnSpc>
                <a:spcPct val="100000"/>
              </a:lnSpc>
              <a:spcBef>
                <a:spcPts val="0"/>
              </a:spcBef>
              <a:defRPr sz="3000">
                <a:solidFill>
                  <a:srgbClr val="569CD6"/>
                </a:solidFill>
                <a:latin typeface="Menlo Regular"/>
                <a:ea typeface="Menlo Regular"/>
                <a:cs typeface="Menlo Regular"/>
                <a:sym typeface="Menlo Regular"/>
              </a:defRPr>
            </a:pPr>
            <a:r>
              <a:rPr>
                <a:solidFill>
                  <a:srgbClr val="D4D4D4"/>
                </a:solidFill>
              </a:rPr>
              <a:t>    </a:t>
            </a:r>
            <a:r>
              <a:t>LONGS_EQUAL</a:t>
            </a:r>
            <a:r>
              <a:rPr>
                <a:solidFill>
                  <a:srgbClr val="D4D4D4"/>
                </a:solidFill>
              </a:rPr>
              <a:t>(</a:t>
            </a:r>
            <a:r>
              <a:rPr>
                <a:solidFill>
                  <a:srgbClr val="B5CEA8"/>
                </a:solidFill>
              </a:rPr>
              <a:t>2</a:t>
            </a:r>
            <a:r>
              <a:rPr>
                <a:solidFill>
                  <a:srgbClr val="D4D4D4"/>
                </a:solidFill>
              </a:rPr>
              <a:t>, </a:t>
            </a:r>
            <a:r>
              <a:rPr>
                <a:solidFill>
                  <a:srgbClr val="B5CEA8"/>
                </a:solidFill>
              </a:rPr>
              <a:t>1</a:t>
            </a:r>
            <a:r>
              <a:rPr>
                <a:solidFill>
                  <a:srgbClr val="D4D4D4"/>
                </a:solidFill>
              </a:rPr>
              <a:t> + </a:t>
            </a:r>
            <a:r>
              <a:rPr>
                <a:solidFill>
                  <a:srgbClr val="B5CEA8"/>
                </a:solidFill>
              </a:rPr>
              <a:t>1</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200" name="Case 0"/>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0</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205" name="TemperatureTest using CppUTest"/>
          <p:cNvSpPr txBox="1"/>
          <p:nvPr>
            <p:ph type="title"/>
          </p:nvPr>
        </p:nvSpPr>
        <p:spPr>
          <a:prstGeom prst="rect">
            <a:avLst/>
          </a:prstGeom>
        </p:spPr>
        <p:txBody>
          <a:bodyPr/>
          <a:lstStyle/>
          <a:p>
            <a:pPr/>
            <a:r>
              <a:t>TemperatureTest using CppUTest</a:t>
            </a:r>
          </a:p>
        </p:txBody>
      </p:sp>
      <p:sp>
        <p:nvSpPr>
          <p:cNvPr id="206" name="TemperatureTest/…"/>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defTabSz="457200">
              <a:lnSpc>
                <a:spcPct val="100000"/>
              </a:lnSpc>
              <a:spcBef>
                <a:spcPts val="0"/>
              </a:spcBef>
              <a:defRPr sz="3000">
                <a:solidFill>
                  <a:srgbClr val="D4D4D4"/>
                </a:solidFill>
                <a:latin typeface="Menlo Regular"/>
                <a:ea typeface="Menlo Regular"/>
                <a:cs typeface="Menlo Regular"/>
                <a:sym typeface="Menlo Regular"/>
              </a:defRPr>
            </a:pPr>
            <a:r>
              <a:t>TemperatureTest/</a:t>
            </a:r>
          </a:p>
          <a:p>
            <a:pPr defTabSz="457200">
              <a:lnSpc>
                <a:spcPct val="100000"/>
              </a:lnSpc>
              <a:spcBef>
                <a:spcPts val="0"/>
              </a:spcBef>
              <a:defRPr sz="3000">
                <a:solidFill>
                  <a:srgbClr val="D4D4D4"/>
                </a:solidFill>
                <a:latin typeface="Menlo Regular"/>
                <a:ea typeface="Menlo Regular"/>
                <a:cs typeface="Menlo Regular"/>
                <a:sym typeface="Menlo Regular"/>
              </a:defRPr>
            </a:pPr>
            <a:r>
              <a:t>    ├── CMakeLists.txt</a:t>
            </a:r>
          </a:p>
          <a:p>
            <a:pPr defTabSz="457200">
              <a:lnSpc>
                <a:spcPct val="100000"/>
              </a:lnSpc>
              <a:spcBef>
                <a:spcPts val="0"/>
              </a:spcBef>
              <a:defRPr sz="3000">
                <a:solidFill>
                  <a:srgbClr val="D4D4D4"/>
                </a:solidFill>
                <a:latin typeface="Menlo Regular"/>
                <a:ea typeface="Menlo Regular"/>
                <a:cs typeface="Menlo Regular"/>
                <a:sym typeface="Menlo Regular"/>
              </a:defRPr>
            </a:pPr>
            <a:r>
              <a:t>    ├── temperature_sensor.hpp</a:t>
            </a:r>
          </a:p>
          <a:p>
            <a:pPr defTabSz="457200">
              <a:lnSpc>
                <a:spcPct val="100000"/>
              </a:lnSpc>
              <a:spcBef>
                <a:spcPts val="0"/>
              </a:spcBef>
              <a:defRPr sz="3000">
                <a:solidFill>
                  <a:srgbClr val="D4D4D4"/>
                </a:solidFill>
                <a:latin typeface="Menlo Regular"/>
                <a:ea typeface="Menlo Regular"/>
                <a:cs typeface="Menlo Regular"/>
                <a:sym typeface="Menlo Regular"/>
              </a:defRPr>
            </a:pPr>
            <a:r>
              <a:t>    ├── temperature_sensor.cpp</a:t>
            </a:r>
          </a:p>
          <a:p>
            <a:pPr defTabSz="457200">
              <a:lnSpc>
                <a:spcPct val="100000"/>
              </a:lnSpc>
              <a:spcBef>
                <a:spcPts val="0"/>
              </a:spcBef>
              <a:defRPr sz="3000">
                <a:solidFill>
                  <a:srgbClr val="D4D4D4"/>
                </a:solidFill>
                <a:latin typeface="Menlo Regular"/>
                <a:ea typeface="Menlo Regular"/>
                <a:cs typeface="Menlo Regular"/>
                <a:sym typeface="Menlo Regular"/>
              </a:defRPr>
            </a:pPr>
            <a:r>
              <a:t>    ├── test_temperature_sensor.cpp</a:t>
            </a:r>
          </a:p>
          <a:p>
            <a:pPr defTabSz="457200">
              <a:lnSpc>
                <a:spcPct val="100000"/>
              </a:lnSpc>
              <a:spcBef>
                <a:spcPts val="0"/>
              </a:spcBef>
              <a:defRPr sz="3000">
                <a:solidFill>
                  <a:srgbClr val="D4D4D4"/>
                </a:solidFill>
                <a:latin typeface="Menlo Regular"/>
                <a:ea typeface="Menlo Regular"/>
                <a:cs typeface="Menlo Regular"/>
                <a:sym typeface="Menlo Regular"/>
              </a:defRPr>
            </a:pPr>
            <a:r>
              <a:t>    └── main.cpp</a:t>
            </a:r>
          </a:p>
        </p:txBody>
      </p:sp>
      <p:sp>
        <p:nvSpPr>
          <p:cNvPr id="207" name="Case 1"/>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1</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TemperatureTestComplex using CppUTest"/>
          <p:cNvSpPr txBox="1"/>
          <p:nvPr>
            <p:ph type="title"/>
          </p:nvPr>
        </p:nvSpPr>
        <p:spPr>
          <a:prstGeom prst="rect">
            <a:avLst/>
          </a:prstGeom>
        </p:spPr>
        <p:txBody>
          <a:bodyPr/>
          <a:lstStyle/>
          <a:p>
            <a:pPr/>
            <a:r>
              <a:t>TemperatureTestComplex using CppUTest</a:t>
            </a:r>
          </a:p>
        </p:txBody>
      </p:sp>
      <p:sp>
        <p:nvSpPr>
          <p:cNvPr id="212" name="Case 3"/>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3</a:t>
            </a:r>
          </a:p>
        </p:txBody>
      </p:sp>
      <p:sp>
        <p:nvSpPr>
          <p:cNvPr id="213" name="- Test stateful classes using CppUTest's `TEST_GROUP` with `setup()` and `teardown()`."/>
          <p:cNvSpPr txBox="1"/>
          <p:nvPr>
            <p:ph type="body" idx="1"/>
          </p:nvPr>
        </p:nvSpPr>
        <p:spPr>
          <a:xfrm>
            <a:off x="1688592" y="3069576"/>
            <a:ext cx="21824355" cy="9296401"/>
          </a:xfrm>
          <a:prstGeom prst="rect">
            <a:avLst/>
          </a:prstGeom>
        </p:spPr>
        <p:txBody>
          <a:bodyPr/>
          <a:lstStyle>
            <a:lvl1pPr>
              <a:lnSpc>
                <a:spcPct val="120000"/>
              </a:lnSpc>
            </a:lvl1pPr>
          </a:lstStyle>
          <a:p>
            <a:pPr/>
            <a:r>
              <a:t>- Test stateful classes using CppUTest's `TEST_GROUP` with `setup()` and `teardown()`.</a:t>
            </a:r>
          </a:p>
        </p:txBody>
      </p:sp>
      <p:sp>
        <p:nvSpPr>
          <p:cNvPr id="214" name="Rechthoek"/>
          <p:cNvSpPr/>
          <p:nvPr/>
        </p:nvSpPr>
        <p:spPr>
          <a:xfrm>
            <a:off x="1509709" y="4174898"/>
            <a:ext cx="14420842" cy="4663226"/>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215" name="TemperatureTestComplex/…"/>
          <p:cNvSpPr txBox="1"/>
          <p:nvPr/>
        </p:nvSpPr>
        <p:spPr>
          <a:xfrm>
            <a:off x="1688592" y="3069576"/>
            <a:ext cx="21824355" cy="92964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p>
          <a:p>
            <a:pPr defTabSz="457200">
              <a:defRPr sz="3000">
                <a:solidFill>
                  <a:srgbClr val="D4D4D4"/>
                </a:solidFill>
                <a:latin typeface="Menlo Regular"/>
                <a:ea typeface="Menlo Regular"/>
                <a:cs typeface="Menlo Regular"/>
                <a:sym typeface="Menlo Regular"/>
              </a:defRPr>
            </a:pPr>
            <a:r>
              <a:t>TemperatureTestComplex/ </a:t>
            </a:r>
          </a:p>
          <a:p>
            <a:pPr defTabSz="457200">
              <a:defRPr sz="3000">
                <a:solidFill>
                  <a:srgbClr val="D4D4D4"/>
                </a:solidFill>
                <a:latin typeface="Menlo Regular"/>
                <a:ea typeface="Menlo Regular"/>
                <a:cs typeface="Menlo Regular"/>
                <a:sym typeface="Menlo Regular"/>
              </a:defRPr>
            </a:pPr>
            <a:r>
              <a:t>       ├── CMakeLists.txt </a:t>
            </a:r>
          </a:p>
          <a:p>
            <a:pPr defTabSz="457200">
              <a:defRPr sz="3000">
                <a:solidFill>
                  <a:srgbClr val="D4D4D4"/>
                </a:solidFill>
                <a:latin typeface="Menlo Regular"/>
                <a:ea typeface="Menlo Regular"/>
                <a:cs typeface="Menlo Regular"/>
                <a:sym typeface="Menlo Regular"/>
              </a:defRPr>
            </a:pPr>
            <a:r>
              <a:t>       ├── temperature_filter.hpp</a:t>
            </a:r>
          </a:p>
          <a:p>
            <a:pPr defTabSz="457200">
              <a:defRPr sz="3000">
                <a:solidFill>
                  <a:srgbClr val="D4D4D4"/>
                </a:solidFill>
                <a:latin typeface="Menlo Regular"/>
                <a:ea typeface="Menlo Regular"/>
                <a:cs typeface="Menlo Regular"/>
                <a:sym typeface="Menlo Regular"/>
              </a:defRPr>
            </a:pPr>
            <a:r>
              <a:t>       ├── test_temperature_filter.cpp</a:t>
            </a:r>
          </a:p>
          <a:p>
            <a:pPr defTabSz="457200">
              <a:defRPr sz="3000">
                <a:solidFill>
                  <a:srgbClr val="D4D4D4"/>
                </a:solidFill>
                <a:latin typeface="Menlo Regular"/>
                <a:ea typeface="Menlo Regular"/>
                <a:cs typeface="Menlo Regular"/>
                <a:sym typeface="Menlo Regular"/>
              </a:defRPr>
            </a:pPr>
            <a:r>
              <a:t>       └── main.cpp</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Rechthoek"/>
          <p:cNvSpPr/>
          <p:nvPr/>
        </p:nvSpPr>
        <p:spPr>
          <a:xfrm>
            <a:off x="1509709" y="4174898"/>
            <a:ext cx="14420842" cy="6384518"/>
          </a:xfrm>
          <a:prstGeom prst="rect">
            <a:avLst/>
          </a:prstGeom>
          <a:solidFill>
            <a:srgbClr val="1E1E1E"/>
          </a:solidFill>
          <a:ln w="12700">
            <a:solidFill>
              <a:schemeClr val="accent1"/>
            </a:solidFill>
            <a:miter/>
          </a:ln>
        </p:spPr>
        <p:txBody>
          <a:bodyPr lIns="45719" rIns="45719" anchor="ctr"/>
          <a:lstStyle/>
          <a:p>
            <a:pPr>
              <a:defRPr>
                <a:solidFill>
                  <a:srgbClr val="1E1E1E"/>
                </a:solidFill>
              </a:defRPr>
            </a:pPr>
          </a:p>
        </p:txBody>
      </p:sp>
      <p:sp>
        <p:nvSpPr>
          <p:cNvPr id="220" name="TemperatureTestMocking/…"/>
          <p:cNvSpPr txBox="1"/>
          <p:nvPr/>
        </p:nvSpPr>
        <p:spPr>
          <a:xfrm>
            <a:off x="1688592" y="3069576"/>
            <a:ext cx="21824355" cy="92964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p>
          <a:p>
            <a:pPr defTabSz="457200">
              <a:defRPr sz="3000">
                <a:solidFill>
                  <a:srgbClr val="D4D4D4"/>
                </a:solidFill>
                <a:latin typeface="Menlo Regular"/>
                <a:ea typeface="Menlo Regular"/>
                <a:cs typeface="Menlo Regular"/>
                <a:sym typeface="Menlo Regular"/>
              </a:defRPr>
            </a:pPr>
            <a:r>
              <a:t>TemperatureTestMocking/ </a:t>
            </a:r>
          </a:p>
          <a:p>
            <a:pPr defTabSz="457200">
              <a:defRPr sz="3000">
                <a:solidFill>
                  <a:srgbClr val="D4D4D4"/>
                </a:solidFill>
                <a:latin typeface="Menlo Regular"/>
                <a:ea typeface="Menlo Regular"/>
                <a:cs typeface="Menlo Regular"/>
                <a:sym typeface="Menlo Regular"/>
              </a:defRPr>
            </a:pPr>
            <a:r>
              <a:t>    ├── CMakeLists.txt </a:t>
            </a:r>
          </a:p>
          <a:p>
            <a:pPr defTabSz="457200">
              <a:defRPr sz="3000">
                <a:solidFill>
                  <a:srgbClr val="D4D4D4"/>
                </a:solidFill>
                <a:latin typeface="Menlo Regular"/>
                <a:ea typeface="Menlo Regular"/>
                <a:cs typeface="Menlo Regular"/>
                <a:sym typeface="Menlo Regular"/>
              </a:defRPr>
            </a:pPr>
            <a:r>
              <a:t>    ├── i_temperature_sensor.hpp </a:t>
            </a:r>
          </a:p>
          <a:p>
            <a:pPr defTabSz="457200">
              <a:defRPr sz="3000">
                <a:solidFill>
                  <a:srgbClr val="D4D4D4"/>
                </a:solidFill>
                <a:latin typeface="Menlo Regular"/>
                <a:ea typeface="Menlo Regular"/>
                <a:cs typeface="Menlo Regular"/>
                <a:sym typeface="Menlo Regular"/>
              </a:defRPr>
            </a:pPr>
            <a:r>
              <a:t>    ├── i_heater.hpp </a:t>
            </a:r>
          </a:p>
          <a:p>
            <a:pPr defTabSz="457200">
              <a:defRPr sz="3000">
                <a:solidFill>
                  <a:srgbClr val="D4D4D4"/>
                </a:solidFill>
                <a:latin typeface="Menlo Regular"/>
                <a:ea typeface="Menlo Regular"/>
                <a:cs typeface="Menlo Regular"/>
                <a:sym typeface="Menlo Regular"/>
              </a:defRPr>
            </a:pPr>
            <a:r>
              <a:t>    ├── temperature_controller.hpp </a:t>
            </a:r>
          </a:p>
          <a:p>
            <a:pPr defTabSz="457200">
              <a:defRPr sz="3000">
                <a:solidFill>
                  <a:srgbClr val="D4D4D4"/>
                </a:solidFill>
                <a:latin typeface="Menlo Regular"/>
                <a:ea typeface="Menlo Regular"/>
                <a:cs typeface="Menlo Regular"/>
                <a:sym typeface="Menlo Regular"/>
              </a:defRPr>
            </a:pPr>
            <a:r>
              <a:t>    ├── temperature_controller.cpp </a:t>
            </a:r>
          </a:p>
          <a:p>
            <a:pPr defTabSz="457200">
              <a:defRPr sz="3000">
                <a:solidFill>
                  <a:srgbClr val="D4D4D4"/>
                </a:solidFill>
                <a:latin typeface="Menlo Regular"/>
                <a:ea typeface="Menlo Regular"/>
                <a:cs typeface="Menlo Regular"/>
                <a:sym typeface="Menlo Regular"/>
              </a:defRPr>
            </a:pPr>
            <a:r>
              <a:t>    ├── mock_temperature_sensor.hpp </a:t>
            </a:r>
          </a:p>
          <a:p>
            <a:pPr defTabSz="457200">
              <a:defRPr sz="3000">
                <a:solidFill>
                  <a:srgbClr val="D4D4D4"/>
                </a:solidFill>
                <a:latin typeface="Menlo Regular"/>
                <a:ea typeface="Menlo Regular"/>
                <a:cs typeface="Menlo Regular"/>
                <a:sym typeface="Menlo Regular"/>
              </a:defRPr>
            </a:pPr>
            <a:r>
              <a:t>    ├── mock_heater.hpp </a:t>
            </a:r>
          </a:p>
          <a:p>
            <a:pPr defTabSz="457200">
              <a:defRPr sz="3000">
                <a:solidFill>
                  <a:srgbClr val="D4D4D4"/>
                </a:solidFill>
                <a:latin typeface="Menlo Regular"/>
                <a:ea typeface="Menlo Regular"/>
                <a:cs typeface="Menlo Regular"/>
                <a:sym typeface="Menlo Regular"/>
              </a:defRPr>
            </a:pPr>
            <a:r>
              <a:t>    ├── test_temperature_controller.cpp </a:t>
            </a:r>
          </a:p>
          <a:p>
            <a:pPr defTabSz="457200">
              <a:defRPr sz="3000">
                <a:solidFill>
                  <a:srgbClr val="D4D4D4"/>
                </a:solidFill>
                <a:latin typeface="Menlo Regular"/>
                <a:ea typeface="Menlo Regular"/>
                <a:cs typeface="Menlo Regular"/>
                <a:sym typeface="Menlo Regular"/>
              </a:defRPr>
            </a:pPr>
            <a:r>
              <a:t>    └── main.cpp</a:t>
            </a:r>
          </a:p>
        </p:txBody>
      </p:sp>
      <p:sp>
        <p:nvSpPr>
          <p:cNvPr id="221" name="TemperatureTestMocking using CppUTest"/>
          <p:cNvSpPr txBox="1"/>
          <p:nvPr>
            <p:ph type="title"/>
          </p:nvPr>
        </p:nvSpPr>
        <p:spPr>
          <a:prstGeom prst="rect">
            <a:avLst/>
          </a:prstGeom>
        </p:spPr>
        <p:txBody>
          <a:bodyPr/>
          <a:lstStyle/>
          <a:p>
            <a:pPr/>
            <a:r>
              <a:t>TemperatureTestMocking using CppUTest</a:t>
            </a:r>
          </a:p>
        </p:txBody>
      </p:sp>
      <p:sp>
        <p:nvSpPr>
          <p:cNvPr id="222" name="Case 4"/>
          <p:cNvSpPr txBox="1"/>
          <p:nvPr/>
        </p:nvSpPr>
        <p:spPr>
          <a:xfrm>
            <a:off x="21353228" y="2138622"/>
            <a:ext cx="1442106" cy="6016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vl1pPr>
          </a:lstStyle>
          <a:p>
            <a:pPr/>
            <a:r>
              <a:t>Case 4</a:t>
            </a:r>
          </a:p>
        </p:txBody>
      </p:sp>
      <p:sp>
        <p:nvSpPr>
          <p:cNvPr id="223" name="- Mocking / Dependency injection (more on Patterns week after next week)"/>
          <p:cNvSpPr txBox="1"/>
          <p:nvPr>
            <p:ph type="body" idx="1"/>
          </p:nvPr>
        </p:nvSpPr>
        <p:spPr>
          <a:xfrm>
            <a:off x="1688592" y="3069576"/>
            <a:ext cx="21824355" cy="9296401"/>
          </a:xfrm>
          <a:prstGeom prst="rect">
            <a:avLst/>
          </a:prstGeom>
        </p:spPr>
        <p:txBody>
          <a:bodyPr/>
          <a:lstStyle>
            <a:lvl1pPr>
              <a:lnSpc>
                <a:spcPct val="120000"/>
              </a:lnSpc>
            </a:lvl1pPr>
          </a:lstStyle>
          <a:p>
            <a:pPr/>
            <a:r>
              <a:t>- Mocking / Dependency injection (more on Patterns week after next week)</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Unit tests (base, most tests)"/>
          <p:cNvSpPr txBox="1"/>
          <p:nvPr>
            <p:ph type="title"/>
          </p:nvPr>
        </p:nvSpPr>
        <p:spPr>
          <a:prstGeom prst="rect">
            <a:avLst/>
          </a:prstGeom>
        </p:spPr>
        <p:txBody>
          <a:bodyPr/>
          <a:lstStyle/>
          <a:p>
            <a:pPr/>
            <a:r>
              <a:t>Unit tests (base, most tests)</a:t>
            </a:r>
          </a:p>
        </p:txBody>
      </p:sp>
      <p:sp>
        <p:nvSpPr>
          <p:cNvPr id="228" name="- Fast: milliseconds per test…"/>
          <p:cNvSpPr txBox="1"/>
          <p:nvPr>
            <p:ph type="body" idx="1"/>
          </p:nvPr>
        </p:nvSpPr>
        <p:spPr>
          <a:xfrm>
            <a:off x="1688592" y="3069576"/>
            <a:ext cx="21824355" cy="9296401"/>
          </a:xfrm>
          <a:prstGeom prst="rect">
            <a:avLst/>
          </a:prstGeom>
        </p:spPr>
        <p:txBody>
          <a:bodyPr/>
          <a:lstStyle/>
          <a:p>
            <a:pPr>
              <a:lnSpc>
                <a:spcPct val="120000"/>
              </a:lnSpc>
            </a:pPr>
            <a:r>
              <a:t>- Fast: milliseconds per test</a:t>
            </a:r>
          </a:p>
          <a:p>
            <a:pPr>
              <a:lnSpc>
                <a:spcPct val="120000"/>
              </a:lnSpc>
            </a:pPr>
            <a:r>
              <a:t>- Cheap: no hardware needed</a:t>
            </a:r>
          </a:p>
          <a:p>
            <a:pPr>
              <a:lnSpc>
                <a:spcPct val="120000"/>
              </a:lnSpc>
            </a:pPr>
            <a:r>
              <a:t>- Precise: failures pinpoint the problem</a:t>
            </a:r>
          </a:p>
          <a:p>
            <a:pPr>
              <a:lnSpc>
                <a:spcPct val="120000"/>
              </a:lnSpc>
            </a:pPr>
            <a:r>
              <a:t>- Stable: no flaky hardware timing issues</a:t>
            </a:r>
          </a:p>
        </p:txBody>
      </p:sp>
      <p:pic>
        <p:nvPicPr>
          <p:cNvPr id="229" name="Afbeelding" descr="Afbeelding"/>
          <p:cNvPicPr>
            <a:picLocks noChangeAspect="1"/>
          </p:cNvPicPr>
          <p:nvPr/>
        </p:nvPicPr>
        <p:blipFill>
          <a:blip r:embed="rId2">
            <a:extLst/>
          </a:blip>
          <a:stretch>
            <a:fillRect/>
          </a:stretch>
        </p:blipFill>
        <p:spPr>
          <a:xfrm>
            <a:off x="14653781" y="4003503"/>
            <a:ext cx="6592177" cy="5708994"/>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Isolation versus Integration"/>
          <p:cNvSpPr txBox="1"/>
          <p:nvPr>
            <p:ph type="title"/>
          </p:nvPr>
        </p:nvSpPr>
        <p:spPr>
          <a:prstGeom prst="rect">
            <a:avLst/>
          </a:prstGeom>
        </p:spPr>
        <p:txBody>
          <a:bodyPr/>
          <a:lstStyle/>
          <a:p>
            <a:pPr/>
            <a:r>
              <a:t>Isolation versus Integration</a:t>
            </a:r>
          </a:p>
        </p:txBody>
      </p:sp>
      <p:pic>
        <p:nvPicPr>
          <p:cNvPr id="232" name="Afbeelding" descr="Afbeelding"/>
          <p:cNvPicPr>
            <a:picLocks noChangeAspect="1"/>
          </p:cNvPicPr>
          <p:nvPr/>
        </p:nvPicPr>
        <p:blipFill>
          <a:blip r:embed="rId3">
            <a:extLst/>
          </a:blip>
          <a:stretch>
            <a:fillRect/>
          </a:stretch>
        </p:blipFill>
        <p:spPr>
          <a:xfrm>
            <a:off x="3429000" y="4406900"/>
            <a:ext cx="17526000" cy="4902200"/>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Continuous Integration"/>
          <p:cNvSpPr txBox="1"/>
          <p:nvPr>
            <p:ph type="title"/>
          </p:nvPr>
        </p:nvSpPr>
        <p:spPr>
          <a:prstGeom prst="rect">
            <a:avLst/>
          </a:prstGeom>
        </p:spPr>
        <p:txBody>
          <a:bodyPr/>
          <a:lstStyle/>
          <a:p>
            <a:pPr/>
            <a:r>
              <a:t>Continuous Integration</a:t>
            </a:r>
          </a:p>
        </p:txBody>
      </p:sp>
      <p:pic>
        <p:nvPicPr>
          <p:cNvPr id="237" name="pri_style.svg" descr="pri_style.svg"/>
          <p:cNvPicPr>
            <a:picLocks noChangeAspect="1"/>
          </p:cNvPicPr>
          <p:nvPr/>
        </p:nvPicPr>
        <p:blipFill>
          <a:blip r:embed="rId3">
            <a:extLst/>
          </a:blip>
          <a:stretch>
            <a:fillRect/>
          </a:stretch>
        </p:blipFill>
        <p:spPr>
          <a:xfrm>
            <a:off x="2015345" y="3404571"/>
            <a:ext cx="11430001" cy="4445001"/>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Continuous Integration"/>
          <p:cNvSpPr txBox="1"/>
          <p:nvPr>
            <p:ph type="title"/>
          </p:nvPr>
        </p:nvSpPr>
        <p:spPr>
          <a:prstGeom prst="rect">
            <a:avLst/>
          </a:prstGeom>
        </p:spPr>
        <p:txBody>
          <a:bodyPr/>
          <a:lstStyle/>
          <a:p>
            <a:pPr/>
            <a:r>
              <a:t>Continuous Integration</a:t>
            </a:r>
          </a:p>
        </p:txBody>
      </p:sp>
      <p:pic>
        <p:nvPicPr>
          <p:cNvPr id="242" name="fb_style.svg" descr="fb_style.svg"/>
          <p:cNvPicPr>
            <a:picLocks noChangeAspect="1"/>
          </p:cNvPicPr>
          <p:nvPr/>
        </p:nvPicPr>
        <p:blipFill>
          <a:blip r:embed="rId3">
            <a:extLst/>
          </a:blip>
          <a:stretch>
            <a:fillRect/>
          </a:stretch>
        </p:blipFill>
        <p:spPr>
          <a:xfrm>
            <a:off x="2015345" y="3404571"/>
            <a:ext cx="11430001" cy="4445001"/>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Continuous Integration"/>
          <p:cNvSpPr txBox="1"/>
          <p:nvPr>
            <p:ph type="title"/>
          </p:nvPr>
        </p:nvSpPr>
        <p:spPr>
          <a:prstGeom prst="rect">
            <a:avLst/>
          </a:prstGeom>
        </p:spPr>
        <p:txBody>
          <a:bodyPr/>
          <a:lstStyle/>
          <a:p>
            <a:pPr/>
            <a:r>
              <a:t>Continuous Integration</a:t>
            </a:r>
          </a:p>
        </p:txBody>
      </p:sp>
      <p:pic>
        <p:nvPicPr>
          <p:cNvPr id="247" name="ci_style.svg" descr="ci_style.svg"/>
          <p:cNvPicPr>
            <a:picLocks noChangeAspect="1"/>
          </p:cNvPicPr>
          <p:nvPr/>
        </p:nvPicPr>
        <p:blipFill>
          <a:blip r:embed="rId3">
            <a:extLst/>
          </a:blip>
          <a:stretch>
            <a:fillRect/>
          </a:stretch>
        </p:blipFill>
        <p:spPr>
          <a:xfrm>
            <a:off x="2015345" y="4680432"/>
            <a:ext cx="11430001" cy="3175001"/>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st Driven Development / XP"/>
          <p:cNvSpPr txBox="1"/>
          <p:nvPr>
            <p:ph type="title"/>
          </p:nvPr>
        </p:nvSpPr>
        <p:spPr>
          <a:prstGeom prst="rect">
            <a:avLst/>
          </a:prstGeom>
        </p:spPr>
        <p:txBody>
          <a:bodyPr/>
          <a:lstStyle/>
          <a:p>
            <a:pPr/>
            <a:r>
              <a:t>Test Driven Development / XP</a:t>
            </a:r>
          </a:p>
        </p:txBody>
      </p:sp>
      <p:sp>
        <p:nvSpPr>
          <p:cNvPr id="252" name="Kent Beck: Test-Driven Development: By Example, 2002 (Together with Ward Cunningham)…"/>
          <p:cNvSpPr txBox="1"/>
          <p:nvPr>
            <p:ph type="body" idx="1"/>
          </p:nvPr>
        </p:nvSpPr>
        <p:spPr>
          <a:xfrm>
            <a:off x="1688592" y="3069576"/>
            <a:ext cx="21824355" cy="9296401"/>
          </a:xfrm>
          <a:prstGeom prst="rect">
            <a:avLst/>
          </a:prstGeom>
        </p:spPr>
        <p:txBody>
          <a:bodyPr/>
          <a:lstStyle/>
          <a:p>
            <a:pPr>
              <a:lnSpc>
                <a:spcPct val="120000"/>
              </a:lnSpc>
              <a:defRPr b="1"/>
            </a:pPr>
            <a:r>
              <a:t>Kent Beck: </a:t>
            </a:r>
            <a:r>
              <a:rPr b="0" i="1"/>
              <a:t>Test-Driven Development: By Example, 2002 </a:t>
            </a:r>
            <a:r>
              <a:rPr b="0"/>
              <a:t>(Together with Ward Cunningham)</a:t>
            </a:r>
            <a:endParaRPr b="0" i="1"/>
          </a:p>
          <a:p>
            <a:pPr>
              <a:lnSpc>
                <a:spcPct val="120000"/>
              </a:lnSpc>
              <a:defRPr b="1"/>
            </a:pPr>
            <a:endParaRPr b="0" i="1"/>
          </a:p>
          <a:p>
            <a:pPr>
              <a:lnSpc>
                <a:spcPct val="120000"/>
              </a:lnSpc>
              <a:defRPr b="1"/>
            </a:pPr>
            <a:r>
              <a:rPr i="1"/>
              <a:t>Extreme Programming</a:t>
            </a:r>
            <a:r>
              <a:rPr b="0" i="1"/>
              <a:t> </a:t>
            </a:r>
            <a:r>
              <a:rPr b="0"/>
              <a:t>emphasizes short feedback loops, incremental development, and code that's always working.</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Integrating Unit Testing: Test Driven Development (TDD)"/>
          <p:cNvSpPr txBox="1"/>
          <p:nvPr>
            <p:ph type="title"/>
          </p:nvPr>
        </p:nvSpPr>
        <p:spPr>
          <a:prstGeom prst="rect">
            <a:avLst/>
          </a:prstGeom>
        </p:spPr>
        <p:txBody>
          <a:bodyPr/>
          <a:lstStyle/>
          <a:p>
            <a:pPr/>
            <a:r>
              <a:t>Integrating Unit Testing: Test Driven Development (TDD)</a:t>
            </a:r>
          </a:p>
        </p:txBody>
      </p:sp>
      <p:sp>
        <p:nvSpPr>
          <p:cNvPr id="255" name="Wijzig tekst: klik 2x"/>
          <p:cNvSpPr txBox="1"/>
          <p:nvPr>
            <p:ph type="body" idx="1"/>
          </p:nvPr>
        </p:nvSpPr>
        <p:spPr>
          <a:xfrm>
            <a:off x="1688592" y="3069576"/>
            <a:ext cx="21824355" cy="9296401"/>
          </a:xfrm>
          <a:prstGeom prst="rect">
            <a:avLst/>
          </a:prstGeom>
        </p:spPr>
        <p:txBody>
          <a:bodyPr/>
          <a:lstStyle/>
          <a:p>
            <a:pPr>
              <a:lnSpc>
                <a:spcPct val="120000"/>
              </a:lnSpc>
              <a:defRPr b="1"/>
            </a:pPr>
          </a:p>
        </p:txBody>
      </p:sp>
      <p:pic>
        <p:nvPicPr>
          <p:cNvPr id="256" name="geplakte-film.png" descr="geplakte-film.png"/>
          <p:cNvPicPr>
            <a:picLocks noChangeAspect="1"/>
          </p:cNvPicPr>
          <p:nvPr/>
        </p:nvPicPr>
        <p:blipFill>
          <a:blip r:embed="rId2">
            <a:extLst/>
          </a:blip>
          <a:stretch>
            <a:fillRect/>
          </a:stretch>
        </p:blipFill>
        <p:spPr>
          <a:xfrm>
            <a:off x="1737947" y="3100732"/>
            <a:ext cx="8890001" cy="5080001"/>
          </a:xfrm>
          <a:prstGeom prst="rect">
            <a:avLst/>
          </a:prstGeom>
          <a:ln w="12700">
            <a:miter lim="400000"/>
          </a:ln>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Test Driven Development (TDD)"/>
          <p:cNvSpPr txBox="1"/>
          <p:nvPr>
            <p:ph type="title"/>
          </p:nvPr>
        </p:nvSpPr>
        <p:spPr>
          <a:prstGeom prst="rect">
            <a:avLst/>
          </a:prstGeom>
        </p:spPr>
        <p:txBody>
          <a:bodyPr/>
          <a:lstStyle/>
          <a:p>
            <a:pPr/>
            <a:r>
              <a:t>Test Driven Development (TDD)</a:t>
            </a:r>
          </a:p>
        </p:txBody>
      </p:sp>
      <p:sp>
        <p:nvSpPr>
          <p:cNvPr id="259" name="For embedded systems specifically:…"/>
          <p:cNvSpPr txBox="1"/>
          <p:nvPr>
            <p:ph type="body" idx="1"/>
          </p:nvPr>
        </p:nvSpPr>
        <p:spPr>
          <a:xfrm>
            <a:off x="1688592" y="3069576"/>
            <a:ext cx="21824355" cy="9296401"/>
          </a:xfrm>
          <a:prstGeom prst="rect">
            <a:avLst/>
          </a:prstGeom>
        </p:spPr>
        <p:txBody>
          <a:bodyPr/>
          <a:lstStyle/>
          <a:p>
            <a:pPr>
              <a:lnSpc>
                <a:spcPct val="120000"/>
              </a:lnSpc>
              <a:defRPr b="1"/>
            </a:pPr>
            <a:r>
              <a:t>For embedded systems specifically: </a:t>
            </a:r>
          </a:p>
          <a:p>
            <a:pPr>
              <a:lnSpc>
                <a:spcPct val="120000"/>
              </a:lnSpc>
            </a:pPr>
            <a:r>
              <a:t>TDD lets you develop and verify logic on your PC, fast, without waiting for hardware. </a:t>
            </a:r>
            <a:br/>
            <a:r>
              <a:t>The discipline of writing testable code forces you to separate your algorithms from your hardware abstractions — which is exactly the architecture you want anyway.</a:t>
            </a:r>
            <a:br/>
          </a:p>
          <a:p>
            <a:pPr>
              <a:lnSpc>
                <a:spcPct val="120000"/>
              </a:lnSpc>
              <a:defRPr b="1"/>
            </a:pPr>
            <a:r>
              <a:t>What TDD is not: </a:t>
            </a:r>
          </a:p>
          <a:p>
            <a:pPr>
              <a:lnSpc>
                <a:spcPct val="120000"/>
              </a:lnSpc>
              <a:defRPr b="1"/>
            </a:pPr>
            <a:r>
              <a:rPr b="0"/>
              <a:t>- a guarantee of correctness, </a:t>
            </a:r>
            <a:endParaRPr b="0"/>
          </a:p>
          <a:p>
            <a:pPr>
              <a:lnSpc>
                <a:spcPct val="120000"/>
              </a:lnSpc>
              <a:defRPr b="1"/>
            </a:pPr>
            <a:r>
              <a:rPr b="0"/>
              <a:t>- a replacement for integration testing, </a:t>
            </a:r>
            <a:endParaRPr b="0"/>
          </a:p>
          <a:p>
            <a:pPr>
              <a:lnSpc>
                <a:spcPct val="120000"/>
              </a:lnSpc>
              <a:defRPr b="1"/>
            </a:pPr>
            <a:r>
              <a:rPr b="0"/>
              <a:t>- or a rule that every line must be test-driven. </a:t>
            </a:r>
            <a:br>
              <a:rPr b="0"/>
            </a:br>
            <a:r>
              <a:rPr b="0"/>
              <a:t>It's a tool for design feedback. Use it where it helps.</a:t>
            </a:r>
            <a:endParaRPr b="0"/>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IDE influence on testing"/>
          <p:cNvSpPr txBox="1"/>
          <p:nvPr>
            <p:ph type="title"/>
          </p:nvPr>
        </p:nvSpPr>
        <p:spPr>
          <a:prstGeom prst="rect">
            <a:avLst/>
          </a:prstGeom>
        </p:spPr>
        <p:txBody>
          <a:bodyPr/>
          <a:lstStyle/>
          <a:p>
            <a:pPr/>
            <a:r>
              <a:t>IDE influence on testing</a:t>
            </a:r>
          </a:p>
        </p:txBody>
      </p:sp>
      <p:sp>
        <p:nvSpPr>
          <p:cNvPr id="262" name="CLion has native test coverage support…"/>
          <p:cNvSpPr txBox="1"/>
          <p:nvPr>
            <p:ph type="body" idx="1"/>
          </p:nvPr>
        </p:nvSpPr>
        <p:spPr>
          <a:xfrm>
            <a:off x="1688592" y="3069576"/>
            <a:ext cx="21824355" cy="9296401"/>
          </a:xfrm>
          <a:prstGeom prst="rect">
            <a:avLst/>
          </a:prstGeom>
        </p:spPr>
        <p:txBody>
          <a:bodyPr/>
          <a:lstStyle/>
          <a:p>
            <a:pPr>
              <a:lnSpc>
                <a:spcPct val="120000"/>
              </a:lnSpc>
              <a:defRPr i="1"/>
            </a:pPr>
            <a:r>
              <a:t>CLion has native test coverage support</a:t>
            </a: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b="1"/>
            </a:pPr>
          </a:p>
          <a:p>
            <a:pPr>
              <a:lnSpc>
                <a:spcPct val="120000"/>
              </a:lnSpc>
              <a:defRPr i="1"/>
            </a:pPr>
            <a:r>
              <a:t>VSC use a “Coverage Gutters” extension</a:t>
            </a:r>
          </a:p>
        </p:txBody>
      </p:sp>
      <p:pic>
        <p:nvPicPr>
          <p:cNvPr id="263" name="geplakte-film.png" descr="geplakte-film.png"/>
          <p:cNvPicPr>
            <a:picLocks noChangeAspect="1"/>
          </p:cNvPicPr>
          <p:nvPr/>
        </p:nvPicPr>
        <p:blipFill>
          <a:blip r:embed="rId2">
            <a:extLst/>
          </a:blip>
          <a:stretch>
            <a:fillRect/>
          </a:stretch>
        </p:blipFill>
        <p:spPr>
          <a:xfrm>
            <a:off x="1679435" y="3896510"/>
            <a:ext cx="15083378" cy="6458064"/>
          </a:xfrm>
          <a:prstGeom prst="rect">
            <a:avLst/>
          </a:prstGeom>
          <a:ln w="12700">
            <a:miter lim="400000"/>
          </a:ln>
        </p:spPr>
      </p:pic>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One more thing…"/>
          <p:cNvSpPr txBox="1"/>
          <p:nvPr>
            <p:ph type="title"/>
          </p:nvPr>
        </p:nvSpPr>
        <p:spPr>
          <a:prstGeom prst="rect">
            <a:avLst/>
          </a:prstGeom>
        </p:spPr>
        <p:txBody>
          <a:bodyPr/>
          <a:lstStyle/>
          <a:p>
            <a:pPr/>
            <a:r>
              <a:t>One more thing…</a:t>
            </a:r>
          </a:p>
        </p:txBody>
      </p:sp>
      <p:sp>
        <p:nvSpPr>
          <p:cNvPr id="266" name="Back to Dijkstra.…"/>
          <p:cNvSpPr txBox="1"/>
          <p:nvPr>
            <p:ph type="body" idx="1"/>
          </p:nvPr>
        </p:nvSpPr>
        <p:spPr>
          <a:xfrm>
            <a:off x="1688592" y="3069576"/>
            <a:ext cx="21824355" cy="9296401"/>
          </a:xfrm>
          <a:prstGeom prst="rect">
            <a:avLst/>
          </a:prstGeom>
        </p:spPr>
        <p:txBody>
          <a:bodyPr/>
          <a:lstStyle/>
          <a:p>
            <a:pPr>
              <a:lnSpc>
                <a:spcPct val="120000"/>
              </a:lnSpc>
            </a:pPr>
            <a:r>
              <a:t>Back to Dijkstra.</a:t>
            </a:r>
          </a:p>
          <a:p>
            <a:pPr>
              <a:lnSpc>
                <a:spcPct val="120000"/>
              </a:lnSpc>
            </a:pPr>
            <a:r>
              <a:t>- Testing can't prove correctness—only find bugs</a:t>
            </a:r>
          </a:p>
          <a:p>
            <a:pPr>
              <a:lnSpc>
                <a:spcPct val="120000"/>
              </a:lnSpc>
            </a:pPr>
          </a:p>
          <a:p>
            <a:pPr>
              <a:lnSpc>
                <a:spcPct val="120000"/>
              </a:lnSpc>
            </a:pPr>
            <a:r>
              <a:t>The Heisenberg problem: Observing can hide bugs—instrumentation changes behavior</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Heisenberg’s Uncertainty Principle (Quantum Mechanics)"/>
          <p:cNvSpPr txBox="1"/>
          <p:nvPr>
            <p:ph type="title"/>
          </p:nvPr>
        </p:nvSpPr>
        <p:spPr>
          <a:prstGeom prst="rect">
            <a:avLst/>
          </a:prstGeom>
        </p:spPr>
        <p:txBody>
          <a:bodyPr/>
          <a:lstStyle/>
          <a:p>
            <a:pPr/>
            <a:r>
              <a:t>Heisenberg’s Uncertainty Principle (Quantum Mechanics)</a:t>
            </a:r>
          </a:p>
        </p:txBody>
      </p:sp>
      <p:sp>
        <p:nvSpPr>
          <p:cNvPr id="269" name="You can't precisely measure both position and momentum of a particle simultaneously.…"/>
          <p:cNvSpPr txBox="1"/>
          <p:nvPr>
            <p:ph type="body" idx="1"/>
          </p:nvPr>
        </p:nvSpPr>
        <p:spPr>
          <a:xfrm>
            <a:off x="1688592" y="3069576"/>
            <a:ext cx="21824355" cy="9296401"/>
          </a:xfrm>
          <a:prstGeom prst="rect">
            <a:avLst/>
          </a:prstGeom>
        </p:spPr>
        <p:txBody>
          <a:bodyPr/>
          <a:lstStyle/>
          <a:p>
            <a:pPr>
              <a:lnSpc>
                <a:spcPct val="120000"/>
              </a:lnSpc>
            </a:pPr>
            <a:r>
              <a:t>You can't precisely measure both position and momentum of a particle simultaneously. </a:t>
            </a:r>
          </a:p>
          <a:p>
            <a:pPr>
              <a:lnSpc>
                <a:spcPct val="120000"/>
              </a:lnSpc>
            </a:pPr>
            <a:r>
              <a:t>Observing it disturbs it.</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Heisenberg problem in debugging"/>
          <p:cNvSpPr txBox="1"/>
          <p:nvPr>
            <p:ph type="title"/>
          </p:nvPr>
        </p:nvSpPr>
        <p:spPr>
          <a:prstGeom prst="rect">
            <a:avLst/>
          </a:prstGeom>
        </p:spPr>
        <p:txBody>
          <a:bodyPr/>
          <a:lstStyle/>
          <a:p>
            <a:pPr/>
            <a:r>
              <a:t>Heisenberg problem in debugging</a:t>
            </a:r>
          </a:p>
        </p:txBody>
      </p:sp>
      <p:sp>
        <p:nvSpPr>
          <p:cNvPr id="272" name="When you add instrumentation to observe your program, you change its behavior:…"/>
          <p:cNvSpPr txBox="1"/>
          <p:nvPr>
            <p:ph type="body" idx="1"/>
          </p:nvPr>
        </p:nvSpPr>
        <p:spPr>
          <a:xfrm>
            <a:off x="1688592" y="3069576"/>
            <a:ext cx="21824355" cy="9296401"/>
          </a:xfrm>
          <a:prstGeom prst="rect">
            <a:avLst/>
          </a:prstGeom>
        </p:spPr>
        <p:txBody>
          <a:bodyPr/>
          <a:lstStyle/>
          <a:p>
            <a:pPr>
              <a:lnSpc>
                <a:spcPct val="120000"/>
              </a:lnSpc>
            </a:pPr>
            <a:r>
              <a:t>When you add instrumentation to observe your program, you change its behavior:</a:t>
            </a:r>
          </a:p>
          <a:p>
            <a:pPr>
              <a:lnSpc>
                <a:spcPct val="120000"/>
              </a:lnSpc>
            </a:pPr>
          </a:p>
          <a:p>
            <a:pPr>
              <a:lnSpc>
                <a:spcPct val="120000"/>
              </a:lnSpc>
            </a:pPr>
            <a:r>
              <a:t>The Classic Symptoms</a:t>
            </a:r>
          </a:p>
          <a:p>
            <a:pPr>
              <a:lnSpc>
                <a:spcPct val="120000"/>
              </a:lnSpc>
            </a:pPr>
            <a:r>
              <a:t>- Bug disappears when you add printf to find it</a:t>
            </a:r>
          </a:p>
          <a:p>
            <a:pPr>
              <a:lnSpc>
                <a:spcPct val="120000"/>
              </a:lnSpc>
            </a:pPr>
            <a:r>
              <a:t>- Bug only happens in release build, not debug</a:t>
            </a:r>
          </a:p>
          <a:p>
            <a:pPr>
              <a:lnSpc>
                <a:spcPct val="120000"/>
              </a:lnSpc>
            </a:pPr>
            <a:r>
              <a:t>- Race condition vanishes when you set a breakpoint</a:t>
            </a:r>
          </a:p>
          <a:p>
            <a:pPr>
              <a:lnSpc>
                <a:spcPct val="120000"/>
              </a:lnSpc>
            </a:pPr>
            <a:r>
              <a:t>- Interrupt timing bug that only occurs without the debugger attached</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Heisenberg problem of debugging"/>
          <p:cNvSpPr txBox="1"/>
          <p:nvPr>
            <p:ph type="title"/>
          </p:nvPr>
        </p:nvSpPr>
        <p:spPr>
          <a:prstGeom prst="rect">
            <a:avLst/>
          </a:prstGeom>
        </p:spPr>
        <p:txBody>
          <a:bodyPr/>
          <a:lstStyle/>
          <a:p>
            <a:pPr/>
            <a:r>
              <a:t>Heisenberg problem of debugging</a:t>
            </a:r>
          </a:p>
        </p:txBody>
      </p:sp>
      <p:graphicFrame>
        <p:nvGraphicFramePr>
          <p:cNvPr id="275" name="Tabel 1"/>
          <p:cNvGraphicFramePr/>
          <p:nvPr/>
        </p:nvGraphicFramePr>
        <p:xfrm>
          <a:off x="1694406" y="3203329"/>
          <a:ext cx="16213585" cy="874022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8100442"/>
                <a:gridCol w="8100442"/>
              </a:tblGrid>
              <a:tr h="1110933">
                <a:tc>
                  <a:txBody>
                    <a:bodyPr/>
                    <a:lstStyle/>
                    <a:p>
                      <a:pPr algn="l">
                        <a:defRPr b="0" sz="1800">
                          <a:solidFill>
                            <a:srgbClr val="000000"/>
                          </a:solidFill>
                        </a:defRPr>
                      </a:pPr>
                      <a:r>
                        <a:rPr b="1" sz="2600">
                          <a:solidFill>
                            <a:srgbClr val="FFFFFF"/>
                          </a:solidFill>
                        </a:rPr>
                        <a:t>Instrumentation</a:t>
                      </a:r>
                    </a:p>
                  </a:txBody>
                  <a:tcPr marL="0" marR="0" marT="0" marB="0" anchor="ctr" anchorCtr="0" horzOverflow="overflow"/>
                </a:tc>
                <a:tc>
                  <a:txBody>
                    <a:bodyPr/>
                    <a:lstStyle/>
                    <a:p>
                      <a:pPr algn="l">
                        <a:defRPr b="0" sz="1800">
                          <a:solidFill>
                            <a:srgbClr val="000000"/>
                          </a:solidFill>
                        </a:defRPr>
                      </a:pPr>
                      <a:r>
                        <a:rPr b="1" sz="2600">
                          <a:solidFill>
                            <a:srgbClr val="FFFFFF"/>
                          </a:solidFill>
                        </a:rPr>
                        <a:t>How It Disturbs</a:t>
                      </a:r>
                    </a:p>
                  </a:txBody>
                  <a:tcPr marL="0" marR="0" marT="0" marB="0" anchor="ctr" anchorCtr="0" horzOverflow="overflow"/>
                </a:tc>
              </a:tr>
              <a:tr h="1110933">
                <a:tc>
                  <a:txBody>
                    <a:bodyPr/>
                    <a:lstStyle/>
                    <a:p>
                      <a:pPr algn="l">
                        <a:defRPr sz="1800"/>
                      </a:pPr>
                      <a:r>
                        <a:rPr sz="2600"/>
                        <a:t>printf</a:t>
                      </a:r>
                    </a:p>
                  </a:txBody>
                  <a:tcPr marL="0" marR="0" marT="0" marB="0" anchor="ctr" anchorCtr="0" horzOverflow="overflow"/>
                </a:tc>
                <a:tc>
                  <a:txBody>
                    <a:bodyPr/>
                    <a:lstStyle/>
                    <a:p>
                      <a:pPr algn="l">
                        <a:defRPr sz="1800"/>
                      </a:pPr>
                      <a:r>
                        <a:rPr sz="2600"/>
                        <a:t>Takes CPU cycles, blocks on UART, changes timing by milliseconds</a:t>
                      </a:r>
                    </a:p>
                  </a:txBody>
                  <a:tcPr marL="0" marR="0" marT="0" marB="0" anchor="ctr" anchorCtr="0" horzOverflow="overflow"/>
                </a:tc>
              </a:tr>
              <a:tr h="1058101">
                <a:tc>
                  <a:txBody>
                    <a:bodyPr/>
                    <a:lstStyle/>
                    <a:p>
                      <a:pPr algn="l">
                        <a:defRPr sz="1800"/>
                      </a:pPr>
                      <a:r>
                        <a:rPr sz="2600"/>
                        <a:t>Breakpoint (JTAG)</a:t>
                      </a:r>
                    </a:p>
                  </a:txBody>
                  <a:tcPr marL="0" marR="0" marT="0" marB="0" anchor="ctr" anchorCtr="0" horzOverflow="overflow"/>
                </a:tc>
                <a:tc>
                  <a:txBody>
                    <a:bodyPr/>
                    <a:lstStyle/>
                    <a:p>
                      <a:pPr algn="l">
                        <a:defRPr sz="1800"/>
                      </a:pPr>
                      <a:r>
                        <a:rPr sz="2600"/>
                        <a:t>Stops execution entirely—timing-sensitive code breaks</a:t>
                      </a:r>
                    </a:p>
                  </a:txBody>
                  <a:tcPr marL="0" marR="0" marT="0" marB="0" anchor="ctr" anchorCtr="0" horzOverflow="overflow"/>
                </a:tc>
              </a:tr>
              <a:tr h="2273256">
                <a:tc>
                  <a:txBody>
                    <a:bodyPr/>
                    <a:lstStyle/>
                    <a:p>
                      <a:pPr algn="l">
                        <a:defRPr sz="1800"/>
                      </a:pPr>
                      <a:r>
                        <a:rPr sz="2600"/>
                        <a:t>Extra variables for inspection</a:t>
                      </a:r>
                    </a:p>
                  </a:txBody>
                  <a:tcPr marL="0" marR="0" marT="0" marB="0" anchor="ctr" anchorCtr="0" horzOverflow="overflow"/>
                </a:tc>
                <a:tc>
                  <a:txBody>
                    <a:bodyPr/>
                    <a:lstStyle/>
                    <a:p>
                      <a:pPr algn="l">
                        <a:defRPr sz="1800"/>
                      </a:pPr>
                      <a:r>
                        <a:rPr sz="2600"/>
                        <a:t>Changes memory layout, stack usage, cache behavior</a:t>
                      </a:r>
                    </a:p>
                  </a:txBody>
                  <a:tcPr marL="0" marR="0" marT="0" marB="0" anchor="ctr" anchorCtr="0" horzOverflow="overflow"/>
                </a:tc>
              </a:tr>
              <a:tr h="1058101">
                <a:tc>
                  <a:txBody>
                    <a:bodyPr/>
                    <a:lstStyle/>
                    <a:p>
                      <a:pPr algn="l">
                        <a:defRPr sz="1800"/>
                      </a:pPr>
                      <a:r>
                        <a:rPr sz="2600"/>
                        <a:t>Debug build (-O0)</a:t>
                      </a:r>
                    </a:p>
                  </a:txBody>
                  <a:tcPr marL="0" marR="0" marT="0" marB="0" anchor="ctr" anchorCtr="0" horzOverflow="overflow"/>
                </a:tc>
                <a:tc>
                  <a:txBody>
                    <a:bodyPr/>
                    <a:lstStyle/>
                    <a:p>
                      <a:pPr algn="l">
                        <a:defRPr sz="1800"/>
                      </a:pPr>
                      <a:r>
                        <a:rPr sz="2600"/>
                        <a:t>Different code paths than release (-O2), different timing</a:t>
                      </a: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 JTAG, SWD, JLink / ST-Link…"/>
          <p:cNvSpPr txBox="1"/>
          <p:nvPr>
            <p:ph type="body" idx="1"/>
          </p:nvPr>
        </p:nvSpPr>
        <p:spPr>
          <a:xfrm>
            <a:off x="1688592" y="3069576"/>
            <a:ext cx="21824355" cy="9296401"/>
          </a:xfrm>
          <a:prstGeom prst="rect">
            <a:avLst/>
          </a:prstGeom>
        </p:spPr>
        <p:txBody>
          <a:bodyPr/>
          <a:lstStyle/>
          <a:p>
            <a:pPr>
              <a:lnSpc>
                <a:spcPct val="120000"/>
              </a:lnSpc>
            </a:pPr>
            <a:r>
              <a:t>- JTAG, SWD, JLink / ST-Link </a:t>
            </a:r>
          </a:p>
          <a:p>
            <a:pPr>
              <a:lnSpc>
                <a:spcPct val="120000"/>
              </a:lnSpc>
            </a:pPr>
            <a:r>
              <a:t>- Ozone Debugger</a:t>
            </a:r>
          </a:p>
          <a:p>
            <a:pPr>
              <a:lnSpc>
                <a:spcPct val="120000"/>
              </a:lnSpc>
            </a:pPr>
            <a:r>
              <a:t>- Segger SystemView</a:t>
            </a:r>
          </a:p>
          <a:p>
            <a:pPr>
              <a:lnSpc>
                <a:spcPct val="120000"/>
              </a:lnSpc>
            </a:pPr>
          </a:p>
          <a:p>
            <a:pPr>
              <a:lnSpc>
                <a:spcPct val="120000"/>
              </a:lnSpc>
            </a:pPr>
            <a:r>
              <a:t>Expensive tools like:</a:t>
            </a:r>
          </a:p>
          <a:p>
            <a:pPr>
              <a:lnSpc>
                <a:spcPct val="120000"/>
              </a:lnSpc>
            </a:pPr>
            <a:r>
              <a:t>- </a:t>
            </a:r>
            <a:r>
              <a:rPr>
                <a:hlinkClick r:id="rId2" invalidUrl="" action="" tgtFrame="" tooltip="" history="1" highlightClick="0" endSnd="0"/>
              </a:rPr>
              <a:t>Lauterbach TRACE32 Debug- and Trace Solutions</a:t>
            </a:r>
            <a:endParaRPr sz="1300"/>
          </a:p>
          <a:p>
            <a:pPr>
              <a:lnSpc>
                <a:spcPct val="120000"/>
              </a:lnSpc>
            </a:pPr>
          </a:p>
          <a:p>
            <a:pPr>
              <a:lnSpc>
                <a:spcPct val="120000"/>
              </a:lnSpc>
            </a:pPr>
          </a:p>
        </p:txBody>
      </p:sp>
      <p:sp>
        <p:nvSpPr>
          <p:cNvPr id="278" name="Hardware Unit Testing: Instrumented Debugging"/>
          <p:cNvSpPr txBox="1"/>
          <p:nvPr>
            <p:ph type="title"/>
          </p:nvPr>
        </p:nvSpPr>
        <p:spPr>
          <a:prstGeom prst="rect">
            <a:avLst/>
          </a:prstGeom>
        </p:spPr>
        <p:txBody>
          <a:bodyPr/>
          <a:lstStyle/>
          <a:p>
            <a:pPr/>
            <a:r>
              <a:t>Hardware Unit Testing: Instrumented Debugging</a:t>
            </a:r>
          </a:p>
        </p:txBody>
      </p:sp>
      <p:pic>
        <p:nvPicPr>
          <p:cNvPr id="279" name="Afbeelding" descr="Afbeelding"/>
          <p:cNvPicPr>
            <a:picLocks noChangeAspect="1"/>
          </p:cNvPicPr>
          <p:nvPr/>
        </p:nvPicPr>
        <p:blipFill>
          <a:blip r:embed="rId3">
            <a:extLst/>
          </a:blip>
          <a:stretch>
            <a:fillRect/>
          </a:stretch>
        </p:blipFill>
        <p:spPr>
          <a:xfrm>
            <a:off x="13752075" y="3222783"/>
            <a:ext cx="8395590" cy="7270434"/>
          </a:xfrm>
          <a:prstGeom prst="rect">
            <a:avLst/>
          </a:prstGeom>
          <a:ln w="12700">
            <a:miter lim="400000"/>
          </a:ln>
        </p:spPr>
      </p:pic>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Instrumentation Debugging"/>
          <p:cNvSpPr txBox="1"/>
          <p:nvPr>
            <p:ph type="title"/>
          </p:nvPr>
        </p:nvSpPr>
        <p:spPr>
          <a:prstGeom prst="rect">
            <a:avLst/>
          </a:prstGeom>
        </p:spPr>
        <p:txBody>
          <a:bodyPr/>
          <a:lstStyle/>
          <a:p>
            <a:pPr/>
            <a:r>
              <a:t>Instrumentation Debugging</a:t>
            </a:r>
          </a:p>
        </p:txBody>
      </p:sp>
      <p:graphicFrame>
        <p:nvGraphicFramePr>
          <p:cNvPr id="282" name="Tabel 1"/>
          <p:cNvGraphicFramePr/>
          <p:nvPr/>
        </p:nvGraphicFramePr>
        <p:xfrm>
          <a:off x="1694406" y="3203329"/>
          <a:ext cx="17136726" cy="7361065"/>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281006"/>
                <a:gridCol w="4281006"/>
                <a:gridCol w="4281006"/>
                <a:gridCol w="4281006"/>
              </a:tblGrid>
              <a:tr h="1110933">
                <a:tc>
                  <a:txBody>
                    <a:bodyPr/>
                    <a:lstStyle/>
                    <a:p>
                      <a:pPr algn="l">
                        <a:defRPr b="0" sz="1800">
                          <a:solidFill>
                            <a:srgbClr val="000000"/>
                          </a:solidFill>
                        </a:defRPr>
                      </a:pPr>
                      <a:r>
                        <a:rPr b="1" sz="2600">
                          <a:solidFill>
                            <a:srgbClr val="FFFFFF"/>
                          </a:solidFill>
                        </a:rPr>
                        <a:t>Tool</a:t>
                      </a:r>
                    </a:p>
                  </a:txBody>
                  <a:tcPr marL="0" marR="0" marT="0" marB="0" anchor="ctr" anchorCtr="0" horzOverflow="overflow"/>
                </a:tc>
                <a:tc>
                  <a:txBody>
                    <a:bodyPr/>
                    <a:lstStyle/>
                    <a:p>
                      <a:pPr algn="l">
                        <a:defRPr b="0" sz="1800">
                          <a:solidFill>
                            <a:srgbClr val="000000"/>
                          </a:solidFill>
                        </a:defRPr>
                      </a:pPr>
                      <a:r>
                        <a:rPr b="1" sz="2600">
                          <a:solidFill>
                            <a:srgbClr val="FFFFFF"/>
                          </a:solidFill>
                        </a:rPr>
                        <a:t>What It Shows</a:t>
                      </a:r>
                    </a:p>
                  </a:txBody>
                  <a:tcPr marL="0" marR="0" marT="0" marB="0" anchor="ctr" anchorCtr="0" horzOverflow="overflow"/>
                </a:tc>
                <a:tc>
                  <a:txBody>
                    <a:bodyPr/>
                    <a:lstStyle/>
                    <a:p>
                      <a:pPr algn="l">
                        <a:defRPr b="0" sz="1800">
                          <a:solidFill>
                            <a:srgbClr val="000000"/>
                          </a:solidFill>
                        </a:defRPr>
                      </a:pPr>
                      <a:r>
                        <a:rPr b="1" sz="2600">
                          <a:solidFill>
                            <a:srgbClr val="FFFFFF"/>
                          </a:solidFill>
                        </a:rPr>
                        <a:t>Strengths</a:t>
                      </a:r>
                    </a:p>
                  </a:txBody>
                  <a:tcPr marL="0" marR="0" marT="0" marB="0" anchor="ctr" anchorCtr="0" horzOverflow="overflow"/>
                </a:tc>
                <a:tc>
                  <a:txBody>
                    <a:bodyPr/>
                    <a:lstStyle/>
                    <a:p>
                      <a:pPr algn="l">
                        <a:defRPr b="0" sz="1800">
                          <a:solidFill>
                            <a:srgbClr val="000000"/>
                          </a:solidFill>
                        </a:defRPr>
                      </a:pPr>
                      <a:r>
                        <a:rPr b="1" sz="2600">
                          <a:solidFill>
                            <a:srgbClr val="FFFFFF"/>
                          </a:solidFill>
                        </a:rPr>
                        <a:t>Limitations</a:t>
                      </a:r>
                    </a:p>
                  </a:txBody>
                  <a:tcPr marL="0" marR="0" marT="0" marB="0" anchor="ctr" anchorCtr="0" horzOverflow="overflow"/>
                </a:tc>
              </a:tr>
              <a:tr h="1110933">
                <a:tc>
                  <a:txBody>
                    <a:bodyPr/>
                    <a:lstStyle/>
                    <a:p>
                      <a:pPr algn="l">
                        <a:defRPr sz="1800"/>
                      </a:pPr>
                      <a:r>
                        <a:rPr sz="2600"/>
                        <a:t>printf / RTT</a:t>
                      </a:r>
                    </a:p>
                  </a:txBody>
                  <a:tcPr marL="0" marR="0" marT="0" marB="0" anchor="ctr" anchorCtr="0" horzOverflow="overflow"/>
                </a:tc>
                <a:tc>
                  <a:txBody>
                    <a:bodyPr/>
                    <a:lstStyle/>
                    <a:p>
                      <a:pPr algn="l">
                        <a:defRPr sz="1800"/>
                      </a:pPr>
                      <a:r>
                        <a:rPr sz="2600"/>
                        <a:t>Program flow, variable values </a:t>
                      </a:r>
                    </a:p>
                  </a:txBody>
                  <a:tcPr marL="0" marR="0" marT="0" marB="0" anchor="ctr" anchorCtr="0" horzOverflow="overflow"/>
                </a:tc>
                <a:tc>
                  <a:txBody>
                    <a:bodyPr/>
                    <a:lstStyle/>
                    <a:p>
                      <a:pPr algn="l">
                        <a:defRPr sz="1800"/>
                      </a:pPr>
                      <a:r>
                        <a:rPr sz="2600"/>
                        <a:t>Easy, familiar</a:t>
                      </a:r>
                    </a:p>
                  </a:txBody>
                  <a:tcPr marL="0" marR="0" marT="0" marB="0" anchor="ctr" anchorCtr="0" horzOverflow="overflow"/>
                </a:tc>
                <a:tc>
                  <a:txBody>
                    <a:bodyPr/>
                    <a:lstStyle/>
                    <a:p>
                      <a:pPr algn="l">
                        <a:defRPr sz="1800"/>
                      </a:pPr>
                      <a:r>
                        <a:rPr sz="2600"/>
                        <a:t>Slow, intrusive, manual interpretation</a:t>
                      </a:r>
                    </a:p>
                  </a:txBody>
                  <a:tcPr marL="0" marR="0" marT="0" marB="0" anchor="ctr" anchorCtr="0" horzOverflow="overflow"/>
                </a:tc>
              </a:tr>
              <a:tr h="1058101">
                <a:tc>
                  <a:txBody>
                    <a:bodyPr/>
                    <a:lstStyle/>
                    <a:p>
                      <a:pPr algn="l">
                        <a:defRPr sz="1800"/>
                      </a:pPr>
                      <a:r>
                        <a:rPr sz="2600"/>
                        <a:t>JTAG / SWD</a:t>
                      </a:r>
                    </a:p>
                  </a:txBody>
                  <a:tcPr marL="0" marR="0" marT="0" marB="0" anchor="ctr" anchorCtr="0" horzOverflow="overflow"/>
                </a:tc>
                <a:tc>
                  <a:txBody>
                    <a:bodyPr/>
                    <a:lstStyle/>
                    <a:p>
                      <a:pPr algn="l">
                        <a:defRPr sz="1800"/>
                      </a:pPr>
                      <a:r>
                        <a:rPr sz="2600"/>
                        <a:t>Breakpoints, memory, registers, call stack</a:t>
                      </a:r>
                    </a:p>
                  </a:txBody>
                  <a:tcPr marL="0" marR="0" marT="0" marB="0" anchor="ctr" anchorCtr="0" horzOverflow="overflow"/>
                </a:tc>
                <a:tc>
                  <a:txBody>
                    <a:bodyPr/>
                    <a:lstStyle/>
                    <a:p>
                      <a:pPr algn="l">
                        <a:defRPr sz="1800"/>
                      </a:pPr>
                      <a:r>
                        <a:rPr sz="2600"/>
                        <a:t>Non-intrusive stop, realtime inspection</a:t>
                      </a:r>
                    </a:p>
                  </a:txBody>
                  <a:tcPr marL="0" marR="0" marT="0" marB="0" anchor="ctr" anchorCtr="0" horzOverflow="overflow"/>
                </a:tc>
                <a:tc>
                  <a:txBody>
                    <a:bodyPr/>
                    <a:lstStyle/>
                    <a:p>
                      <a:pPr algn="l">
                        <a:defRPr sz="1800"/>
                      </a:pPr>
                      <a:r>
                        <a:rPr sz="2600"/>
                        <a:t>Stops execution, changes timing</a:t>
                      </a:r>
                    </a:p>
                  </a:txBody>
                  <a:tcPr marL="0" marR="0" marT="0" marB="0" anchor="ctr" anchorCtr="0" horzOverflow="overflow"/>
                </a:tc>
              </a:tr>
              <a:tr h="2273256">
                <a:tc>
                  <a:txBody>
                    <a:bodyPr/>
                    <a:lstStyle/>
                    <a:p>
                      <a:pPr algn="l">
                        <a:defRPr sz="1800"/>
                      </a:pPr>
                      <a:r>
                        <a:rPr sz="2600"/>
                        <a:t>Logic Analyzer</a:t>
                      </a:r>
                    </a:p>
                  </a:txBody>
                  <a:tcPr marL="0" marR="0" marT="0" marB="0" anchor="ctr" anchorCtr="0" horzOverflow="overflow"/>
                </a:tc>
                <a:tc>
                  <a:txBody>
                    <a:bodyPr/>
                    <a:lstStyle/>
                    <a:p>
                      <a:pPr algn="l">
                        <a:defRPr sz="1800"/>
                      </a:pPr>
                      <a:r>
                        <a:rPr sz="2600"/>
                        <a:t>Digital signal timing, protocols (SPI, I2C, UART)</a:t>
                      </a:r>
                    </a:p>
                  </a:txBody>
                  <a:tcPr marL="0" marR="0" marT="0" marB="0" anchor="ctr" anchorCtr="0" horzOverflow="overflow"/>
                </a:tc>
                <a:tc>
                  <a:txBody>
                    <a:bodyPr/>
                    <a:lstStyle/>
                    <a:p>
                      <a:pPr algn="l">
                        <a:defRPr sz="1800"/>
                      </a:pPr>
                      <a:r>
                        <a:rPr sz="2600"/>
                        <a:t>Exact timing, protocol decode</a:t>
                      </a:r>
                    </a:p>
                  </a:txBody>
                  <a:tcPr marL="0" marR="0" marT="0" marB="0" anchor="ctr" anchorCtr="0" horzOverflow="overflow"/>
                </a:tc>
                <a:tc>
                  <a:txBody>
                    <a:bodyPr/>
                    <a:lstStyle/>
                    <a:p>
                      <a:pPr algn="l">
                        <a:defRPr sz="1800"/>
                      </a:pPr>
                      <a:r>
                        <a:rPr sz="2600"/>
                        <a:t>External view only, no internal state</a:t>
                      </a:r>
                    </a:p>
                  </a:txBody>
                  <a:tcPr marL="0" marR="0" marT="0" marB="0" anchor="ctr" anchorCtr="0" horzOverflow="overflow"/>
                </a:tc>
              </a:tr>
              <a:tr h="1058101">
                <a:tc>
                  <a:txBody>
                    <a:bodyPr/>
                    <a:lstStyle/>
                    <a:p>
                      <a:pPr algn="l">
                        <a:defRPr sz="1800"/>
                      </a:pPr>
                      <a:r>
                        <a:rPr sz="2600"/>
                        <a:t>Oscilloscope</a:t>
                      </a:r>
                    </a:p>
                  </a:txBody>
                  <a:tcPr marL="0" marR="0" marT="0" marB="0" anchor="ctr" anchorCtr="0" horzOverflow="overflow"/>
                </a:tc>
                <a:tc>
                  <a:txBody>
                    <a:bodyPr/>
                    <a:lstStyle/>
                    <a:p>
                      <a:pPr algn="l">
                        <a:defRPr sz="1800"/>
                      </a:pPr>
                      <a:r>
                        <a:rPr sz="2600"/>
                        <a:t>Analog signals, rise times, noise, glitches</a:t>
                      </a:r>
                    </a:p>
                  </a:txBody>
                  <a:tcPr marL="0" marR="0" marT="0" marB="0" anchor="ctr" anchorCtr="0" horzOverflow="overflow"/>
                </a:tc>
                <a:tc>
                  <a:txBody>
                    <a:bodyPr/>
                    <a:lstStyle/>
                    <a:p>
                      <a:pPr algn="l">
                        <a:defRPr sz="1800"/>
                      </a:pPr>
                      <a:r>
                        <a:rPr sz="2600"/>
                        <a:t>Ground truth for electrical behavior</a:t>
                      </a:r>
                    </a:p>
                  </a:txBody>
                  <a:tcPr marL="0" marR="0" marT="0" marB="0" anchor="ctr" anchorCtr="0" horzOverflow="overflow"/>
                </a:tc>
                <a:tc>
                  <a:txBody>
                    <a:bodyPr/>
                    <a:lstStyle/>
                    <a:p>
                      <a:pPr algn="l">
                        <a:defRPr sz="1800"/>
                      </a:pPr>
                      <a:r>
                        <a:rPr sz="2600"/>
                        <a:t>No software insight</a:t>
                      </a:r>
                    </a:p>
                  </a:txBody>
                  <a:tcPr marL="0" marR="0" marT="0" marB="0" anchor="ctr" anchorCtr="0" horzOverflow="overflow"/>
                </a:tc>
              </a:tr>
              <a:tr h="1058101">
                <a:tc>
                  <a:txBody>
                    <a:bodyPr/>
                    <a:lstStyle/>
                    <a:p>
                      <a:pPr algn="l">
                        <a:defRPr sz="1800"/>
                      </a:pPr>
                      <a:r>
                        <a:rPr sz="2600"/>
                        <a:t>Segger SystemView / Tracealyzer</a:t>
                      </a:r>
                    </a:p>
                  </a:txBody>
                  <a:tcPr marL="0" marR="0" marT="0" marB="0" anchor="ctr" anchorCtr="0" horzOverflow="overflow"/>
                </a:tc>
                <a:tc>
                  <a:txBody>
                    <a:bodyPr/>
                    <a:lstStyle/>
                    <a:p>
                      <a:pPr algn="l">
                        <a:defRPr sz="1800"/>
                      </a:pPr>
                      <a:r>
                        <a:rPr sz="2600"/>
                        <a:t>RTOS task timing, events</a:t>
                      </a:r>
                    </a:p>
                  </a:txBody>
                  <a:tcPr marL="0" marR="0" marT="0" marB="0" anchor="ctr" anchorCtr="0" horzOverflow="overflow"/>
                </a:tc>
                <a:tc>
                  <a:txBody>
                    <a:bodyPr/>
                    <a:lstStyle/>
                    <a:p>
                      <a:pPr algn="l">
                        <a:defRPr sz="1800"/>
                      </a:pPr>
                      <a:r>
                        <a:rPr sz="2600"/>
                        <a:t>System-level behavior over time</a:t>
                      </a:r>
                    </a:p>
                  </a:txBody>
                  <a:tcPr marL="0" marR="0" marT="0" marB="0" anchor="ctr" anchorCtr="0" horzOverflow="overflow"/>
                </a:tc>
                <a:tc>
                  <a:txBody>
                    <a:bodyPr/>
                    <a:lstStyle/>
                    <a:p>
                      <a:pPr algn="l">
                        <a:defRPr sz="1800"/>
                      </a:pPr>
                      <a:r>
                        <a:rPr sz="2600"/>
                        <a:t>Requires instrumentation</a:t>
                      </a:r>
                    </a:p>
                  </a:txBody>
                  <a:tcPr marL="0" marR="0" marT="0" marB="0" anchor="ctr" anchorCtr="0" horzOverflow="overflow"/>
                </a:tc>
              </a:tr>
              <a:tr h="1058101">
                <a:tc>
                  <a:txBody>
                    <a:bodyPr/>
                    <a:lstStyle/>
                    <a:p>
                      <a:pPr algn="l">
                        <a:defRPr sz="2600"/>
                      </a:pPr>
                    </a:p>
                  </a:txBody>
                  <a:tcPr marL="0" marR="0" marT="0" marB="0" anchor="ctr" anchorCtr="0" horzOverflow="overflow"/>
                </a:tc>
                <a:tc>
                  <a:txBody>
                    <a:bodyPr/>
                    <a:lstStyle/>
                    <a:p>
                      <a:pPr algn="l">
                        <a:defRPr sz="2600"/>
                      </a:pPr>
                    </a:p>
                  </a:txBody>
                  <a:tcPr marL="0" marR="0" marT="0" marB="0" anchor="ctr" anchorCtr="0" horzOverflow="overflow"/>
                </a:tc>
                <a:tc>
                  <a:txBody>
                    <a:bodyPr/>
                    <a:lstStyle/>
                    <a:p>
                      <a:pPr algn="l">
                        <a:defRPr sz="2600"/>
                      </a:pPr>
                    </a:p>
                  </a:txBody>
                  <a:tcPr marL="0" marR="0" marT="0" marB="0" anchor="ctr" anchorCtr="0" horzOverflow="overflow"/>
                </a:tc>
                <a:tc>
                  <a:txBody>
                    <a:bodyPr/>
                    <a:lstStyle/>
                    <a:p>
                      <a:pPr algn="l">
                        <a:defRPr sz="2600"/>
                      </a:pP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Trace Debugging"/>
          <p:cNvSpPr txBox="1"/>
          <p:nvPr>
            <p:ph type="title"/>
          </p:nvPr>
        </p:nvSpPr>
        <p:spPr>
          <a:prstGeom prst="rect">
            <a:avLst/>
          </a:prstGeom>
        </p:spPr>
        <p:txBody>
          <a:bodyPr/>
          <a:lstStyle/>
          <a:p>
            <a:pPr/>
            <a:r>
              <a:t>Trace Debugging</a:t>
            </a:r>
          </a:p>
        </p:txBody>
      </p:sp>
      <p:graphicFrame>
        <p:nvGraphicFramePr>
          <p:cNvPr id="285" name="Tabel 1"/>
          <p:cNvGraphicFramePr/>
          <p:nvPr/>
        </p:nvGraphicFramePr>
        <p:xfrm>
          <a:off x="1694406" y="3203329"/>
          <a:ext cx="17136726" cy="7361065"/>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281006"/>
                <a:gridCol w="4281006"/>
                <a:gridCol w="4281006"/>
              </a:tblGrid>
              <a:tr h="1110933">
                <a:tc>
                  <a:txBody>
                    <a:bodyPr/>
                    <a:lstStyle/>
                    <a:p>
                      <a:pPr algn="l">
                        <a:defRPr b="0" sz="1800">
                          <a:solidFill>
                            <a:srgbClr val="000000"/>
                          </a:solidFill>
                        </a:defRPr>
                      </a:pPr>
                      <a:r>
                        <a:rPr b="1" sz="2600">
                          <a:solidFill>
                            <a:srgbClr val="FFFFFF"/>
                          </a:solidFill>
                        </a:rPr>
                        <a:t>Trace Type</a:t>
                      </a:r>
                    </a:p>
                  </a:txBody>
                  <a:tcPr marL="0" marR="0" marT="0" marB="0" anchor="ctr" anchorCtr="0" horzOverflow="overflow"/>
                </a:tc>
                <a:tc>
                  <a:txBody>
                    <a:bodyPr/>
                    <a:lstStyle/>
                    <a:p>
                      <a:pPr algn="l">
                        <a:defRPr b="0" sz="1800">
                          <a:solidFill>
                            <a:srgbClr val="000000"/>
                          </a:solidFill>
                        </a:defRPr>
                      </a:pPr>
                      <a:r>
                        <a:rPr b="1" sz="2600">
                          <a:solidFill>
                            <a:srgbClr val="FFFFFF"/>
                          </a:solidFill>
                        </a:rPr>
                        <a:t>ARM Core</a:t>
                      </a:r>
                    </a:p>
                  </a:txBody>
                  <a:tcPr marL="0" marR="0" marT="0" marB="0" anchor="ctr" anchorCtr="0" horzOverflow="overflow"/>
                </a:tc>
                <a:tc>
                  <a:txBody>
                    <a:bodyPr/>
                    <a:lstStyle/>
                    <a:p>
                      <a:pPr algn="l">
                        <a:defRPr b="0" sz="1800">
                          <a:solidFill>
                            <a:srgbClr val="000000"/>
                          </a:solidFill>
                        </a:defRPr>
                      </a:pPr>
                      <a:r>
                        <a:rPr b="1" sz="2600">
                          <a:solidFill>
                            <a:srgbClr val="FFFFFF"/>
                          </a:solidFill>
                        </a:rPr>
                        <a:t>What It Captures</a:t>
                      </a:r>
                    </a:p>
                  </a:txBody>
                  <a:tcPr marL="0" marR="0" marT="0" marB="0" anchor="ctr" anchorCtr="0" horzOverflow="overflow"/>
                </a:tc>
              </a:tr>
              <a:tr h="1110933">
                <a:tc>
                  <a:txBody>
                    <a:bodyPr/>
                    <a:lstStyle/>
                    <a:p>
                      <a:pPr algn="l">
                        <a:defRPr sz="2600"/>
                      </a:pPr>
                      <a:r>
                        <a:rPr b="1"/>
                        <a:t>ETM</a:t>
                      </a:r>
                      <a:r>
                        <a:t> (Embedded Trace Macrocell)</a:t>
                      </a:r>
                    </a:p>
                  </a:txBody>
                  <a:tcPr marL="0" marR="0" marT="0" marB="0" anchor="ctr" anchorCtr="0" horzOverflow="overflow"/>
                </a:tc>
                <a:tc>
                  <a:txBody>
                    <a:bodyPr/>
                    <a:lstStyle/>
                    <a:p>
                      <a:pPr algn="l">
                        <a:defRPr sz="1800"/>
                      </a:pPr>
                      <a:r>
                        <a:rPr sz="2600"/>
                        <a:t>Cortex-M3/M4/M7, Cortex-A</a:t>
                      </a:r>
                    </a:p>
                  </a:txBody>
                  <a:tcPr marL="0" marR="0" marT="0" marB="0" anchor="ctr" anchorCtr="0" horzOverflow="overflow"/>
                </a:tc>
                <a:tc>
                  <a:txBody>
                    <a:bodyPr/>
                    <a:lstStyle/>
                    <a:p>
                      <a:pPr algn="l">
                        <a:defRPr sz="1800"/>
                      </a:pPr>
                      <a:r>
                        <a:rPr sz="2600"/>
                        <a:t>Full instruction trace, branch history</a:t>
                      </a:r>
                    </a:p>
                  </a:txBody>
                  <a:tcPr marL="0" marR="0" marT="0" marB="0" anchor="ctr" anchorCtr="0" horzOverflow="overflow"/>
                </a:tc>
              </a:tr>
              <a:tr h="1058101">
                <a:tc>
                  <a:txBody>
                    <a:bodyPr/>
                    <a:lstStyle/>
                    <a:p>
                      <a:pPr algn="l">
                        <a:defRPr sz="2600"/>
                      </a:pPr>
                      <a:r>
                        <a:rPr b="1"/>
                        <a:t>ITM</a:t>
                      </a:r>
                      <a:r>
                        <a:t> (Instrumentation Trace Macrocell)</a:t>
                      </a:r>
                    </a:p>
                  </a:txBody>
                  <a:tcPr marL="0" marR="0" marT="0" marB="0" anchor="ctr" anchorCtr="0" horzOverflow="overflow"/>
                </a:tc>
                <a:tc>
                  <a:txBody>
                    <a:bodyPr/>
                    <a:lstStyle/>
                    <a:p>
                      <a:pPr algn="l">
                        <a:defRPr sz="1800"/>
                      </a:pPr>
                      <a:r>
                        <a:rPr sz="2600"/>
                        <a:t>Cortex-M3/M4/M7</a:t>
                      </a:r>
                    </a:p>
                  </a:txBody>
                  <a:tcPr marL="0" marR="0" marT="0" marB="0" anchor="ctr" anchorCtr="0" horzOverflow="overflow"/>
                </a:tc>
                <a:tc>
                  <a:txBody>
                    <a:bodyPr/>
                    <a:lstStyle/>
                    <a:p>
                      <a:pPr algn="l">
                        <a:defRPr sz="1800"/>
                      </a:pPr>
                      <a:r>
                        <a:rPr sz="2600"/>
                        <a:t>Software-generated trace (like fast printf)</a:t>
                      </a:r>
                    </a:p>
                  </a:txBody>
                  <a:tcPr marL="0" marR="0" marT="0" marB="0" anchor="ctr" anchorCtr="0" horzOverflow="overflow"/>
                </a:tc>
              </a:tr>
              <a:tr h="2273256">
                <a:tc>
                  <a:txBody>
                    <a:bodyPr/>
                    <a:lstStyle/>
                    <a:p>
                      <a:pPr algn="l">
                        <a:defRPr sz="2600"/>
                      </a:pPr>
                      <a:r>
                        <a:rPr b="1"/>
                        <a:t>MTB</a:t>
                      </a:r>
                      <a:r>
                        <a:t> (Micro Trace Buffer)</a:t>
                      </a:r>
                    </a:p>
                  </a:txBody>
                  <a:tcPr marL="0" marR="0" marT="0" marB="0" anchor="ctr" anchorCtr="0" horzOverflow="overflow"/>
                </a:tc>
                <a:tc>
                  <a:txBody>
                    <a:bodyPr/>
                    <a:lstStyle/>
                    <a:p>
                      <a:pPr algn="l">
                        <a:defRPr sz="1800"/>
                      </a:pPr>
                      <a:r>
                        <a:rPr sz="2600"/>
                        <a:t>Cortex-M0+</a:t>
                      </a:r>
                    </a:p>
                  </a:txBody>
                  <a:tcPr marL="0" marR="0" marT="0" marB="0" anchor="ctr" anchorCtr="0" horzOverflow="overflow"/>
                </a:tc>
                <a:tc>
                  <a:txBody>
                    <a:bodyPr/>
                    <a:lstStyle/>
                    <a:p>
                      <a:pPr algn="l">
                        <a:defRPr sz="1800"/>
                      </a:pPr>
                      <a:r>
                        <a:rPr sz="2600"/>
                        <a:t>Lightweight trace to on-chip RAM</a:t>
                      </a:r>
                    </a:p>
                  </a:txBody>
                  <a:tcPr marL="0" marR="0" marT="0" marB="0" anchor="ctr" anchorCtr="0" horzOverflow="overflow"/>
                </a:tc>
              </a:tr>
              <a:tr h="1058101">
                <a:tc>
                  <a:txBody>
                    <a:bodyPr/>
                    <a:lstStyle/>
                    <a:p>
                      <a:pPr algn="l">
                        <a:defRPr sz="2600"/>
                      </a:pPr>
                      <a:r>
                        <a:rPr b="1"/>
                        <a:t>ETB</a:t>
                      </a:r>
                      <a:r>
                        <a:t> (Embedded Trace Buffer)</a:t>
                      </a:r>
                    </a:p>
                  </a:txBody>
                  <a:tcPr marL="0" marR="0" marT="0" marB="0" anchor="ctr" anchorCtr="0" horzOverflow="overflow"/>
                </a:tc>
                <a:tc>
                  <a:txBody>
                    <a:bodyPr/>
                    <a:lstStyle/>
                    <a:p>
                      <a:pPr algn="l">
                        <a:defRPr sz="1800"/>
                      </a:pPr>
                      <a:r>
                        <a:rPr sz="2600"/>
                        <a:t>Various</a:t>
                      </a:r>
                    </a:p>
                  </a:txBody>
                  <a:tcPr marL="0" marR="0" marT="0" marB="0" anchor="ctr" anchorCtr="0" horzOverflow="overflow"/>
                </a:tc>
                <a:tc>
                  <a:txBody>
                    <a:bodyPr/>
                    <a:lstStyle/>
                    <a:p>
                      <a:pPr algn="l">
                        <a:defRPr sz="1800"/>
                      </a:pPr>
                      <a:r>
                        <a:rPr sz="2600"/>
                        <a:t>On-chip circular buffer for trace</a:t>
                      </a:r>
                    </a:p>
                  </a:txBody>
                  <a:tcPr marL="0" marR="0" marT="0" marB="0" anchor="ctr" anchorCtr="0" horzOverflow="overflow"/>
                </a:tc>
              </a:tr>
              <a:tr h="1058101">
                <a:tc>
                  <a:txBody>
                    <a:bodyPr/>
                    <a:lstStyle/>
                    <a:p>
                      <a:pPr algn="l">
                        <a:defRPr sz="1800"/>
                      </a:pPr>
                      <a:r>
                        <a:rPr sz="2600"/>
                        <a:t>Segger SystemView / Tracealyzer</a:t>
                      </a:r>
                    </a:p>
                  </a:txBody>
                  <a:tcPr marL="0" marR="0" marT="0" marB="0" anchor="ctr" anchorCtr="0" horzOverflow="overflow"/>
                </a:tc>
                <a:tc>
                  <a:txBody>
                    <a:bodyPr/>
                    <a:lstStyle/>
                    <a:p>
                      <a:pPr algn="l">
                        <a:defRPr sz="1800"/>
                      </a:pPr>
                      <a:r>
                        <a:rPr sz="2600"/>
                        <a:t>RTOS task timing, events</a:t>
                      </a:r>
                    </a:p>
                  </a:txBody>
                  <a:tcPr marL="0" marR="0" marT="0" marB="0" anchor="ctr" anchorCtr="0" horzOverflow="overflow"/>
                </a:tc>
                <a:tc>
                  <a:txBody>
                    <a:bodyPr/>
                    <a:lstStyle/>
                    <a:p>
                      <a:pPr algn="l">
                        <a:defRPr sz="1800"/>
                      </a:pPr>
                      <a:r>
                        <a:rPr sz="2600"/>
                        <a:t>System-level behavior over time</a:t>
                      </a:r>
                    </a:p>
                  </a:txBody>
                  <a:tcPr marL="0" marR="0" marT="0" marB="0" anchor="ctr" anchorCtr="0" horzOverflow="overflow"/>
                </a:tc>
              </a:tr>
              <a:tr h="1058101">
                <a:tc>
                  <a:txBody>
                    <a:bodyPr/>
                    <a:lstStyle/>
                    <a:p>
                      <a:pPr algn="l">
                        <a:defRPr sz="2600"/>
                      </a:pPr>
                    </a:p>
                  </a:txBody>
                  <a:tcPr marL="0" marR="0" marT="0" marB="0" anchor="ctr" anchorCtr="0" horzOverflow="overflow"/>
                </a:tc>
                <a:tc>
                  <a:txBody>
                    <a:bodyPr/>
                    <a:lstStyle/>
                    <a:p>
                      <a:pPr algn="l">
                        <a:defRPr sz="2600"/>
                      </a:pPr>
                    </a:p>
                  </a:txBody>
                  <a:tcPr marL="0" marR="0" marT="0" marB="0" anchor="ctr" anchorCtr="0" horzOverflow="overflow"/>
                </a:tc>
                <a:tc>
                  <a:txBody>
                    <a:bodyPr/>
                    <a:lstStyle/>
                    <a:p>
                      <a:pPr algn="l">
                        <a:defRPr sz="2600"/>
                      </a:pP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Final Message: Dijkstra + Heisenberg problem"/>
          <p:cNvSpPr txBox="1"/>
          <p:nvPr>
            <p:ph type="title"/>
          </p:nvPr>
        </p:nvSpPr>
        <p:spPr>
          <a:prstGeom prst="rect">
            <a:avLst/>
          </a:prstGeom>
        </p:spPr>
        <p:txBody>
          <a:bodyPr/>
          <a:lstStyle/>
          <a:p>
            <a:pPr/>
            <a:r>
              <a:t>Final Message: Dijkstra + Heisenberg problem</a:t>
            </a:r>
          </a:p>
        </p:txBody>
      </p:sp>
      <p:sp>
        <p:nvSpPr>
          <p:cNvPr id="288" name="Testing is doubly limited: it can't prove absence of bugs, and the act of testing might hide bugs that exist…"/>
          <p:cNvSpPr txBox="1"/>
          <p:nvPr>
            <p:ph type="body" idx="1"/>
          </p:nvPr>
        </p:nvSpPr>
        <p:spPr>
          <a:xfrm>
            <a:off x="1688592" y="3069576"/>
            <a:ext cx="21824355" cy="9296401"/>
          </a:xfrm>
          <a:prstGeom prst="rect">
            <a:avLst/>
          </a:prstGeom>
        </p:spPr>
        <p:txBody>
          <a:bodyPr/>
          <a:lstStyle/>
          <a:p>
            <a:pPr>
              <a:lnSpc>
                <a:spcPct val="120000"/>
              </a:lnSpc>
            </a:pPr>
            <a:r>
              <a:t>Testing is doubly limited: it can't prove absence of bugs, and the act of testing might hide bugs that exist</a:t>
            </a:r>
          </a:p>
          <a:p>
            <a:pPr>
              <a:lnSpc>
                <a:spcPct val="120000"/>
              </a:lnSpc>
            </a:pPr>
          </a:p>
          <a:p>
            <a:pPr>
              <a:lnSpc>
                <a:spcPct val="120000"/>
              </a:lnSpc>
            </a:pPr>
            <a:r>
              <a:t>State space is enormous — timing, interrupts, hardware states, race conditions</a:t>
            </a:r>
          </a:p>
          <a:p>
            <a:pPr>
              <a:lnSpc>
                <a:spcPct val="120000"/>
              </a:lnSpc>
            </a:pPr>
            <a:r>
              <a:t>Observation is intrusive — printf/breakpoints change the system</a:t>
            </a:r>
          </a:p>
          <a:p>
            <a:pPr>
              <a:lnSpc>
                <a:spcPct val="120000"/>
              </a:lnSpc>
            </a:pPr>
            <a:r>
              <a:t>Real environment is unpredictable — EMI, voltage sag, temperature</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Final Message: Dijkstra + Heisenberg problem"/>
          <p:cNvSpPr txBox="1"/>
          <p:nvPr>
            <p:ph type="title"/>
          </p:nvPr>
        </p:nvSpPr>
        <p:spPr>
          <a:prstGeom prst="rect">
            <a:avLst/>
          </a:prstGeom>
        </p:spPr>
        <p:txBody>
          <a:bodyPr/>
          <a:lstStyle/>
          <a:p>
            <a:pPr/>
            <a:r>
              <a:t>Final Message: Dijkstra + Heisenberg problem</a:t>
            </a:r>
          </a:p>
        </p:txBody>
      </p:sp>
      <p:sp>
        <p:nvSpPr>
          <p:cNvPr id="291" name="Dijkstra said testing can only show the presence of bugs, never their absence. He's right. But showing the presence of bugs is exactly what we want—find them before the customer does.…"/>
          <p:cNvSpPr txBox="1"/>
          <p:nvPr>
            <p:ph type="body" idx="1"/>
          </p:nvPr>
        </p:nvSpPr>
        <p:spPr>
          <a:xfrm>
            <a:off x="1688592" y="3069576"/>
            <a:ext cx="21824355" cy="9296401"/>
          </a:xfrm>
          <a:prstGeom prst="rect">
            <a:avLst/>
          </a:prstGeom>
        </p:spPr>
        <p:txBody>
          <a:bodyPr/>
          <a:lstStyle/>
          <a:p>
            <a:pPr>
              <a:lnSpc>
                <a:spcPct val="120000"/>
              </a:lnSpc>
              <a:defRPr i="1"/>
            </a:pPr>
            <a:r>
              <a:t>Dijkstra said testing can only show the presence of bugs, never their absence. He's right. But showing the presence of bugs is exactly what we want—find them before the customer does. </a:t>
            </a:r>
          </a:p>
          <a:p>
            <a:pPr>
              <a:lnSpc>
                <a:spcPct val="120000"/>
              </a:lnSpc>
              <a:defRPr i="1"/>
            </a:pPr>
            <a:r>
              <a:t>Unit tests won't prove your code is correct. They'll catch the mistakes you make at 4pm on a Friday. That's valuable!</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Titel 1"/>
          <p:cNvSpPr txBox="1"/>
          <p:nvPr>
            <p:ph type="title"/>
          </p:nvPr>
        </p:nvSpPr>
        <p:spPr>
          <a:prstGeom prst="rect">
            <a:avLst/>
          </a:prstGeom>
        </p:spPr>
        <p:txBody>
          <a:bodyPr/>
          <a:lstStyle/>
          <a:p>
            <a:pPr/>
            <a:r>
              <a:t>That’s all…</a:t>
            </a:r>
          </a:p>
          <a:p>
            <a:pPr/>
          </a:p>
          <a:p>
            <a:pPr/>
            <a:r>
              <a:t>Any questions?</a:t>
            </a:r>
          </a:p>
        </p:txBody>
      </p:sp>
      <p:sp>
        <p:nvSpPr>
          <p:cNvPr id="294" name="Tijdelijke aanduiding voor tekst 2"/>
          <p:cNvSpPr txBox="1"/>
          <p:nvPr>
            <p:ph type="body" sz="quarter" idx="1"/>
          </p:nvPr>
        </p:nvSpPr>
        <p:spPr>
          <a:xfrm>
            <a:off x="7416848" y="10488638"/>
            <a:ext cx="9550301" cy="1910626"/>
          </a:xfrm>
          <a:prstGeom prst="rect">
            <a:avLst/>
          </a:prstGeom>
        </p:spPr>
        <p:txBody>
          <a:bodyPr/>
          <a:lstStyle/>
          <a:p>
            <a:pPr>
              <a:lnSpc>
                <a:spcPct val="120000"/>
              </a:lnSpc>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