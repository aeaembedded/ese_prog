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media/image1.jpeg" ContentType="image/jpeg"/>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88" name="Shape 88"/>
          <p:cNvSpPr/>
          <p:nvPr>
            <p:ph type="sldImg"/>
          </p:nvPr>
        </p:nvSpPr>
        <p:spPr>
          <a:xfrm>
            <a:off x="1143000" y="685800"/>
            <a:ext cx="4572000" cy="3429000"/>
          </a:xfrm>
          <a:prstGeom prst="rect">
            <a:avLst/>
          </a:prstGeom>
        </p:spPr>
        <p:txBody>
          <a:bodyPr/>
          <a:lstStyle/>
          <a:p>
            <a:pPr/>
          </a:p>
        </p:txBody>
      </p:sp>
      <p:sp>
        <p:nvSpPr>
          <p:cNvPr id="89" name="Shape 8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 Id="rId3" Type="http://schemas.openxmlformats.org/officeDocument/2006/relationships/hyperlink" Target="https://santim0ren0.medium.com/clean-code-comments-f9eac4ada16d" TargetMode="External"/><Relationship Id="rId4" Type="http://schemas.openxmlformats.org/officeDocument/2006/relationships/hyperlink" Target="https://www.youtube.com/watch?v=VIbKbTmciJs" TargetMode="External"/></Relationships>

</file>

<file path=ppt/notesSlides/_rels/notesSlide13.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 Id="rId3" Type="http://schemas.openxmlformats.org/officeDocument/2006/relationships/hyperlink" Target="https://santim0ren0.medium.com/clean-code-comments-f9eac4ada16d" TargetMode="External"/></Relationships>

</file>

<file path=ppt/notesSlides/_rels/notesSlide14.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19.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 Id="rId3" Type="http://schemas.openxmlformats.org/officeDocument/2006/relationships/hyperlink" Target="https://santim0ren0.medium.com/clean-code-comments-f9eac4ada16d" TargetMode="External"/></Relationships>

</file>

<file path=ppt/notesSlides/_rels/notesSlide20.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21.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_rels/notesSlide22.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Relationships>

</file>

<file path=ppt/notesSlides/_rels/notesSlide23.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Relationships>

</file>

<file path=ppt/notesSlides/_rels/notesSlide24.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Relationships>

</file>

<file path=ppt/notesSlides/_rels/notesSlide25.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Relationships>

</file>

<file path=ppt/notesSlides/_rels/notesSlide2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Relationships>

</file>

<file path=ppt/notesSlides/_rels/notesSlide27.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Relationships>

</file>

<file path=ppt/notesSlides/_rels/notesSlide28.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Relationships>

</file>

<file path=ppt/notesSlides/_rels/notesSlide29.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Relationships>

</file>

<file path=ppt/notesSlides/_rels/notesSlide30.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Relationships>

</file>

<file path=ppt/notesSlides/_rels/notesSlide31.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Relationships>

</file>

<file path=ppt/notesSlides/_rels/notesSlide32.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Relationships>

</file>

<file path=ppt/notesSlides/_rels/notesSlide33.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Relationships>

</file>

<file path=ppt/notesSlides/_rels/notesSlide34.xml.rels><?xml version="1.0" encoding="UTF-8"?>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Relationships>

</file>

<file path=ppt/notesSlides/_rels/notesSlide35.xml.rels><?xml version="1.0" encoding="UTF-8"?>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Relationships>

</file>

<file path=ppt/notesSlides/_rels/notesSlide36.xml.rels><?xml version="1.0" encoding="UTF-8"?>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7" name="Shape 107"/>
          <p:cNvSpPr/>
          <p:nvPr>
            <p:ph type="sldImg"/>
          </p:nvPr>
        </p:nvSpPr>
        <p:spPr>
          <a:prstGeom prst="rect">
            <a:avLst/>
          </a:prstGeom>
        </p:spPr>
        <p:txBody>
          <a:bodyPr/>
          <a:lstStyle/>
          <a:p>
            <a:pPr/>
          </a:p>
        </p:txBody>
      </p:sp>
      <p:sp>
        <p:nvSpPr>
          <p:cNvPr id="108" name="Shape 108"/>
          <p:cNvSpPr/>
          <p:nvPr>
            <p:ph type="body" sz="quarter" idx="1"/>
          </p:nvPr>
        </p:nvSpPr>
        <p:spPr>
          <a:prstGeom prst="rect">
            <a:avLst/>
          </a:prstGeom>
        </p:spPr>
        <p:txBody>
          <a:bodyPr/>
          <a:lstStyle/>
          <a:p>
            <a:pPr/>
            <a:r>
              <a:t>Robert C. Martin (Uncle Bob) in his book Clean Code: A Handbook of Agile Software Craftsmanship (2008)</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3" name="Shape 113"/>
          <p:cNvSpPr/>
          <p:nvPr>
            <p:ph type="sldImg"/>
          </p:nvPr>
        </p:nvSpPr>
        <p:spPr>
          <a:prstGeom prst="rect">
            <a:avLst/>
          </a:prstGeom>
        </p:spPr>
        <p:txBody>
          <a:bodyPr/>
          <a:lstStyle/>
          <a:p>
            <a:pPr/>
          </a:p>
        </p:txBody>
      </p:sp>
      <p:sp>
        <p:nvSpPr>
          <p:cNvPr id="114" name="Shape 114"/>
          <p:cNvSpPr/>
          <p:nvPr>
            <p:ph type="body" sz="quarter" idx="1"/>
          </p:nvPr>
        </p:nvSpPr>
        <p:spPr>
          <a:prstGeom prst="rect">
            <a:avLst/>
          </a:prstGeom>
        </p:spPr>
        <p:txBody>
          <a:bodyPr/>
          <a:lstStyle/>
          <a:p>
            <a:pPr/>
            <a:r>
              <a:t>Robert C. Martin (Uncle Bob) in his book Clean Code: A Handbook of Agile Software Craftsmanship (2008)</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9" name="Shape 119"/>
          <p:cNvSpPr/>
          <p:nvPr>
            <p:ph type="sldImg"/>
          </p:nvPr>
        </p:nvSpPr>
        <p:spPr>
          <a:prstGeom prst="rect">
            <a:avLst/>
          </a:prstGeom>
        </p:spPr>
        <p:txBody>
          <a:bodyPr/>
          <a:lstStyle/>
          <a:p>
            <a:pPr/>
          </a:p>
        </p:txBody>
      </p:sp>
      <p:sp>
        <p:nvSpPr>
          <p:cNvPr id="120" name="Shape 120"/>
          <p:cNvSpPr/>
          <p:nvPr>
            <p:ph type="body" sz="quarter" idx="1"/>
          </p:nvPr>
        </p:nvSpPr>
        <p:spPr>
          <a:prstGeom prst="rect">
            <a:avLst/>
          </a:prstGeom>
        </p:spPr>
        <p:txBody>
          <a:bodyPr/>
          <a:lstStyle/>
          <a:p>
            <a:pPr/>
            <a:r>
              <a:t>But it doesn't say DHT anywhere. It says sensor. </a:t>
            </a:r>
          </a:p>
          <a:p>
            <a:pPr/>
            <a:r>
              <a:t>So you didn't actually read the code – you recognised it. You're relying on memory, not comprehension."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5" name="Shape 125"/>
          <p:cNvSpPr/>
          <p:nvPr>
            <p:ph type="sldImg"/>
          </p:nvPr>
        </p:nvSpPr>
        <p:spPr>
          <a:prstGeom prst="rect">
            <a:avLst/>
          </a:prstGeom>
        </p:spPr>
        <p:txBody>
          <a:bodyPr/>
          <a:lstStyle/>
          <a:p>
            <a:pPr/>
          </a:p>
        </p:txBody>
      </p:sp>
      <p:sp>
        <p:nvSpPr>
          <p:cNvPr id="126" name="Shape 126"/>
          <p:cNvSpPr/>
          <p:nvPr>
            <p:ph type="body" sz="quarter" idx="1"/>
          </p:nvPr>
        </p:nvSpPr>
        <p:spPr>
          <a:prstGeom prst="rect">
            <a:avLst/>
          </a:prstGeom>
        </p:spPr>
        <p:txBody>
          <a:bodyPr/>
          <a:lstStyle/>
          <a:p>
            <a:pPr/>
            <a:r>
              <a:t>But it doesn't say DHT anywhere. It says sensor. </a:t>
            </a:r>
          </a:p>
          <a:p>
            <a:pPr/>
            <a:r>
              <a:t>So you didn't actually read the code – you recognised it. You're relying on memory, not comprehension."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1" name="Shape 131"/>
          <p:cNvSpPr/>
          <p:nvPr>
            <p:ph type="sldImg"/>
          </p:nvPr>
        </p:nvSpPr>
        <p:spPr>
          <a:prstGeom prst="rect">
            <a:avLst/>
          </a:prstGeom>
        </p:spPr>
        <p:txBody>
          <a:bodyPr/>
          <a:lstStyle/>
          <a:p>
            <a:pPr/>
          </a:p>
        </p:txBody>
      </p:sp>
      <p:sp>
        <p:nvSpPr>
          <p:cNvPr id="132" name="Shape 132"/>
          <p:cNvSpPr/>
          <p:nvPr>
            <p:ph type="body" sz="quarter" idx="1"/>
          </p:nvPr>
        </p:nvSpPr>
        <p:spPr>
          <a:prstGeom prst="rect">
            <a:avLst/>
          </a:prstGeom>
        </p:spPr>
        <p:txBody>
          <a:bodyPr/>
          <a:lstStyle/>
          <a:p>
            <a:pPr/>
            <a:r>
              <a:t>Robert C. Martin (Uncle Bob) in his book Clean Code: A Handbook of Agile Software Craftsmanship (2008)</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9" name="Shape 139"/>
          <p:cNvSpPr/>
          <p:nvPr>
            <p:ph type="sldImg"/>
          </p:nvPr>
        </p:nvSpPr>
        <p:spPr>
          <a:prstGeom prst="rect">
            <a:avLst/>
          </a:prstGeom>
        </p:spPr>
        <p:txBody>
          <a:bodyPr/>
          <a:lstStyle/>
          <a:p>
            <a:pPr/>
          </a:p>
        </p:txBody>
      </p:sp>
      <p:sp>
        <p:nvSpPr>
          <p:cNvPr id="140" name="Shape 140"/>
          <p:cNvSpPr/>
          <p:nvPr>
            <p:ph type="body" sz="quarter" idx="1"/>
          </p:nvPr>
        </p:nvSpPr>
        <p:spPr>
          <a:prstGeom prst="rect">
            <a:avLst/>
          </a:prstGeom>
        </p:spPr>
        <p:txBody>
          <a:bodyPr/>
          <a:lstStyle/>
          <a:p>
            <a:pPr/>
            <a:r>
              <a:t>This is first-year level code. It's not complex algorithms, not concurrent systems, not pointer arithmetic. It's:</a:t>
            </a:r>
          </a:p>
          <a:p>
            <a:pPr/>
          </a:p>
          <a:p>
            <a:pPr/>
            <a:r>
              <a:t>Read a value</a:t>
            </a:r>
          </a:p>
          <a:p>
            <a:pPr/>
            <a:r>
              <a:t>Store it in a variable</a:t>
            </a:r>
          </a:p>
          <a:p>
            <a:pPr/>
            <a:r>
              <a:t>Check if it's valid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4" name="Shape 144"/>
          <p:cNvSpPr/>
          <p:nvPr>
            <p:ph type="sldImg"/>
          </p:nvPr>
        </p:nvSpPr>
        <p:spPr>
          <a:prstGeom prst="rect">
            <a:avLst/>
          </a:prstGeom>
        </p:spPr>
        <p:txBody>
          <a:bodyPr/>
          <a:lstStyle/>
          <a:p>
            <a:pPr/>
          </a:p>
        </p:txBody>
      </p:sp>
      <p:sp>
        <p:nvSpPr>
          <p:cNvPr id="145" name="Shape 145"/>
          <p:cNvSpPr/>
          <p:nvPr>
            <p:ph type="body" sz="quarter" idx="1"/>
          </p:nvPr>
        </p:nvSpPr>
        <p:spPr>
          <a:prstGeom prst="rect">
            <a:avLst/>
          </a:prstGeom>
        </p:spPr>
        <p:txBody>
          <a:bodyPr/>
          <a:lstStyle/>
          <a:p>
            <a:pPr/>
            <a:r>
              <a:t>B.t.w. does this code reveal something about some design choices made in the actual library?!</a:t>
            </a:r>
          </a:p>
          <a:p>
            <a:pPr/>
          </a:p>
          <a:p>
            <a:pPr/>
            <a:r>
              <a:t>(Robert Martin calls a "boolean trap" – a true or false argument that forces you to look up what it means.)</a:t>
            </a:r>
          </a:p>
          <a:p>
            <a:pPr/>
          </a:p>
          <a:p>
            <a:pPr/>
            <a:r>
              <a:t>What would be better method names?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3" name="Shape 163"/>
          <p:cNvSpPr/>
          <p:nvPr>
            <p:ph type="sldImg"/>
          </p:nvPr>
        </p:nvSpPr>
        <p:spPr>
          <a:prstGeom prst="rect">
            <a:avLst/>
          </a:prstGeom>
        </p:spPr>
        <p:txBody>
          <a:bodyPr/>
          <a:lstStyle/>
          <a:p>
            <a:pPr/>
          </a:p>
        </p:txBody>
      </p:sp>
      <p:sp>
        <p:nvSpPr>
          <p:cNvPr id="164" name="Shape 164"/>
          <p:cNvSpPr/>
          <p:nvPr>
            <p:ph type="body" sz="quarter" idx="1"/>
          </p:nvPr>
        </p:nvSpPr>
        <p:spPr>
          <a:prstGeom prst="rect">
            <a:avLst/>
          </a:prstGeom>
        </p:spPr>
        <p:txBody>
          <a:bodyPr/>
          <a:lstStyle/>
          <a:p>
            <a:pPr/>
            <a:r>
              <a:t>Apart from the embedded avoid delay discussion…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8" name="Shape 168"/>
          <p:cNvSpPr/>
          <p:nvPr>
            <p:ph type="sldImg"/>
          </p:nvPr>
        </p:nvSpPr>
        <p:spPr>
          <a:prstGeom prst="rect">
            <a:avLst/>
          </a:prstGeom>
        </p:spPr>
        <p:txBody>
          <a:bodyPr/>
          <a:lstStyle/>
          <a:p>
            <a:pPr/>
          </a:p>
        </p:txBody>
      </p:sp>
      <p:sp>
        <p:nvSpPr>
          <p:cNvPr id="169" name="Shape 169"/>
          <p:cNvSpPr/>
          <p:nvPr>
            <p:ph type="body" sz="quarter" idx="1"/>
          </p:nvPr>
        </p:nvSpPr>
        <p:spPr>
          <a:prstGeom prst="rect">
            <a:avLst/>
          </a:prstGeom>
        </p:spPr>
        <p:txBody>
          <a:bodyPr/>
          <a:lstStyle/>
          <a:p>
            <a:pPr/>
            <a:r>
              <a:t>“Extreme Programming Modified: Embrace Requirements Engineering Practices”,</a:t>
            </a:r>
          </a:p>
          <a:p>
            <a:pPr/>
            <a:r>
              <a:t>in Proceedings IEEE Joint International Conference on Requirements</a:t>
            </a:r>
          </a:p>
          <a:p>
            <a:pPr/>
            <a:r>
              <a:t>Engineering, Essen, Germany: IEEE Comput. Soc, 2002, pp. 303–310,</a:t>
            </a:r>
          </a:p>
          <a:p>
            <a:pPr/>
            <a:r>
              <a:t>isbn: 978-0-7695-1465-9.</a:t>
            </a:r>
          </a:p>
          <a:p>
            <a:pPr/>
            <a:r>
              <a:t>doi: 10.1109/ICRE.2002.1048543.</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3" name="Shape 173"/>
          <p:cNvSpPr/>
          <p:nvPr>
            <p:ph type="sldImg"/>
          </p:nvPr>
        </p:nvSpPr>
        <p:spPr>
          <a:prstGeom prst="rect">
            <a:avLst/>
          </a:prstGeom>
        </p:spPr>
        <p:txBody>
          <a:bodyPr/>
          <a:lstStyle/>
          <a:p>
            <a:pPr/>
          </a:p>
        </p:txBody>
      </p:sp>
      <p:sp>
        <p:nvSpPr>
          <p:cNvPr id="174" name="Shape 174"/>
          <p:cNvSpPr/>
          <p:nvPr>
            <p:ph type="body" sz="quarter" idx="1"/>
          </p:nvPr>
        </p:nvSpPr>
        <p:spPr>
          <a:prstGeom prst="rect">
            <a:avLst/>
          </a:prstGeom>
        </p:spPr>
        <p:txBody>
          <a:bodyPr/>
          <a:lstStyle/>
          <a:p>
            <a:pPr/>
            <a:r>
              <a:t>https://theotheunissen.nl/wp-content/uploads/2023/09/14234_Completed.pdf</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8" name="Shape 178"/>
          <p:cNvSpPr/>
          <p:nvPr>
            <p:ph type="sldImg"/>
          </p:nvPr>
        </p:nvSpPr>
        <p:spPr>
          <a:prstGeom prst="rect">
            <a:avLst/>
          </a:prstGeom>
        </p:spPr>
        <p:txBody>
          <a:bodyPr/>
          <a:lstStyle/>
          <a:p>
            <a:pPr/>
          </a:p>
        </p:txBody>
      </p:sp>
      <p:sp>
        <p:nvSpPr>
          <p:cNvPr id="179" name="Shape 179"/>
          <p:cNvSpPr/>
          <p:nvPr>
            <p:ph type="body" sz="quarter" idx="1"/>
          </p:nvPr>
        </p:nvSpPr>
        <p:spPr>
          <a:prstGeom prst="rect">
            <a:avLst/>
          </a:prstGeom>
        </p:spPr>
        <p:txBody>
          <a:bodyPr/>
          <a:lstStyle/>
          <a:p>
            <a:pPr/>
            <a:r>
              <a:t>https://theotheunissen.nl/wp-content/uploads/2023/09/14234_Completed.pdf</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5" name="Shape 195"/>
          <p:cNvSpPr/>
          <p:nvPr>
            <p:ph type="sldImg"/>
          </p:nvPr>
        </p:nvSpPr>
        <p:spPr>
          <a:prstGeom prst="rect">
            <a:avLst/>
          </a:prstGeom>
        </p:spPr>
        <p:txBody>
          <a:bodyPr/>
          <a:lstStyle/>
          <a:p>
            <a:pPr/>
          </a:p>
        </p:txBody>
      </p:sp>
      <p:sp>
        <p:nvSpPr>
          <p:cNvPr id="196" name="Shape 196"/>
          <p:cNvSpPr/>
          <p:nvPr>
            <p:ph type="body" sz="quarter" idx="1"/>
          </p:nvPr>
        </p:nvSpPr>
        <p:spPr>
          <a:prstGeom prst="rect">
            <a:avLst/>
          </a:prstGeom>
        </p:spPr>
        <p:txBody>
          <a:bodyPr/>
          <a:lstStyle/>
          <a:p>
            <a:pPr/>
            <a:r>
              <a:rPr u="sng">
                <a:solidFill>
                  <a:srgbClr val="0563C1"/>
                </a:solidFill>
                <a:uFill>
                  <a:solidFill>
                    <a:srgbClr val="0563C1"/>
                  </a:solidFill>
                </a:uFill>
                <a:hlinkClick r:id="rId3" invalidUrl="" action="" tgtFrame="" tooltip="" history="1" highlightClick="0" endSnd="0"/>
              </a:rPr>
              <a:t>https://santim0ren0.medium.com/clean-code-comments-f9eac4ada16d</a:t>
            </a:r>
          </a:p>
          <a:p>
            <a:pPr/>
            <a:r>
              <a:rPr u="sng">
                <a:solidFill>
                  <a:srgbClr val="0563C1"/>
                </a:solidFill>
                <a:uFill>
                  <a:solidFill>
                    <a:srgbClr val="0563C1"/>
                  </a:solidFill>
                </a:uFill>
                <a:hlinkClick r:id="rId4" invalidUrl="" action="" tgtFrame="" tooltip="" history="1" highlightClick="0" endSnd="0"/>
              </a:rPr>
              <a:t>https://www.youtube.com/watch?v=VIbKbTmciJs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1" name="Shape 201"/>
          <p:cNvSpPr/>
          <p:nvPr>
            <p:ph type="sldImg"/>
          </p:nvPr>
        </p:nvSpPr>
        <p:spPr>
          <a:prstGeom prst="rect">
            <a:avLst/>
          </a:prstGeom>
        </p:spPr>
        <p:txBody>
          <a:bodyPr/>
          <a:lstStyle/>
          <a:p>
            <a:pPr/>
          </a:p>
        </p:txBody>
      </p:sp>
      <p:sp>
        <p:nvSpPr>
          <p:cNvPr id="202" name="Shape 202"/>
          <p:cNvSpPr/>
          <p:nvPr>
            <p:ph type="body" sz="quarter" idx="1"/>
          </p:nvPr>
        </p:nvSpPr>
        <p:spPr>
          <a:prstGeom prst="rect">
            <a:avLst/>
          </a:prstGeom>
        </p:spPr>
        <p:txBody>
          <a:bodyPr/>
          <a:lstStyle>
            <a:lvl1pPr>
              <a:defRPr u="sng">
                <a:solidFill>
                  <a:srgbClr val="0563C1"/>
                </a:solidFill>
                <a:uFill>
                  <a:solidFill>
                    <a:srgbClr val="0563C1"/>
                  </a:solidFill>
                </a:uFill>
                <a:hlinkClick r:id="rId3" invalidUrl="" action="" tgtFrame="" tooltip="" history="1" highlightClick="0" endSnd="0"/>
              </a:defRPr>
            </a:lvl1pPr>
          </a:lstStyle>
          <a:p>
            <a:pPr>
              <a:defRPr u="none">
                <a:solidFill>
                  <a:srgbClr val="000000"/>
                </a:solidFill>
                <a:uFillTx/>
              </a:defRPr>
            </a:pPr>
            <a:r>
              <a:rPr u="sng">
                <a:solidFill>
                  <a:srgbClr val="0563C1"/>
                </a:solidFill>
                <a:uFill>
                  <a:solidFill>
                    <a:srgbClr val="0563C1"/>
                  </a:solidFill>
                </a:uFill>
                <a:hlinkClick r:id="rId3" invalidUrl="" action="" tgtFrame="" tooltip="" history="1" highlightClick="0" endSnd="0"/>
              </a:rPr>
              <a:t>https://santim0ren0.medium.com/clean-code-comments-f9eac4ada16d</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8" name="Shape 208"/>
          <p:cNvSpPr/>
          <p:nvPr>
            <p:ph type="sldImg"/>
          </p:nvPr>
        </p:nvSpPr>
        <p:spPr>
          <a:prstGeom prst="rect">
            <a:avLst/>
          </a:prstGeom>
        </p:spPr>
        <p:txBody>
          <a:bodyPr/>
          <a:lstStyle/>
          <a:p>
            <a:pPr/>
          </a:p>
        </p:txBody>
      </p:sp>
      <p:sp>
        <p:nvSpPr>
          <p:cNvPr id="209" name="Shape 209"/>
          <p:cNvSpPr/>
          <p:nvPr>
            <p:ph type="body" sz="quarter" idx="1"/>
          </p:nvPr>
        </p:nvSpPr>
        <p:spPr>
          <a:prstGeom prst="rect">
            <a:avLst/>
          </a:prstGeom>
        </p:spPr>
        <p:txBody>
          <a:bodyPr/>
          <a:lstStyle/>
          <a:p>
            <a:pPr/>
            <a:r>
              <a:t>https://santim0ren0.medium.com/clean-code-comments-f9eac4ada16d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5" name="Shape 215"/>
          <p:cNvSpPr/>
          <p:nvPr>
            <p:ph type="sldImg"/>
          </p:nvPr>
        </p:nvSpPr>
        <p:spPr>
          <a:prstGeom prst="rect">
            <a:avLst/>
          </a:prstGeom>
        </p:spPr>
        <p:txBody>
          <a:bodyPr/>
          <a:lstStyle/>
          <a:p>
            <a:pPr/>
          </a:p>
        </p:txBody>
      </p:sp>
      <p:sp>
        <p:nvSpPr>
          <p:cNvPr id="216" name="Shape 216"/>
          <p:cNvSpPr/>
          <p:nvPr>
            <p:ph type="body" sz="quarter" idx="1"/>
          </p:nvPr>
        </p:nvSpPr>
        <p:spPr>
          <a:prstGeom prst="rect">
            <a:avLst/>
          </a:prstGeom>
        </p:spPr>
        <p:txBody>
          <a:bodyPr/>
          <a:lstStyle/>
          <a:p>
            <a:pPr/>
            <a:r>
              <a:t>https://santim0ren0.medium.com/clean-code-comments-f9eac4ada16d</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2" name="Shape 222"/>
          <p:cNvSpPr/>
          <p:nvPr>
            <p:ph type="sldImg"/>
          </p:nvPr>
        </p:nvSpPr>
        <p:spPr>
          <a:prstGeom prst="rect">
            <a:avLst/>
          </a:prstGeom>
        </p:spPr>
        <p:txBody>
          <a:bodyPr/>
          <a:lstStyle/>
          <a:p>
            <a:pPr/>
          </a:p>
        </p:txBody>
      </p:sp>
      <p:sp>
        <p:nvSpPr>
          <p:cNvPr id="223" name="Shape 223"/>
          <p:cNvSpPr/>
          <p:nvPr>
            <p:ph type="body" sz="quarter" idx="1"/>
          </p:nvPr>
        </p:nvSpPr>
        <p:spPr>
          <a:prstGeom prst="rect">
            <a:avLst/>
          </a:prstGeom>
        </p:spPr>
        <p:txBody>
          <a:bodyPr/>
          <a:lstStyle/>
          <a:p>
            <a:pPr/>
            <a:r>
              <a:t>We could add some abstraction to try and bury our gory details even further, but in the end for embedded systems we NEED those gory details to make our systems do what they need to do (in contrast to business systems)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9" name="Shape 229"/>
          <p:cNvSpPr/>
          <p:nvPr>
            <p:ph type="sldImg"/>
          </p:nvPr>
        </p:nvSpPr>
        <p:spPr>
          <a:prstGeom prst="rect">
            <a:avLst/>
          </a:prstGeom>
        </p:spPr>
        <p:txBody>
          <a:bodyPr/>
          <a:lstStyle/>
          <a:p>
            <a:pPr/>
          </a:p>
        </p:txBody>
      </p:sp>
      <p:sp>
        <p:nvSpPr>
          <p:cNvPr id="230" name="Shape 230"/>
          <p:cNvSpPr/>
          <p:nvPr>
            <p:ph type="body" sz="quarter" idx="1"/>
          </p:nvPr>
        </p:nvSpPr>
        <p:spPr>
          <a:prstGeom prst="rect">
            <a:avLst/>
          </a:prstGeom>
        </p:spPr>
        <p:txBody>
          <a:bodyPr/>
          <a:lstStyle/>
          <a:p>
            <a:pPr/>
            <a:r>
              <a:t>We could add some abstraction to try and bury our gory details even further, but in the end for embedded systems we NEED those gory details to make our systems do what they need to do (in contrast to business systems)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5" name="Shape 235"/>
          <p:cNvSpPr/>
          <p:nvPr>
            <p:ph type="sldImg"/>
          </p:nvPr>
        </p:nvSpPr>
        <p:spPr>
          <a:prstGeom prst="rect">
            <a:avLst/>
          </a:prstGeom>
        </p:spPr>
        <p:txBody>
          <a:bodyPr/>
          <a:lstStyle/>
          <a:p>
            <a:pPr/>
          </a:p>
        </p:txBody>
      </p:sp>
      <p:sp>
        <p:nvSpPr>
          <p:cNvPr id="236" name="Shape 236"/>
          <p:cNvSpPr/>
          <p:nvPr>
            <p:ph type="body" sz="quarter" idx="1"/>
          </p:nvPr>
        </p:nvSpPr>
        <p:spPr>
          <a:prstGeom prst="rect">
            <a:avLst/>
          </a:prstGeom>
        </p:spPr>
        <p:txBody>
          <a:bodyPr/>
          <a:lstStyle/>
          <a:p>
            <a:pPr/>
            <a:r>
              <a:t>We could add some abstraction to try and bury our gory details even further, but in the end for embedded systems we NEED those gory details to make our systems do what they need to do (in contrast to business systems)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1" name="Shape 241"/>
          <p:cNvSpPr/>
          <p:nvPr>
            <p:ph type="sldImg"/>
          </p:nvPr>
        </p:nvSpPr>
        <p:spPr>
          <a:prstGeom prst="rect">
            <a:avLst/>
          </a:prstGeom>
        </p:spPr>
        <p:txBody>
          <a:bodyPr/>
          <a:lstStyle/>
          <a:p>
            <a:pPr/>
          </a:p>
        </p:txBody>
      </p:sp>
      <p:sp>
        <p:nvSpPr>
          <p:cNvPr id="242" name="Shape 242"/>
          <p:cNvSpPr/>
          <p:nvPr>
            <p:ph type="body" sz="quarter" idx="1"/>
          </p:nvPr>
        </p:nvSpPr>
        <p:spPr>
          <a:prstGeom prst="rect">
            <a:avLst/>
          </a:prstGeom>
        </p:spPr>
        <p:txBody>
          <a:bodyPr/>
          <a:lstStyle>
            <a:lvl1pPr>
              <a:defRPr u="sng">
                <a:solidFill>
                  <a:srgbClr val="0563C1"/>
                </a:solidFill>
                <a:uFill>
                  <a:solidFill>
                    <a:srgbClr val="0563C1"/>
                  </a:solidFill>
                </a:uFill>
                <a:hlinkClick r:id="rId3" invalidUrl="" action="" tgtFrame="" tooltip="" history="1" highlightClick="0" endSnd="0"/>
              </a:defRPr>
            </a:lvl1pPr>
          </a:lstStyle>
          <a:p>
            <a:pPr>
              <a:defRPr u="none">
                <a:solidFill>
                  <a:srgbClr val="000000"/>
                </a:solidFill>
                <a:uFillTx/>
              </a:defRPr>
            </a:pPr>
            <a:r>
              <a:rPr u="sng">
                <a:solidFill>
                  <a:srgbClr val="0563C1"/>
                </a:solidFill>
                <a:uFill>
                  <a:solidFill>
                    <a:srgbClr val="0563C1"/>
                  </a:solidFill>
                </a:uFill>
                <a:hlinkClick r:id="rId3" invalidUrl="" action="" tgtFrame="" tooltip="" history="1" highlightClick="0" endSnd="0"/>
              </a:rPr>
              <a:t>https://santim0ren0.medium.com/clean-code-comments-f9eac4ada16d</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1" name="Shape 261"/>
          <p:cNvSpPr/>
          <p:nvPr>
            <p:ph type="sldImg"/>
          </p:nvPr>
        </p:nvSpPr>
        <p:spPr>
          <a:prstGeom prst="rect">
            <a:avLst/>
          </a:prstGeom>
        </p:spPr>
        <p:txBody>
          <a:bodyPr/>
          <a:lstStyle/>
          <a:p>
            <a:pPr/>
          </a:p>
        </p:txBody>
      </p:sp>
      <p:sp>
        <p:nvSpPr>
          <p:cNvPr id="262" name="Shape 262"/>
          <p:cNvSpPr/>
          <p:nvPr>
            <p:ph type="body" sz="quarter" idx="1"/>
          </p:nvPr>
        </p:nvSpPr>
        <p:spPr>
          <a:prstGeom prst="rect">
            <a:avLst/>
          </a:prstGeom>
        </p:spPr>
        <p:txBody>
          <a:bodyPr/>
          <a:lstStyle/>
          <a:p>
            <a:pPr/>
            <a:r>
              <a:t>Ousterhout becomes the pivot point: the moment you shift from "documentation is hard and failing" to "but it's actually worth it, and here's how to do it right."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8" name="Shape 268"/>
          <p:cNvSpPr/>
          <p:nvPr>
            <p:ph type="sldImg"/>
          </p:nvPr>
        </p:nvSpPr>
        <p:spPr>
          <a:prstGeom prst="rect">
            <a:avLst/>
          </a:prstGeom>
        </p:spPr>
        <p:txBody>
          <a:bodyPr/>
          <a:lstStyle/>
          <a:p>
            <a:pPr/>
          </a:p>
        </p:txBody>
      </p:sp>
      <p:sp>
        <p:nvSpPr>
          <p:cNvPr id="269" name="Shape 269"/>
          <p:cNvSpPr/>
          <p:nvPr>
            <p:ph type="body" sz="quarter" idx="1"/>
          </p:nvPr>
        </p:nvSpPr>
        <p:spPr>
          <a:prstGeom prst="rect">
            <a:avLst/>
          </a:prstGeom>
        </p:spPr>
        <p:txBody>
          <a:bodyPr/>
          <a:lstStyle/>
          <a:p>
            <a:pPr/>
            <a:r>
              <a:t>No comment, magic number… Refactor.</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5" name="Shape 275"/>
          <p:cNvSpPr/>
          <p:nvPr>
            <p:ph type="sldImg"/>
          </p:nvPr>
        </p:nvSpPr>
        <p:spPr>
          <a:prstGeom prst="rect">
            <a:avLst/>
          </a:prstGeom>
        </p:spPr>
        <p:txBody>
          <a:bodyPr/>
          <a:lstStyle/>
          <a:p>
            <a:pPr/>
          </a:p>
        </p:txBody>
      </p:sp>
      <p:sp>
        <p:nvSpPr>
          <p:cNvPr id="276" name="Shape 276"/>
          <p:cNvSpPr/>
          <p:nvPr>
            <p:ph type="body" sz="quarter" idx="1"/>
          </p:nvPr>
        </p:nvSpPr>
        <p:spPr>
          <a:prstGeom prst="rect">
            <a:avLst/>
          </a:prstGeom>
        </p:spPr>
        <p:txBody>
          <a:bodyPr/>
          <a:lstStyle/>
          <a:p>
            <a:pPr/>
            <a:r>
              <a:t>Ok much better. Can we further improve (ditch the comment?!)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2" name="Shape 282"/>
          <p:cNvSpPr/>
          <p:nvPr>
            <p:ph type="sldImg"/>
          </p:nvPr>
        </p:nvSpPr>
        <p:spPr>
          <a:prstGeom prst="rect">
            <a:avLst/>
          </a:prstGeom>
        </p:spPr>
        <p:txBody>
          <a:bodyPr/>
          <a:lstStyle/>
          <a:p>
            <a:pPr/>
          </a:p>
        </p:txBody>
      </p:sp>
      <p:sp>
        <p:nvSpPr>
          <p:cNvPr id="283" name="Shape 283"/>
          <p:cNvSpPr/>
          <p:nvPr>
            <p:ph type="body" sz="quarter" idx="1"/>
          </p:nvPr>
        </p:nvSpPr>
        <p:spPr>
          <a:prstGeom prst="rect">
            <a:avLst/>
          </a:prstGeom>
        </p:spPr>
        <p:txBody>
          <a:bodyPr/>
          <a:lstStyle/>
          <a:p>
            <a:pPr/>
            <a:r>
              <a:t>No comment, but is this more readable?</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9" name="Shape 289"/>
          <p:cNvSpPr/>
          <p:nvPr>
            <p:ph type="sldImg"/>
          </p:nvPr>
        </p:nvSpPr>
        <p:spPr>
          <a:prstGeom prst="rect">
            <a:avLst/>
          </a:prstGeom>
        </p:spPr>
        <p:txBody>
          <a:bodyPr/>
          <a:lstStyle/>
          <a:p>
            <a:pPr/>
          </a:p>
        </p:txBody>
      </p:sp>
      <p:sp>
        <p:nvSpPr>
          <p:cNvPr id="290" name="Shape 290"/>
          <p:cNvSpPr/>
          <p:nvPr>
            <p:ph type="body" sz="quarter" idx="1"/>
          </p:nvPr>
        </p:nvSpPr>
        <p:spPr>
          <a:prstGeom prst="rect">
            <a:avLst/>
          </a:prstGeom>
        </p:spPr>
        <p:txBody>
          <a:bodyPr/>
          <a:lstStyle/>
          <a:p>
            <a:pPr/>
            <a:r>
              <a:t>Final version, clear comment, clear code.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9" name="Shape 299"/>
          <p:cNvSpPr/>
          <p:nvPr>
            <p:ph type="sldImg"/>
          </p:nvPr>
        </p:nvSpPr>
        <p:spPr>
          <a:prstGeom prst="rect">
            <a:avLst/>
          </a:prstGeom>
        </p:spPr>
        <p:txBody>
          <a:bodyPr/>
          <a:lstStyle/>
          <a:p>
            <a:pPr/>
          </a:p>
        </p:txBody>
      </p:sp>
      <p:sp>
        <p:nvSpPr>
          <p:cNvPr id="300" name="Shape 300"/>
          <p:cNvSpPr/>
          <p:nvPr>
            <p:ph type="body" sz="quarter" idx="1"/>
          </p:nvPr>
        </p:nvSpPr>
        <p:spPr>
          <a:prstGeom prst="rect">
            <a:avLst/>
          </a:prstGeom>
        </p:spPr>
        <p:txBody>
          <a:bodyPr/>
          <a:lstStyle/>
          <a:p>
            <a:pPr/>
            <a:r>
              <a:t>Final version, clear comment, clear code.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9" name="Shape 309"/>
          <p:cNvSpPr/>
          <p:nvPr>
            <p:ph type="sldImg"/>
          </p:nvPr>
        </p:nvSpPr>
        <p:spPr>
          <a:prstGeom prst="rect">
            <a:avLst/>
          </a:prstGeom>
        </p:spPr>
        <p:txBody>
          <a:bodyPr/>
          <a:lstStyle/>
          <a:p>
            <a:pPr/>
          </a:p>
        </p:txBody>
      </p:sp>
      <p:sp>
        <p:nvSpPr>
          <p:cNvPr id="310" name="Shape 310"/>
          <p:cNvSpPr/>
          <p:nvPr>
            <p:ph type="body" sz="quarter" idx="1"/>
          </p:nvPr>
        </p:nvSpPr>
        <p:spPr>
          <a:prstGeom prst="rect">
            <a:avLst/>
          </a:prstGeom>
        </p:spPr>
        <p:txBody>
          <a:bodyPr/>
          <a:lstStyle/>
          <a:p>
            <a:pPr/>
            <a:r>
              <a:t>This just repeats the function name in prose. Waste of bytes.</a:t>
            </a:r>
          </a:p>
          <a:p>
            <a:pPr/>
          </a:p>
          <a:p>
            <a:pPr/>
            <a:r>
              <a:t>The test: Can someone use this function correctly without reading the implementation?</a:t>
            </a:r>
          </a:p>
          <a:p>
            <a:pPr/>
            <a:r>
              <a:t>If no → your function documentation is incomplete.</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8" name="Shape 318"/>
          <p:cNvSpPr/>
          <p:nvPr>
            <p:ph type="sldImg"/>
          </p:nvPr>
        </p:nvSpPr>
        <p:spPr>
          <a:prstGeom prst="rect">
            <a:avLst/>
          </a:prstGeom>
        </p:spPr>
        <p:txBody>
          <a:bodyPr/>
          <a:lstStyle/>
          <a:p>
            <a:pPr/>
          </a:p>
        </p:txBody>
      </p:sp>
      <p:sp>
        <p:nvSpPr>
          <p:cNvPr id="319" name="Shape 319"/>
          <p:cNvSpPr/>
          <p:nvPr>
            <p:ph type="body" sz="quarter" idx="1"/>
          </p:nvPr>
        </p:nvSpPr>
        <p:spPr>
          <a:prstGeom prst="rect">
            <a:avLst/>
          </a:prstGeom>
        </p:spPr>
        <p:txBody>
          <a:bodyPr/>
          <a:lstStyle/>
          <a:p>
            <a:pPr/>
            <a:r>
              <a:t>Final version, clear comment, clear code.</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3" name="Shape 323"/>
          <p:cNvSpPr/>
          <p:nvPr>
            <p:ph type="sldImg"/>
          </p:nvPr>
        </p:nvSpPr>
        <p:spPr>
          <a:prstGeom prst="rect">
            <a:avLst/>
          </a:prstGeom>
        </p:spPr>
        <p:txBody>
          <a:bodyPr/>
          <a:lstStyle/>
          <a:p>
            <a:pPr/>
          </a:p>
        </p:txBody>
      </p:sp>
      <p:sp>
        <p:nvSpPr>
          <p:cNvPr id="324" name="Shape 324"/>
          <p:cNvSpPr/>
          <p:nvPr>
            <p:ph type="body" sz="quarter" idx="1"/>
          </p:nvPr>
        </p:nvSpPr>
        <p:spPr>
          <a:prstGeom prst="rect">
            <a:avLst/>
          </a:prstGeom>
        </p:spPr>
        <p:txBody>
          <a:bodyPr/>
          <a:lstStyle/>
          <a:p>
            <a:pPr/>
            <a:r>
              <a:t>See the repo Exercise_2.cpp, download and answer.</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8" name="Shape 328"/>
          <p:cNvSpPr/>
          <p:nvPr>
            <p:ph type="sldImg"/>
          </p:nvPr>
        </p:nvSpPr>
        <p:spPr>
          <a:prstGeom prst="rect">
            <a:avLst/>
          </a:prstGeom>
        </p:spPr>
        <p:txBody>
          <a:bodyPr/>
          <a:lstStyle/>
          <a:p>
            <a:pPr/>
          </a:p>
        </p:txBody>
      </p:sp>
      <p:sp>
        <p:nvSpPr>
          <p:cNvPr id="329" name="Shape 329"/>
          <p:cNvSpPr/>
          <p:nvPr>
            <p:ph type="body" sz="quarter" idx="1"/>
          </p:nvPr>
        </p:nvSpPr>
        <p:spPr>
          <a:prstGeom prst="rect">
            <a:avLst/>
          </a:prstGeom>
        </p:spPr>
        <p:txBody>
          <a:bodyPr/>
          <a:lstStyle/>
          <a:p>
            <a:pPr/>
            <a:r>
              <a:t>Open Exercise_3.cpp. Which solution do you prefer and why?</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3" name="Shape 333"/>
          <p:cNvSpPr/>
          <p:nvPr>
            <p:ph type="sldImg"/>
          </p:nvPr>
        </p:nvSpPr>
        <p:spPr>
          <a:prstGeom prst="rect">
            <a:avLst/>
          </a:prstGeom>
        </p:spPr>
        <p:txBody>
          <a:bodyPr/>
          <a:lstStyle/>
          <a:p>
            <a:pPr/>
          </a:p>
        </p:txBody>
      </p:sp>
      <p:sp>
        <p:nvSpPr>
          <p:cNvPr id="334" name="Shape 334"/>
          <p:cNvSpPr/>
          <p:nvPr>
            <p:ph type="body" sz="quarter" idx="1"/>
          </p:nvPr>
        </p:nvSpPr>
        <p:spPr>
          <a:prstGeom prst="rect">
            <a:avLst/>
          </a:prstGeom>
        </p:spPr>
        <p:txBody>
          <a:bodyPr/>
          <a:lstStyle/>
          <a:p>
            <a:pPr/>
            <a:r>
              <a:t>B.t.w. does this code reveal something about some design choices made in the actual library?!</a:t>
            </a:r>
          </a:p>
          <a:p>
            <a:pPr/>
          </a:p>
          <a:p>
            <a:pPr/>
            <a:r>
              <a:t>(Robert Martin calls a "boolean trap" – a true or false argument that forces you to look up what it means.)</a:t>
            </a:r>
          </a:p>
          <a:p>
            <a:pPr/>
          </a:p>
          <a:p>
            <a:pPr/>
            <a:r>
              <a:t>What would be better method names?</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3" name="Shape 343"/>
          <p:cNvSpPr/>
          <p:nvPr>
            <p:ph type="sldImg"/>
          </p:nvPr>
        </p:nvSpPr>
        <p:spPr>
          <a:prstGeom prst="rect">
            <a:avLst/>
          </a:prstGeom>
        </p:spPr>
        <p:txBody>
          <a:bodyPr/>
          <a:lstStyle/>
          <a:p>
            <a:pPr/>
          </a:p>
        </p:txBody>
      </p:sp>
      <p:sp>
        <p:nvSpPr>
          <p:cNvPr id="344" name="Shape 344"/>
          <p:cNvSpPr/>
          <p:nvPr>
            <p:ph type="body" sz="quarter" idx="1"/>
          </p:nvPr>
        </p:nvSpPr>
        <p:spPr>
          <a:prstGeom prst="rect">
            <a:avLst/>
          </a:prstGeom>
        </p:spPr>
        <p:txBody>
          <a:bodyPr/>
          <a:lstStyle/>
          <a:p>
            <a:pPr/>
            <a:r>
              <a:t>Final version, clear comment, clear code.</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8" name="Shape 348"/>
          <p:cNvSpPr/>
          <p:nvPr>
            <p:ph type="sldImg"/>
          </p:nvPr>
        </p:nvSpPr>
        <p:spPr>
          <a:prstGeom prst="rect">
            <a:avLst/>
          </a:prstGeom>
        </p:spPr>
        <p:txBody>
          <a:bodyPr/>
          <a:lstStyle/>
          <a:p>
            <a:pPr/>
          </a:p>
        </p:txBody>
      </p:sp>
      <p:sp>
        <p:nvSpPr>
          <p:cNvPr id="349" name="Shape 349"/>
          <p:cNvSpPr/>
          <p:nvPr>
            <p:ph type="body" sz="quarter" idx="1"/>
          </p:nvPr>
        </p:nvSpPr>
        <p:spPr>
          <a:prstGeom prst="rect">
            <a:avLst/>
          </a:prstGeom>
        </p:spPr>
        <p:txBody>
          <a:bodyPr/>
          <a:lstStyle/>
          <a:p>
            <a:pPr/>
            <a:r>
              <a:t>Final version, clear comment, clear code.</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3" name="Shape 353"/>
          <p:cNvSpPr/>
          <p:nvPr>
            <p:ph type="sldImg"/>
          </p:nvPr>
        </p:nvSpPr>
        <p:spPr>
          <a:prstGeom prst="rect">
            <a:avLst/>
          </a:prstGeom>
        </p:spPr>
        <p:txBody>
          <a:bodyPr/>
          <a:lstStyle/>
          <a:p>
            <a:pPr/>
          </a:p>
        </p:txBody>
      </p:sp>
      <p:sp>
        <p:nvSpPr>
          <p:cNvPr id="354" name="Shape 354"/>
          <p:cNvSpPr/>
          <p:nvPr>
            <p:ph type="body" sz="quarter" idx="1"/>
          </p:nvPr>
        </p:nvSpPr>
        <p:spPr>
          <a:prstGeom prst="rect">
            <a:avLst/>
          </a:prstGeom>
        </p:spPr>
        <p:txBody>
          <a:bodyPr/>
          <a:lstStyle/>
          <a:p>
            <a:pPr/>
            <a:r>
              <a:t>Final version, clear comment, clear code.</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7" name="Shape 377"/>
          <p:cNvSpPr/>
          <p:nvPr>
            <p:ph type="sldImg"/>
          </p:nvPr>
        </p:nvSpPr>
        <p:spPr>
          <a:prstGeom prst="rect">
            <a:avLst/>
          </a:prstGeom>
        </p:spPr>
        <p:txBody>
          <a:bodyPr/>
          <a:lstStyle/>
          <a:p>
            <a:pPr/>
          </a:p>
        </p:txBody>
      </p:sp>
      <p:sp>
        <p:nvSpPr>
          <p:cNvPr id="378" name="Shape 378"/>
          <p:cNvSpPr/>
          <p:nvPr>
            <p:ph type="body" sz="quarter" idx="1"/>
          </p:nvPr>
        </p:nvSpPr>
        <p:spPr>
          <a:prstGeom prst="rect">
            <a:avLst/>
          </a:prstGeom>
        </p:spPr>
        <p:txBody>
          <a:bodyPr/>
          <a:lstStyle/>
          <a:p>
            <a:pPr/>
            <a:r>
              <a:t>Open Exercise_4.cpp</a:t>
            </a:r>
          </a:p>
          <a:p>
            <a:pPr/>
          </a:p>
          <a:p>
            <a:pPr/>
            <a:r>
              <a:t>Then reveal: they should be asking:</a:t>
            </a:r>
          </a:p>
          <a:p>
            <a:pPr/>
            <a:r>
              <a:t>What unit is the return value? (Pa? mbar? raw?)</a:t>
            </a:r>
          </a:p>
          <a:p>
            <a:pPr/>
            <a:r>
              <a:t>What values can oversample take?</a:t>
            </a:r>
          </a:p>
          <a:p>
            <a:pPr/>
            <a:r>
              <a:t>What does blocking mean – polling vs interrupt?</a:t>
            </a:r>
          </a:p>
          <a:p>
            <a:pPr/>
            <a:r>
              <a:t>What happens on error?</a:t>
            </a:r>
          </a:p>
          <a:p>
            <a:pPr/>
            <a:r>
              <a:t>Any preconditions?</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2" name="Shape 382"/>
          <p:cNvSpPr/>
          <p:nvPr>
            <p:ph type="sldImg"/>
          </p:nvPr>
        </p:nvSpPr>
        <p:spPr>
          <a:prstGeom prst="rect">
            <a:avLst/>
          </a:prstGeom>
        </p:spPr>
        <p:txBody>
          <a:bodyPr/>
          <a:lstStyle/>
          <a:p>
            <a:pPr/>
          </a:p>
        </p:txBody>
      </p:sp>
      <p:sp>
        <p:nvSpPr>
          <p:cNvPr id="383" name="Shape 383"/>
          <p:cNvSpPr/>
          <p:nvPr>
            <p:ph type="body" sz="quarter" idx="1"/>
          </p:nvPr>
        </p:nvSpPr>
        <p:spPr>
          <a:prstGeom prst="rect">
            <a:avLst/>
          </a:prstGeom>
        </p:spPr>
        <p:txBody>
          <a:bodyPr/>
          <a:lstStyle/>
          <a:p>
            <a:pPr/>
            <a:r>
              <a:t>"Explain what this does. You have 30 seconds."</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9" name="Shape 409"/>
          <p:cNvSpPr/>
          <p:nvPr>
            <p:ph type="sldImg"/>
          </p:nvPr>
        </p:nvSpPr>
        <p:spPr>
          <a:prstGeom prst="rect">
            <a:avLst/>
          </a:prstGeom>
        </p:spPr>
        <p:txBody>
          <a:bodyPr/>
          <a:lstStyle/>
          <a:p>
            <a:pPr/>
          </a:p>
        </p:txBody>
      </p:sp>
      <p:sp>
        <p:nvSpPr>
          <p:cNvPr id="410" name="Shape 410"/>
          <p:cNvSpPr/>
          <p:nvPr>
            <p:ph type="body" sz="quarter" idx="1"/>
          </p:nvPr>
        </p:nvSpPr>
        <p:spPr>
          <a:prstGeom prst="rect">
            <a:avLst/>
          </a:prstGeom>
        </p:spPr>
        <p:txBody>
          <a:bodyPr/>
          <a:lstStyle/>
          <a:p>
            <a:pPr/>
            <a:r>
              <a:t>No. It doesn't say:</a:t>
            </a:r>
          </a:p>
          <a:p>
            <a:pPr/>
            <a:r>
              <a:t>- Why does the sensor need stabilisation?</a:t>
            </a:r>
          </a:p>
          <a:p>
            <a:pPr/>
            <a:r>
              <a:t>- Where does the delay value come from?</a:t>
            </a:r>
          </a:p>
          <a:p>
            <a:pPr/>
            <a:r>
              <a:t>- What happens if you skip it or shorten it?</a:t>
            </a:r>
          </a:p>
          <a:p>
            <a:pPr/>
          </a:p>
          <a:p>
            <a:pPr/>
            <a:r>
              <a:t>The documentation describes the code. It doesn't explain it.</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tif"/></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tif"/></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1.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eldia">
    <p:spTree>
      <p:nvGrpSpPr>
        <p:cNvPr id="1" name=""/>
        <p:cNvGrpSpPr/>
        <p:nvPr/>
      </p:nvGrpSpPr>
      <p:grpSpPr>
        <a:xfrm>
          <a:off x="0" y="0"/>
          <a:ext cx="0" cy="0"/>
          <a:chOff x="0" y="0"/>
          <a:chExt cx="0" cy="0"/>
        </a:xfrm>
      </p:grpSpPr>
      <p:sp>
        <p:nvSpPr>
          <p:cNvPr id="12" name="Hoofdtekst - niveau één…"/>
          <p:cNvSpPr txBox="1"/>
          <p:nvPr>
            <p:ph type="body" sz="quarter" idx="1"/>
          </p:nvPr>
        </p:nvSpPr>
        <p:spPr>
          <a:xfrm>
            <a:off x="1778000" y="9528175"/>
            <a:ext cx="20828000" cy="1609725"/>
          </a:xfrm>
          <a:prstGeom prst="rect">
            <a:avLst/>
          </a:prstGeom>
        </p:spPr>
        <p:txBody>
          <a:bodyPr anchor="ctr"/>
          <a:lstStyle>
            <a:lvl1pPr>
              <a:defRPr sz="6900">
                <a:latin typeface="Avenir Next Condensed Regular"/>
                <a:ea typeface="Avenir Next Condensed Regular"/>
                <a:cs typeface="Avenir Next Condensed Regular"/>
                <a:sym typeface="Avenir Next Condensed Regular"/>
              </a:defRPr>
            </a:lvl1pPr>
            <a:lvl2pPr marL="929550" indent="-438150">
              <a:defRPr sz="6900">
                <a:latin typeface="Avenir Next Condensed Regular"/>
                <a:ea typeface="Avenir Next Condensed Regular"/>
                <a:cs typeface="Avenir Next Condensed Regular"/>
                <a:sym typeface="Avenir Next Condensed Regular"/>
              </a:defRPr>
            </a:lvl2pPr>
            <a:lvl3pPr marL="1344318" indent="-492918">
              <a:defRPr sz="6900">
                <a:latin typeface="Avenir Next Condensed Regular"/>
                <a:ea typeface="Avenir Next Condensed Regular"/>
                <a:cs typeface="Avenir Next Condensed Regular"/>
                <a:sym typeface="Avenir Next Condensed Regular"/>
              </a:defRPr>
            </a:lvl3pPr>
            <a:lvl4pPr marL="1954735" indent="-563335">
              <a:defRPr sz="6900">
                <a:latin typeface="Avenir Next Condensed Regular"/>
                <a:ea typeface="Avenir Next Condensed Regular"/>
                <a:cs typeface="Avenir Next Condensed Regular"/>
                <a:sym typeface="Avenir Next Condensed Regular"/>
              </a:defRPr>
            </a:lvl4pPr>
            <a:lvl5pPr marL="2404735" indent="-563335">
              <a:defRPr sz="6900">
                <a:latin typeface="Avenir Next Condensed Regular"/>
                <a:ea typeface="Avenir Next Condensed Regular"/>
                <a:cs typeface="Avenir Next Condensed Regular"/>
                <a:sym typeface="Avenir Next Condensed Regular"/>
              </a:defRPr>
            </a:lvl5pPr>
          </a:lstStyle>
          <a:p>
            <a:pPr/>
            <a:r>
              <a:t>Hoofdtekst - niveau één</a:t>
            </a:r>
          </a:p>
          <a:p>
            <a:pPr lvl="1"/>
            <a:r>
              <a:t>Hoofdtekst - niveau twee</a:t>
            </a:r>
          </a:p>
          <a:p>
            <a:pPr lvl="2"/>
            <a:r>
              <a:t>Hoofdtekst - niveau drie</a:t>
            </a:r>
          </a:p>
          <a:p>
            <a:pPr lvl="3"/>
            <a:r>
              <a:t>Hoofdtekst - niveau vier</a:t>
            </a:r>
          </a:p>
          <a:p>
            <a:pPr lvl="4"/>
            <a:r>
              <a:t>Hoofdtekst - niveau vijf</a:t>
            </a:r>
          </a:p>
        </p:txBody>
      </p:sp>
      <p:sp>
        <p:nvSpPr>
          <p:cNvPr id="13" name="Tijdelijke aanduiding voor tekst 2"/>
          <p:cNvSpPr/>
          <p:nvPr>
            <p:ph type="body" sz="quarter" idx="21"/>
          </p:nvPr>
        </p:nvSpPr>
        <p:spPr>
          <a:xfrm>
            <a:off x="1800041" y="2424084"/>
            <a:ext cx="20805776" cy="1031359"/>
          </a:xfrm>
          <a:prstGeom prst="rect">
            <a:avLst/>
          </a:prstGeom>
        </p:spPr>
        <p:txBody>
          <a:bodyPr anchor="b"/>
          <a:lstStyle/>
          <a:p>
            <a:pPr>
              <a:defRPr sz="5200">
                <a:solidFill>
                  <a:srgbClr val="E50856"/>
                </a:solidFill>
                <a:latin typeface="Avenir Next Condensed Regular"/>
                <a:ea typeface="Avenir Next Condensed Regular"/>
                <a:cs typeface="Avenir Next Condensed Regular"/>
                <a:sym typeface="Avenir Next Condensed Regular"/>
              </a:defRPr>
            </a:pPr>
          </a:p>
        </p:txBody>
      </p:sp>
      <p:sp>
        <p:nvSpPr>
          <p:cNvPr id="14"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el en Tekst">
    <p:spTree>
      <p:nvGrpSpPr>
        <p:cNvPr id="1" name=""/>
        <p:cNvGrpSpPr/>
        <p:nvPr/>
      </p:nvGrpSpPr>
      <p:grpSpPr>
        <a:xfrm>
          <a:off x="0" y="0"/>
          <a:ext cx="0" cy="0"/>
          <a:chOff x="0" y="0"/>
          <a:chExt cx="0" cy="0"/>
        </a:xfrm>
      </p:grpSpPr>
      <p:sp>
        <p:nvSpPr>
          <p:cNvPr id="21" name="Titeltekst"/>
          <p:cNvSpPr txBox="1"/>
          <p:nvPr>
            <p:ph type="title"/>
          </p:nvPr>
        </p:nvSpPr>
        <p:spPr>
          <a:prstGeom prst="rect">
            <a:avLst/>
          </a:prstGeom>
        </p:spPr>
        <p:txBody>
          <a:bodyPr/>
          <a:lstStyle/>
          <a:p>
            <a:pPr/>
            <a:r>
              <a:t>Titeltekst</a:t>
            </a:r>
          </a:p>
        </p:txBody>
      </p:sp>
      <p:sp>
        <p:nvSpPr>
          <p:cNvPr id="22" name="Hoofdtekst - niveau één…"/>
          <p:cNvSpPr txBox="1"/>
          <p:nvPr>
            <p:ph type="body" idx="1"/>
          </p:nvPr>
        </p:nvSpPr>
        <p:spPr>
          <a:prstGeom prst="rect">
            <a:avLst/>
          </a:prstGeom>
        </p:spPr>
        <p:txBody>
          <a:bodyPr/>
          <a:lstStyle/>
          <a:p>
            <a:pPr/>
            <a:r>
              <a:t>Hoofdtekst - niveau één</a:t>
            </a:r>
          </a:p>
          <a:p>
            <a:pPr lvl="1"/>
            <a:r>
              <a:t>Hoofdtekst - niveau twee</a:t>
            </a:r>
          </a:p>
          <a:p>
            <a:pPr lvl="2"/>
            <a:r>
              <a:t>Hoofdtekst - niveau drie</a:t>
            </a:r>
          </a:p>
          <a:p>
            <a:pPr lvl="3"/>
            <a:r>
              <a:t>Hoofdtekst - niveau vier</a:t>
            </a:r>
          </a:p>
          <a:p>
            <a:pPr lvl="4"/>
            <a:r>
              <a:t>Hoofdtekst - niveau vijf</a:t>
            </a:r>
          </a:p>
        </p:txBody>
      </p:sp>
      <p:sp>
        <p:nvSpPr>
          <p:cNvPr id="23"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el en halve tekst">
    <p:spTree>
      <p:nvGrpSpPr>
        <p:cNvPr id="1" name=""/>
        <p:cNvGrpSpPr/>
        <p:nvPr/>
      </p:nvGrpSpPr>
      <p:grpSpPr>
        <a:xfrm>
          <a:off x="0" y="0"/>
          <a:ext cx="0" cy="0"/>
          <a:chOff x="0" y="0"/>
          <a:chExt cx="0" cy="0"/>
        </a:xfrm>
      </p:grpSpPr>
      <p:sp>
        <p:nvSpPr>
          <p:cNvPr id="30" name="Titeltekst"/>
          <p:cNvSpPr txBox="1"/>
          <p:nvPr>
            <p:ph type="title"/>
          </p:nvPr>
        </p:nvSpPr>
        <p:spPr>
          <a:prstGeom prst="rect">
            <a:avLst/>
          </a:prstGeom>
        </p:spPr>
        <p:txBody>
          <a:bodyPr/>
          <a:lstStyle/>
          <a:p>
            <a:pPr/>
            <a:r>
              <a:t>Titeltekst</a:t>
            </a:r>
          </a:p>
        </p:txBody>
      </p:sp>
      <p:sp>
        <p:nvSpPr>
          <p:cNvPr id="31" name="Hoofdtekst - niveau één…"/>
          <p:cNvSpPr txBox="1"/>
          <p:nvPr>
            <p:ph type="body" sz="half" idx="1"/>
          </p:nvPr>
        </p:nvSpPr>
        <p:spPr>
          <a:xfrm>
            <a:off x="1688592" y="3069576"/>
            <a:ext cx="9537701" cy="9296401"/>
          </a:xfrm>
          <a:prstGeom prst="rect">
            <a:avLst/>
          </a:prstGeom>
        </p:spPr>
        <p:txBody>
          <a:bodyPr/>
          <a:lstStyle/>
          <a:p>
            <a:pPr/>
            <a:r>
              <a:t>Hoofdtekst - niveau één</a:t>
            </a:r>
          </a:p>
          <a:p>
            <a:pPr lvl="1"/>
            <a:r>
              <a:t>Hoofdtekst - niveau twee</a:t>
            </a:r>
          </a:p>
          <a:p>
            <a:pPr lvl="2"/>
            <a:r>
              <a:t>Hoofdtekst - niveau drie</a:t>
            </a:r>
          </a:p>
          <a:p>
            <a:pPr lvl="3"/>
            <a:r>
              <a:t>Hoofdtekst - niveau vier</a:t>
            </a:r>
          </a:p>
          <a:p>
            <a:pPr lvl="4"/>
            <a:r>
              <a:t>Hoofdtekst - niveau vijf</a:t>
            </a:r>
          </a:p>
        </p:txBody>
      </p:sp>
      <p:sp>
        <p:nvSpPr>
          <p:cNvPr id="32" name="Tijdelijke aanduiding voor tekst 2"/>
          <p:cNvSpPr/>
          <p:nvPr/>
        </p:nvSpPr>
        <p:spPr>
          <a:xfrm>
            <a:off x="891921" y="12336122"/>
            <a:ext cx="20805776" cy="1031359"/>
          </a:xfrm>
          <a:prstGeom prst="rect">
            <a:avLst/>
          </a:prstGeom>
          <a:ln w="12700">
            <a:miter lim="400000"/>
          </a:ln>
          <a:extLst>
            <a:ext uri="{C572A759-6A51-4108-AA02-DFA0A04FC94B}">
              <ma14:wrappingTextBoxFlag xmlns:ma14="http://schemas.microsoft.com/office/mac/drawingml/2011/main" val="1"/>
            </a:ext>
          </a:extLst>
        </p:spPr>
        <p:txBody>
          <a:bodyPr lIns="45719" rIns="45719" anchor="b">
            <a:normAutofit fontScale="100000" lnSpcReduction="0"/>
          </a:bodyPr>
          <a:lstStyle/>
          <a:p>
            <a:pPr lvl="1">
              <a:lnSpc>
                <a:spcPct val="80000"/>
              </a:lnSpc>
              <a:spcBef>
                <a:spcPts val="1000"/>
              </a:spcBef>
              <a:defRPr sz="4200">
                <a:solidFill>
                  <a:srgbClr val="E50856"/>
                </a:solidFill>
                <a:latin typeface="Avenir Next Condensed Regular"/>
                <a:ea typeface="Avenir Next Condensed Regular"/>
                <a:cs typeface="Avenir Next Condensed Regular"/>
                <a:sym typeface="Avenir Next Condensed Regular"/>
              </a:defRPr>
            </a:pPr>
            <a:r>
              <a:t>Prog 6 - Commenting</a:t>
            </a:r>
          </a:p>
        </p:txBody>
      </p:sp>
      <p:sp>
        <p:nvSpPr>
          <p:cNvPr id="33"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el en Afbeelding">
    <p:spTree>
      <p:nvGrpSpPr>
        <p:cNvPr id="1" name=""/>
        <p:cNvGrpSpPr/>
        <p:nvPr/>
      </p:nvGrpSpPr>
      <p:grpSpPr>
        <a:xfrm>
          <a:off x="0" y="0"/>
          <a:ext cx="0" cy="0"/>
          <a:chOff x="0" y="0"/>
          <a:chExt cx="0" cy="0"/>
        </a:xfrm>
      </p:grpSpPr>
      <p:sp>
        <p:nvSpPr>
          <p:cNvPr id="40" name="Tijdelijke aanduiding voor afbeelding 15"/>
          <p:cNvSpPr/>
          <p:nvPr>
            <p:ph type="pic" sz="half" idx="21"/>
          </p:nvPr>
        </p:nvSpPr>
        <p:spPr>
          <a:xfrm>
            <a:off x="13169900" y="3064497"/>
            <a:ext cx="9525000" cy="9223248"/>
          </a:xfrm>
          <a:prstGeom prst="rect">
            <a:avLst/>
          </a:prstGeom>
        </p:spPr>
        <p:txBody>
          <a:bodyPr lIns="91439" rIns="91439">
            <a:noAutofit/>
          </a:bodyPr>
          <a:lstStyle/>
          <a:p>
            <a:pPr/>
          </a:p>
        </p:txBody>
      </p:sp>
      <p:sp>
        <p:nvSpPr>
          <p:cNvPr id="41" name="Titeltekst"/>
          <p:cNvSpPr txBox="1"/>
          <p:nvPr>
            <p:ph type="title"/>
          </p:nvPr>
        </p:nvSpPr>
        <p:spPr>
          <a:prstGeom prst="rect">
            <a:avLst/>
          </a:prstGeom>
        </p:spPr>
        <p:txBody>
          <a:bodyPr/>
          <a:lstStyle/>
          <a:p>
            <a:pPr/>
            <a:r>
              <a:t>Titeltekst</a:t>
            </a:r>
          </a:p>
        </p:txBody>
      </p:sp>
      <p:sp>
        <p:nvSpPr>
          <p:cNvPr id="42" name="Hoofdtekst - niveau één…"/>
          <p:cNvSpPr txBox="1"/>
          <p:nvPr>
            <p:ph type="body" sz="half" idx="1"/>
          </p:nvPr>
        </p:nvSpPr>
        <p:spPr>
          <a:xfrm>
            <a:off x="1689100" y="3064497"/>
            <a:ext cx="9537701" cy="9296401"/>
          </a:xfrm>
          <a:prstGeom prst="rect">
            <a:avLst/>
          </a:prstGeom>
        </p:spPr>
        <p:txBody>
          <a:bodyPr/>
          <a:lstStyle/>
          <a:p>
            <a:pPr/>
            <a:r>
              <a:t>Hoofdtekst - niveau één</a:t>
            </a:r>
          </a:p>
          <a:p>
            <a:pPr lvl="1"/>
            <a:r>
              <a:t>Hoofdtekst - niveau twee</a:t>
            </a:r>
          </a:p>
          <a:p>
            <a:pPr lvl="2"/>
            <a:r>
              <a:t>Hoofdtekst - niveau drie</a:t>
            </a:r>
          </a:p>
          <a:p>
            <a:pPr lvl="3"/>
            <a:r>
              <a:t>Hoofdtekst - niveau vier</a:t>
            </a:r>
          </a:p>
          <a:p>
            <a:pPr lvl="4"/>
            <a:r>
              <a:t>Hoofdtekst - niveau vijf</a:t>
            </a:r>
          </a:p>
        </p:txBody>
      </p:sp>
      <p:pic>
        <p:nvPicPr>
          <p:cNvPr id="43" name="pasted-image.tiff" descr="pasted-image.tiff"/>
          <p:cNvPicPr>
            <a:picLocks noChangeAspect="1"/>
          </p:cNvPicPr>
          <p:nvPr/>
        </p:nvPicPr>
        <p:blipFill>
          <a:blip r:embed="rId2">
            <a:extLst/>
          </a:blip>
          <a:stretch>
            <a:fillRect/>
          </a:stretch>
        </p:blipFill>
        <p:spPr>
          <a:xfrm>
            <a:off x="18575551" y="12342376"/>
            <a:ext cx="2092611" cy="1031359"/>
          </a:xfrm>
          <a:prstGeom prst="rect">
            <a:avLst/>
          </a:prstGeom>
          <a:ln w="12700">
            <a:miter lim="400000"/>
          </a:ln>
        </p:spPr>
      </p:pic>
      <p:sp>
        <p:nvSpPr>
          <p:cNvPr id="44"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ubbele Titel en Tekst">
    <p:spTree>
      <p:nvGrpSpPr>
        <p:cNvPr id="1" name=""/>
        <p:cNvGrpSpPr/>
        <p:nvPr/>
      </p:nvGrpSpPr>
      <p:grpSpPr>
        <a:xfrm>
          <a:off x="0" y="0"/>
          <a:ext cx="0" cy="0"/>
          <a:chOff x="0" y="0"/>
          <a:chExt cx="0" cy="0"/>
        </a:xfrm>
      </p:grpSpPr>
      <p:sp>
        <p:nvSpPr>
          <p:cNvPr id="51" name="Titeltekst"/>
          <p:cNvSpPr txBox="1"/>
          <p:nvPr>
            <p:ph type="title"/>
          </p:nvPr>
        </p:nvSpPr>
        <p:spPr>
          <a:prstGeom prst="rect">
            <a:avLst/>
          </a:prstGeom>
        </p:spPr>
        <p:txBody>
          <a:bodyPr/>
          <a:lstStyle/>
          <a:p>
            <a:pPr/>
            <a:r>
              <a:t>Titeltekst</a:t>
            </a:r>
          </a:p>
        </p:txBody>
      </p:sp>
      <p:sp>
        <p:nvSpPr>
          <p:cNvPr id="52" name="Hoofdtekst - niveau één…"/>
          <p:cNvSpPr txBox="1"/>
          <p:nvPr>
            <p:ph type="body" sz="half" idx="1"/>
          </p:nvPr>
        </p:nvSpPr>
        <p:spPr>
          <a:xfrm>
            <a:off x="1689100" y="4791455"/>
            <a:ext cx="9537701" cy="7569442"/>
          </a:xfrm>
          <a:prstGeom prst="rect">
            <a:avLst/>
          </a:prstGeom>
        </p:spPr>
        <p:txBody>
          <a:bodyPr/>
          <a:lstStyle/>
          <a:p>
            <a:pPr/>
            <a:r>
              <a:t>Hoofdtekst - niveau één</a:t>
            </a:r>
          </a:p>
          <a:p>
            <a:pPr lvl="1"/>
            <a:r>
              <a:t>Hoofdtekst - niveau twee</a:t>
            </a:r>
          </a:p>
          <a:p>
            <a:pPr lvl="2"/>
            <a:r>
              <a:t>Hoofdtekst - niveau drie</a:t>
            </a:r>
          </a:p>
          <a:p>
            <a:pPr lvl="3"/>
            <a:r>
              <a:t>Hoofdtekst - niveau vier</a:t>
            </a:r>
          </a:p>
          <a:p>
            <a:pPr lvl="4"/>
            <a:r>
              <a:t>Hoofdtekst - niveau vijf</a:t>
            </a:r>
          </a:p>
        </p:txBody>
      </p:sp>
      <p:sp>
        <p:nvSpPr>
          <p:cNvPr id="53" name="Tijdelijke aanduiding voor tekst 23"/>
          <p:cNvSpPr/>
          <p:nvPr>
            <p:ph type="body" sz="half" idx="21"/>
          </p:nvPr>
        </p:nvSpPr>
        <p:spPr>
          <a:xfrm>
            <a:off x="13157198" y="4791455"/>
            <a:ext cx="9537702" cy="7569439"/>
          </a:xfrm>
          <a:prstGeom prst="rect">
            <a:avLst/>
          </a:prstGeom>
        </p:spPr>
        <p:txBody>
          <a:bodyPr/>
          <a:lstStyle/>
          <a:p>
            <a:pPr/>
          </a:p>
        </p:txBody>
      </p:sp>
      <p:sp>
        <p:nvSpPr>
          <p:cNvPr id="54" name="Tijdelijke aanduiding voor tekst 2"/>
          <p:cNvSpPr/>
          <p:nvPr>
            <p:ph type="body" sz="quarter" idx="22"/>
          </p:nvPr>
        </p:nvSpPr>
        <p:spPr>
          <a:xfrm>
            <a:off x="1676400" y="3154677"/>
            <a:ext cx="9537700" cy="1289307"/>
          </a:xfrm>
          <a:prstGeom prst="rect">
            <a:avLst/>
          </a:prstGeom>
        </p:spPr>
        <p:txBody>
          <a:bodyPr anchor="ctr"/>
          <a:lstStyle/>
          <a:p>
            <a:pPr>
              <a:defRPr b="1" sz="2800"/>
            </a:pPr>
          </a:p>
        </p:txBody>
      </p:sp>
      <p:sp>
        <p:nvSpPr>
          <p:cNvPr id="55" name="Tijdelijke aanduiding voor tekst 2"/>
          <p:cNvSpPr/>
          <p:nvPr>
            <p:ph type="body" sz="quarter" idx="23"/>
          </p:nvPr>
        </p:nvSpPr>
        <p:spPr>
          <a:xfrm>
            <a:off x="13157198" y="3150106"/>
            <a:ext cx="9537701" cy="1289306"/>
          </a:xfrm>
          <a:prstGeom prst="rect">
            <a:avLst/>
          </a:prstGeom>
        </p:spPr>
        <p:txBody>
          <a:bodyPr anchor="ctr"/>
          <a:lstStyle/>
          <a:p>
            <a:pPr>
              <a:defRPr b="1" sz="2800"/>
            </a:pPr>
          </a:p>
        </p:txBody>
      </p:sp>
      <p:pic>
        <p:nvPicPr>
          <p:cNvPr id="56" name="pasted-image.tiff" descr="pasted-image.tiff"/>
          <p:cNvPicPr>
            <a:picLocks noChangeAspect="1"/>
          </p:cNvPicPr>
          <p:nvPr/>
        </p:nvPicPr>
        <p:blipFill>
          <a:blip r:embed="rId2">
            <a:extLst/>
          </a:blip>
          <a:stretch>
            <a:fillRect/>
          </a:stretch>
        </p:blipFill>
        <p:spPr>
          <a:xfrm>
            <a:off x="18575551" y="12342376"/>
            <a:ext cx="2092611" cy="1031359"/>
          </a:xfrm>
          <a:prstGeom prst="rect">
            <a:avLst/>
          </a:prstGeom>
          <a:ln w="12700">
            <a:miter lim="400000"/>
          </a:ln>
        </p:spPr>
      </p:pic>
      <p:sp>
        <p:nvSpPr>
          <p:cNvPr id="57"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Quote (Zwarte Achtergrond)">
    <p:spTree>
      <p:nvGrpSpPr>
        <p:cNvPr id="1" name=""/>
        <p:cNvGrpSpPr/>
        <p:nvPr/>
      </p:nvGrpSpPr>
      <p:grpSpPr>
        <a:xfrm>
          <a:off x="0" y="0"/>
          <a:ext cx="0" cy="0"/>
          <a:chOff x="0" y="0"/>
          <a:chExt cx="0" cy="0"/>
        </a:xfrm>
      </p:grpSpPr>
      <p:sp>
        <p:nvSpPr>
          <p:cNvPr id="64" name="Rechthoek"/>
          <p:cNvSpPr/>
          <p:nvPr/>
        </p:nvSpPr>
        <p:spPr>
          <a:xfrm>
            <a:off x="6756400" y="1088828"/>
            <a:ext cx="10871200" cy="11484172"/>
          </a:xfrm>
          <a:prstGeom prst="rect">
            <a:avLst/>
          </a:prstGeom>
          <a:solidFill>
            <a:srgbClr val="000000"/>
          </a:solidFill>
          <a:ln w="12700">
            <a:miter lim="400000"/>
          </a:ln>
        </p:spPr>
        <p:txBody>
          <a:bodyPr lIns="45719" rIns="45719" anchor="ctr"/>
          <a:lstStyle/>
          <a:p>
            <a:pPr>
              <a:defRPr sz="3200">
                <a:solidFill>
                  <a:srgbClr val="FFFFFF"/>
                </a:solidFill>
              </a:defRPr>
            </a:pPr>
          </a:p>
        </p:txBody>
      </p:sp>
      <p:pic>
        <p:nvPicPr>
          <p:cNvPr id="65" name="Afbeelding 2" descr="Afbeelding 2"/>
          <p:cNvPicPr>
            <a:picLocks noChangeAspect="1"/>
          </p:cNvPicPr>
          <p:nvPr/>
        </p:nvPicPr>
        <p:blipFill>
          <a:blip r:embed="rId2">
            <a:extLst/>
          </a:blip>
          <a:stretch>
            <a:fillRect/>
          </a:stretch>
        </p:blipFill>
        <p:spPr>
          <a:xfrm>
            <a:off x="7416848" y="760549"/>
            <a:ext cx="633048" cy="528756"/>
          </a:xfrm>
          <a:prstGeom prst="rect">
            <a:avLst/>
          </a:prstGeom>
          <a:ln w="12700">
            <a:miter lim="400000"/>
          </a:ln>
        </p:spPr>
      </p:pic>
      <p:sp>
        <p:nvSpPr>
          <p:cNvPr id="66" name="Titeltekst"/>
          <p:cNvSpPr txBox="1"/>
          <p:nvPr>
            <p:ph type="title"/>
          </p:nvPr>
        </p:nvSpPr>
        <p:spPr>
          <a:xfrm>
            <a:off x="7416848" y="2708721"/>
            <a:ext cx="9550304" cy="8298558"/>
          </a:xfrm>
          <a:prstGeom prst="rect">
            <a:avLst/>
          </a:prstGeom>
        </p:spPr>
        <p:txBody>
          <a:bodyPr anchor="t"/>
          <a:lstStyle>
            <a:lvl1pPr>
              <a:lnSpc>
                <a:spcPct val="100000"/>
              </a:lnSpc>
              <a:defRPr b="1">
                <a:solidFill>
                  <a:srgbClr val="FFFFFF"/>
                </a:solidFill>
              </a:defRPr>
            </a:lvl1pPr>
          </a:lstStyle>
          <a:p>
            <a:pPr/>
            <a:r>
              <a:t>Titeltekst</a:t>
            </a:r>
          </a:p>
        </p:txBody>
      </p:sp>
      <p:sp>
        <p:nvSpPr>
          <p:cNvPr id="67" name="Hoofdtekst - niveau één…"/>
          <p:cNvSpPr txBox="1"/>
          <p:nvPr>
            <p:ph type="body" sz="quarter" idx="1"/>
          </p:nvPr>
        </p:nvSpPr>
        <p:spPr>
          <a:xfrm>
            <a:off x="7416848" y="11256364"/>
            <a:ext cx="9550301" cy="1142900"/>
          </a:xfrm>
          <a:prstGeom prst="rect">
            <a:avLst/>
          </a:prstGeom>
        </p:spPr>
        <p:txBody>
          <a:bodyPr anchor="ctr"/>
          <a:lstStyle>
            <a:lvl1pPr>
              <a:defRPr sz="5200">
                <a:solidFill>
                  <a:srgbClr val="FFFFFF"/>
                </a:solidFill>
              </a:defRPr>
            </a:lvl1pPr>
            <a:lvl2pPr marL="821600" indent="-330200">
              <a:defRPr sz="5200">
                <a:solidFill>
                  <a:srgbClr val="FFFFFF"/>
                </a:solidFill>
              </a:defRPr>
            </a:lvl2pPr>
            <a:lvl3pPr marL="1222874" indent="-371475">
              <a:defRPr sz="5200">
                <a:solidFill>
                  <a:srgbClr val="FFFFFF"/>
                </a:solidFill>
              </a:defRPr>
            </a:lvl3pPr>
            <a:lvl4pPr marL="1815942" indent="-424542">
              <a:defRPr sz="5200">
                <a:solidFill>
                  <a:srgbClr val="FFFFFF"/>
                </a:solidFill>
              </a:defRPr>
            </a:lvl4pPr>
            <a:lvl5pPr marL="2265942" indent="-424542">
              <a:defRPr sz="5200">
                <a:solidFill>
                  <a:srgbClr val="FFFFFF"/>
                </a:solidFill>
              </a:defRPr>
            </a:lvl5pPr>
          </a:lstStyle>
          <a:p>
            <a:pPr/>
            <a:r>
              <a:t>Hoofdtekst - niveau één</a:t>
            </a:r>
          </a:p>
          <a:p>
            <a:pPr lvl="1"/>
            <a:r>
              <a:t>Hoofdtekst - niveau twee</a:t>
            </a:r>
          </a:p>
          <a:p>
            <a:pPr lvl="2"/>
            <a:r>
              <a:t>Hoofdtekst - niveau drie</a:t>
            </a:r>
          </a:p>
          <a:p>
            <a:pPr lvl="3"/>
            <a:r>
              <a:t>Hoofdtekst - niveau vier</a:t>
            </a:r>
          </a:p>
          <a:p>
            <a:pPr lvl="4"/>
            <a:r>
              <a:t>Hoofdtekst - niveau vijf</a:t>
            </a:r>
          </a:p>
        </p:txBody>
      </p:sp>
      <p:pic>
        <p:nvPicPr>
          <p:cNvPr id="68" name="Afbeelding 3" descr="Afbeelding 3"/>
          <p:cNvPicPr>
            <a:picLocks noChangeAspect="1"/>
          </p:cNvPicPr>
          <p:nvPr/>
        </p:nvPicPr>
        <p:blipFill>
          <a:blip r:embed="rId3">
            <a:extLst/>
          </a:blip>
          <a:stretch>
            <a:fillRect/>
          </a:stretch>
        </p:blipFill>
        <p:spPr>
          <a:xfrm>
            <a:off x="20913394" y="12431076"/>
            <a:ext cx="3127287" cy="1354999"/>
          </a:xfrm>
          <a:prstGeom prst="rect">
            <a:avLst/>
          </a:prstGeom>
          <a:ln w="12700">
            <a:miter lim="400000"/>
          </a:ln>
        </p:spPr>
      </p:pic>
      <p:sp>
        <p:nvSpPr>
          <p:cNvPr id="69"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eldia">
    <p:spTree>
      <p:nvGrpSpPr>
        <p:cNvPr id="1" name=""/>
        <p:cNvGrpSpPr/>
        <p:nvPr/>
      </p:nvGrpSpPr>
      <p:grpSpPr>
        <a:xfrm>
          <a:off x="0" y="0"/>
          <a:ext cx="0" cy="0"/>
          <a:chOff x="0" y="0"/>
          <a:chExt cx="0" cy="0"/>
        </a:xfrm>
      </p:grpSpPr>
      <p:pic>
        <p:nvPicPr>
          <p:cNvPr id="76" name="D5FhM3ZXoAMfgI-.jpg_large.jpeg" descr="D5FhM3ZXoAMfgI-.jpg_large.jpeg"/>
          <p:cNvPicPr>
            <a:picLocks noChangeAspect="1"/>
          </p:cNvPicPr>
          <p:nvPr/>
        </p:nvPicPr>
        <p:blipFill>
          <a:blip r:embed="rId2">
            <a:extLst/>
          </a:blip>
          <a:srcRect l="0" t="4916" r="0" b="32757"/>
          <a:stretch>
            <a:fillRect/>
          </a:stretch>
        </p:blipFill>
        <p:spPr>
          <a:xfrm>
            <a:off x="0" y="3391197"/>
            <a:ext cx="24384000" cy="5728694"/>
          </a:xfrm>
          <a:prstGeom prst="rect">
            <a:avLst/>
          </a:prstGeom>
          <a:ln w="12700">
            <a:miter lim="400000"/>
          </a:ln>
        </p:spPr>
      </p:pic>
      <p:pic>
        <p:nvPicPr>
          <p:cNvPr id="77" name="Afbeelding 3" descr="Afbeelding 3"/>
          <p:cNvPicPr>
            <a:picLocks noChangeAspect="1"/>
          </p:cNvPicPr>
          <p:nvPr/>
        </p:nvPicPr>
        <p:blipFill>
          <a:blip r:embed="rId3">
            <a:extLst/>
          </a:blip>
          <a:stretch>
            <a:fillRect/>
          </a:stretch>
        </p:blipFill>
        <p:spPr>
          <a:xfrm>
            <a:off x="20913394" y="12431076"/>
            <a:ext cx="3127287" cy="1354999"/>
          </a:xfrm>
          <a:prstGeom prst="rect">
            <a:avLst/>
          </a:prstGeom>
          <a:ln w="12700">
            <a:miter lim="400000"/>
          </a:ln>
        </p:spPr>
      </p:pic>
      <p:pic>
        <p:nvPicPr>
          <p:cNvPr id="78" name="Afbeelding 2" descr="Afbeelding 2"/>
          <p:cNvPicPr>
            <a:picLocks noChangeAspect="1"/>
          </p:cNvPicPr>
          <p:nvPr/>
        </p:nvPicPr>
        <p:blipFill>
          <a:blip r:embed="rId4">
            <a:extLst/>
          </a:blip>
          <a:stretch>
            <a:fillRect/>
          </a:stretch>
        </p:blipFill>
        <p:spPr>
          <a:xfrm>
            <a:off x="8184454" y="2107775"/>
            <a:ext cx="11271116" cy="7162250"/>
          </a:xfrm>
          <a:prstGeom prst="rect">
            <a:avLst/>
          </a:prstGeom>
          <a:ln w="12700">
            <a:miter lim="400000"/>
          </a:ln>
        </p:spPr>
      </p:pic>
      <p:sp>
        <p:nvSpPr>
          <p:cNvPr id="79" name="Hoofdtekst - niveau één…"/>
          <p:cNvSpPr txBox="1"/>
          <p:nvPr>
            <p:ph type="body" sz="quarter" idx="1"/>
          </p:nvPr>
        </p:nvSpPr>
        <p:spPr>
          <a:xfrm>
            <a:off x="1778000" y="9528175"/>
            <a:ext cx="20828000" cy="1609725"/>
          </a:xfrm>
          <a:prstGeom prst="rect">
            <a:avLst/>
          </a:prstGeom>
        </p:spPr>
        <p:txBody>
          <a:bodyPr anchor="ctr"/>
          <a:lstStyle>
            <a:lvl1pPr>
              <a:defRPr sz="6900">
                <a:latin typeface="Avenir Next Condensed Regular"/>
                <a:ea typeface="Avenir Next Condensed Regular"/>
                <a:cs typeface="Avenir Next Condensed Regular"/>
                <a:sym typeface="Avenir Next Condensed Regular"/>
              </a:defRPr>
            </a:lvl1pPr>
            <a:lvl2pPr marL="929550" indent="-438150">
              <a:defRPr sz="6900">
                <a:latin typeface="Avenir Next Condensed Regular"/>
                <a:ea typeface="Avenir Next Condensed Regular"/>
                <a:cs typeface="Avenir Next Condensed Regular"/>
                <a:sym typeface="Avenir Next Condensed Regular"/>
              </a:defRPr>
            </a:lvl2pPr>
            <a:lvl3pPr marL="1344318" indent="-492918">
              <a:defRPr sz="6900">
                <a:latin typeface="Avenir Next Condensed Regular"/>
                <a:ea typeface="Avenir Next Condensed Regular"/>
                <a:cs typeface="Avenir Next Condensed Regular"/>
                <a:sym typeface="Avenir Next Condensed Regular"/>
              </a:defRPr>
            </a:lvl3pPr>
            <a:lvl4pPr marL="1954735" indent="-563335">
              <a:defRPr sz="6900">
                <a:latin typeface="Avenir Next Condensed Regular"/>
                <a:ea typeface="Avenir Next Condensed Regular"/>
                <a:cs typeface="Avenir Next Condensed Regular"/>
                <a:sym typeface="Avenir Next Condensed Regular"/>
              </a:defRPr>
            </a:lvl4pPr>
            <a:lvl5pPr marL="2404735" indent="-563335">
              <a:defRPr sz="6900">
                <a:latin typeface="Avenir Next Condensed Regular"/>
                <a:ea typeface="Avenir Next Condensed Regular"/>
                <a:cs typeface="Avenir Next Condensed Regular"/>
                <a:sym typeface="Avenir Next Condensed Regular"/>
              </a:defRPr>
            </a:lvl5pPr>
          </a:lstStyle>
          <a:p>
            <a:pPr/>
            <a:r>
              <a:t>Hoofdtekst - niveau één</a:t>
            </a:r>
          </a:p>
          <a:p>
            <a:pPr lvl="1"/>
            <a:r>
              <a:t>Hoofdtekst - niveau twee</a:t>
            </a:r>
          </a:p>
          <a:p>
            <a:pPr lvl="2"/>
            <a:r>
              <a:t>Hoofdtekst - niveau drie</a:t>
            </a:r>
          </a:p>
          <a:p>
            <a:pPr lvl="3"/>
            <a:r>
              <a:t>Hoofdtekst - niveau vier</a:t>
            </a:r>
          </a:p>
          <a:p>
            <a:pPr lvl="4"/>
            <a:r>
              <a:t>Hoofdtekst - niveau vijf</a:t>
            </a:r>
          </a:p>
        </p:txBody>
      </p:sp>
      <p:sp>
        <p:nvSpPr>
          <p:cNvPr id="80" name="Tijdelijke aanduiding voor tekst 2"/>
          <p:cNvSpPr/>
          <p:nvPr>
            <p:ph type="body" sz="quarter" idx="21"/>
          </p:nvPr>
        </p:nvSpPr>
        <p:spPr>
          <a:xfrm>
            <a:off x="1800041" y="2424084"/>
            <a:ext cx="20805776" cy="1031359"/>
          </a:xfrm>
          <a:prstGeom prst="rect">
            <a:avLst/>
          </a:prstGeom>
        </p:spPr>
        <p:txBody>
          <a:bodyPr anchor="b"/>
          <a:lstStyle/>
          <a:p>
            <a:pPr>
              <a:defRPr sz="5200">
                <a:solidFill>
                  <a:srgbClr val="E50856"/>
                </a:solidFill>
                <a:latin typeface="Avenir Next Condensed Regular"/>
                <a:ea typeface="Avenir Next Condensed Regular"/>
                <a:cs typeface="Avenir Next Condensed Regular"/>
                <a:sym typeface="Avenir Next Condensed Regular"/>
              </a:defRPr>
            </a:pPr>
          </a:p>
        </p:txBody>
      </p:sp>
      <p:sp>
        <p:nvSpPr>
          <p:cNvPr id="81" name="Text Placeholder 3"/>
          <p:cNvSpPr/>
          <p:nvPr>
            <p:ph type="body" sz="half" idx="22"/>
          </p:nvPr>
        </p:nvSpPr>
        <p:spPr>
          <a:xfrm>
            <a:off x="1800225" y="3894137"/>
            <a:ext cx="20828000" cy="5199063"/>
          </a:xfrm>
          <a:prstGeom prst="rect">
            <a:avLst/>
          </a:prstGeom>
        </p:spPr>
        <p:txBody>
          <a:bodyPr/>
          <a:lstStyle/>
          <a:p>
            <a:pPr indent="131399">
              <a:defRPr b="1" sz="13900">
                <a:latin typeface="Avenir Next Condensed Regular"/>
                <a:ea typeface="Avenir Next Condensed Regular"/>
                <a:cs typeface="Avenir Next Condensed Regular"/>
                <a:sym typeface="Avenir Next Condensed Regular"/>
              </a:defRPr>
            </a:pPr>
          </a:p>
        </p:txBody>
      </p:sp>
      <p:sp>
        <p:nvSpPr>
          <p:cNvPr id="82"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eltekst"/>
          <p:cNvSpPr txBox="1"/>
          <p:nvPr>
            <p:ph type="title"/>
          </p:nvPr>
        </p:nvSpPr>
        <p:spPr>
          <a:xfrm>
            <a:off x="1676400" y="730253"/>
            <a:ext cx="21031200" cy="2067811"/>
          </a:xfrm>
          <a:prstGeom prst="rect">
            <a:avLst/>
          </a:prstGeom>
          <a:ln w="12700">
            <a:miter lim="400000"/>
          </a:ln>
          <a:extLst>
            <a:ext uri="{C572A759-6A51-4108-AA02-DFA0A04FC94B}">
              <ma14:wrappingTextBoxFlag xmlns:ma14="http://schemas.microsoft.com/office/mac/drawingml/2011/main" val="1"/>
            </a:ext>
          </a:extLst>
        </p:spPr>
        <p:txBody>
          <a:bodyPr lIns="45719" rIns="45719" anchor="b">
            <a:normAutofit fontScale="100000" lnSpcReduction="0"/>
          </a:bodyPr>
          <a:lstStyle/>
          <a:p>
            <a:pPr/>
            <a:r>
              <a:t>Titeltekst</a:t>
            </a:r>
          </a:p>
        </p:txBody>
      </p:sp>
      <p:sp>
        <p:nvSpPr>
          <p:cNvPr id="3" name="Hoofdtekst - niveau één…"/>
          <p:cNvSpPr txBox="1"/>
          <p:nvPr>
            <p:ph type="body" idx="1"/>
          </p:nvPr>
        </p:nvSpPr>
        <p:spPr>
          <a:xfrm>
            <a:off x="1688592" y="3069576"/>
            <a:ext cx="21031201" cy="9296401"/>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Hoofdtekst - niveau één</a:t>
            </a:r>
          </a:p>
          <a:p>
            <a:pPr lvl="1"/>
            <a:r>
              <a:t>Hoofdtekst - niveau twee</a:t>
            </a:r>
          </a:p>
          <a:p>
            <a:pPr lvl="2"/>
            <a:r>
              <a:t>Hoofdtekst - niveau drie</a:t>
            </a:r>
          </a:p>
          <a:p>
            <a:pPr lvl="3"/>
            <a:r>
              <a:t>Hoofdtekst - niveau vier</a:t>
            </a:r>
          </a:p>
          <a:p>
            <a:pPr lvl="4"/>
            <a:r>
              <a:t>Hoofdtekst - niveau vijf</a:t>
            </a:r>
          </a:p>
        </p:txBody>
      </p:sp>
      <p:pic>
        <p:nvPicPr>
          <p:cNvPr id="4" name="Afbeelding 3" descr="Afbeelding 3"/>
          <p:cNvPicPr>
            <a:picLocks noChangeAspect="1"/>
          </p:cNvPicPr>
          <p:nvPr/>
        </p:nvPicPr>
        <p:blipFill>
          <a:blip r:embed="rId2">
            <a:extLst/>
          </a:blip>
          <a:stretch>
            <a:fillRect/>
          </a:stretch>
        </p:blipFill>
        <p:spPr>
          <a:xfrm>
            <a:off x="20913394" y="12431076"/>
            <a:ext cx="3127287" cy="1354999"/>
          </a:xfrm>
          <a:prstGeom prst="rect">
            <a:avLst/>
          </a:prstGeom>
          <a:ln w="12700">
            <a:miter lim="400000"/>
          </a:ln>
        </p:spPr>
      </p:pic>
      <p:sp>
        <p:nvSpPr>
          <p:cNvPr id="5" name="Dianummer"/>
          <p:cNvSpPr txBox="1"/>
          <p:nvPr>
            <p:ph type="sldNum" sz="quarter" idx="2"/>
          </p:nvPr>
        </p:nvSpPr>
        <p:spPr>
          <a:xfrm>
            <a:off x="11785600" y="12344400"/>
            <a:ext cx="5689600" cy="7366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6900" u="none">
          <a:solidFill>
            <a:srgbClr val="E50856"/>
          </a:solidFill>
          <a:uFillTx/>
          <a:latin typeface="Avenir Next Condensed Regular"/>
          <a:ea typeface="Avenir Next Condensed Regular"/>
          <a:cs typeface="Avenir Next Condensed Regular"/>
          <a:sym typeface="Avenir Next Condensed Regular"/>
        </a:defRPr>
      </a:lvl1pPr>
      <a:lvl2pPr marL="0" marR="0" indent="0" algn="l" defTabSz="914400" rtl="0" latinLnBrk="0">
        <a:lnSpc>
          <a:spcPct val="90000"/>
        </a:lnSpc>
        <a:spcBef>
          <a:spcPts val="0"/>
        </a:spcBef>
        <a:spcAft>
          <a:spcPts val="0"/>
        </a:spcAft>
        <a:buClrTx/>
        <a:buSzTx/>
        <a:buFontTx/>
        <a:buNone/>
        <a:tabLst/>
        <a:defRPr b="0" baseline="0" cap="none" i="0" spc="0" strike="noStrike" sz="6900" u="none">
          <a:solidFill>
            <a:srgbClr val="E50856"/>
          </a:solidFill>
          <a:uFillTx/>
          <a:latin typeface="Avenir Next Condensed Regular"/>
          <a:ea typeface="Avenir Next Condensed Regular"/>
          <a:cs typeface="Avenir Next Condensed Regular"/>
          <a:sym typeface="Avenir Next Condensed Regular"/>
        </a:defRPr>
      </a:lvl2pPr>
      <a:lvl3pPr marL="0" marR="0" indent="0" algn="l" defTabSz="914400" rtl="0" latinLnBrk="0">
        <a:lnSpc>
          <a:spcPct val="90000"/>
        </a:lnSpc>
        <a:spcBef>
          <a:spcPts val="0"/>
        </a:spcBef>
        <a:spcAft>
          <a:spcPts val="0"/>
        </a:spcAft>
        <a:buClrTx/>
        <a:buSzTx/>
        <a:buFontTx/>
        <a:buNone/>
        <a:tabLst/>
        <a:defRPr b="0" baseline="0" cap="none" i="0" spc="0" strike="noStrike" sz="6900" u="none">
          <a:solidFill>
            <a:srgbClr val="E50856"/>
          </a:solidFill>
          <a:uFillTx/>
          <a:latin typeface="Avenir Next Condensed Regular"/>
          <a:ea typeface="Avenir Next Condensed Regular"/>
          <a:cs typeface="Avenir Next Condensed Regular"/>
          <a:sym typeface="Avenir Next Condensed Regular"/>
        </a:defRPr>
      </a:lvl3pPr>
      <a:lvl4pPr marL="0" marR="0" indent="0" algn="l" defTabSz="914400" rtl="0" latinLnBrk="0">
        <a:lnSpc>
          <a:spcPct val="90000"/>
        </a:lnSpc>
        <a:spcBef>
          <a:spcPts val="0"/>
        </a:spcBef>
        <a:spcAft>
          <a:spcPts val="0"/>
        </a:spcAft>
        <a:buClrTx/>
        <a:buSzTx/>
        <a:buFontTx/>
        <a:buNone/>
        <a:tabLst/>
        <a:defRPr b="0" baseline="0" cap="none" i="0" spc="0" strike="noStrike" sz="6900" u="none">
          <a:solidFill>
            <a:srgbClr val="E50856"/>
          </a:solidFill>
          <a:uFillTx/>
          <a:latin typeface="Avenir Next Condensed Regular"/>
          <a:ea typeface="Avenir Next Condensed Regular"/>
          <a:cs typeface="Avenir Next Condensed Regular"/>
          <a:sym typeface="Avenir Next Condensed Regular"/>
        </a:defRPr>
      </a:lvl4pPr>
      <a:lvl5pPr marL="0" marR="0" indent="0" algn="l" defTabSz="914400" rtl="0" latinLnBrk="0">
        <a:lnSpc>
          <a:spcPct val="90000"/>
        </a:lnSpc>
        <a:spcBef>
          <a:spcPts val="0"/>
        </a:spcBef>
        <a:spcAft>
          <a:spcPts val="0"/>
        </a:spcAft>
        <a:buClrTx/>
        <a:buSzTx/>
        <a:buFontTx/>
        <a:buNone/>
        <a:tabLst/>
        <a:defRPr b="0" baseline="0" cap="none" i="0" spc="0" strike="noStrike" sz="6900" u="none">
          <a:solidFill>
            <a:srgbClr val="E50856"/>
          </a:solidFill>
          <a:uFillTx/>
          <a:latin typeface="Avenir Next Condensed Regular"/>
          <a:ea typeface="Avenir Next Condensed Regular"/>
          <a:cs typeface="Avenir Next Condensed Regular"/>
          <a:sym typeface="Avenir Next Condensed Regular"/>
        </a:defRPr>
      </a:lvl5pPr>
      <a:lvl6pPr marL="0" marR="0" indent="0" algn="l" defTabSz="914400" rtl="0" latinLnBrk="0">
        <a:lnSpc>
          <a:spcPct val="90000"/>
        </a:lnSpc>
        <a:spcBef>
          <a:spcPts val="0"/>
        </a:spcBef>
        <a:spcAft>
          <a:spcPts val="0"/>
        </a:spcAft>
        <a:buClrTx/>
        <a:buSzTx/>
        <a:buFontTx/>
        <a:buNone/>
        <a:tabLst/>
        <a:defRPr b="0" baseline="0" cap="none" i="0" spc="0" strike="noStrike" sz="6900" u="none">
          <a:solidFill>
            <a:srgbClr val="E50856"/>
          </a:solidFill>
          <a:uFillTx/>
          <a:latin typeface="Avenir Next Condensed Regular"/>
          <a:ea typeface="Avenir Next Condensed Regular"/>
          <a:cs typeface="Avenir Next Condensed Regular"/>
          <a:sym typeface="Avenir Next Condensed Regular"/>
        </a:defRPr>
      </a:lvl6pPr>
      <a:lvl7pPr marL="0" marR="0" indent="0" algn="l" defTabSz="914400" rtl="0" latinLnBrk="0">
        <a:lnSpc>
          <a:spcPct val="90000"/>
        </a:lnSpc>
        <a:spcBef>
          <a:spcPts val="0"/>
        </a:spcBef>
        <a:spcAft>
          <a:spcPts val="0"/>
        </a:spcAft>
        <a:buClrTx/>
        <a:buSzTx/>
        <a:buFontTx/>
        <a:buNone/>
        <a:tabLst/>
        <a:defRPr b="0" baseline="0" cap="none" i="0" spc="0" strike="noStrike" sz="6900" u="none">
          <a:solidFill>
            <a:srgbClr val="E50856"/>
          </a:solidFill>
          <a:uFillTx/>
          <a:latin typeface="Avenir Next Condensed Regular"/>
          <a:ea typeface="Avenir Next Condensed Regular"/>
          <a:cs typeface="Avenir Next Condensed Regular"/>
          <a:sym typeface="Avenir Next Condensed Regular"/>
        </a:defRPr>
      </a:lvl7pPr>
      <a:lvl8pPr marL="0" marR="0" indent="0" algn="l" defTabSz="914400" rtl="0" latinLnBrk="0">
        <a:lnSpc>
          <a:spcPct val="90000"/>
        </a:lnSpc>
        <a:spcBef>
          <a:spcPts val="0"/>
        </a:spcBef>
        <a:spcAft>
          <a:spcPts val="0"/>
        </a:spcAft>
        <a:buClrTx/>
        <a:buSzTx/>
        <a:buFontTx/>
        <a:buNone/>
        <a:tabLst/>
        <a:defRPr b="0" baseline="0" cap="none" i="0" spc="0" strike="noStrike" sz="6900" u="none">
          <a:solidFill>
            <a:srgbClr val="E50856"/>
          </a:solidFill>
          <a:uFillTx/>
          <a:latin typeface="Avenir Next Condensed Regular"/>
          <a:ea typeface="Avenir Next Condensed Regular"/>
          <a:cs typeface="Avenir Next Condensed Regular"/>
          <a:sym typeface="Avenir Next Condensed Regular"/>
        </a:defRPr>
      </a:lvl8pPr>
      <a:lvl9pPr marL="0" marR="0" indent="0" algn="l" defTabSz="914400" rtl="0" latinLnBrk="0">
        <a:lnSpc>
          <a:spcPct val="90000"/>
        </a:lnSpc>
        <a:spcBef>
          <a:spcPts val="0"/>
        </a:spcBef>
        <a:spcAft>
          <a:spcPts val="0"/>
        </a:spcAft>
        <a:buClrTx/>
        <a:buSzTx/>
        <a:buFontTx/>
        <a:buNone/>
        <a:tabLst/>
        <a:defRPr b="0" baseline="0" cap="none" i="0" spc="0" strike="noStrike" sz="6900" u="none">
          <a:solidFill>
            <a:srgbClr val="E50856"/>
          </a:solidFill>
          <a:uFillTx/>
          <a:latin typeface="Avenir Next Condensed Regular"/>
          <a:ea typeface="Avenir Next Condensed Regular"/>
          <a:cs typeface="Avenir Next Condensed Regular"/>
          <a:sym typeface="Avenir Next Condensed Regular"/>
        </a:defRPr>
      </a:lvl9pPr>
    </p:titleStyle>
    <p:bodyStyle>
      <a:lvl1pPr marL="0" marR="0" indent="0" algn="l" defTabSz="914400" rtl="0" latinLnBrk="0">
        <a:lnSpc>
          <a:spcPct val="80000"/>
        </a:lnSpc>
        <a:spcBef>
          <a:spcPts val="1000"/>
        </a:spcBef>
        <a:spcAft>
          <a:spcPts val="0"/>
        </a:spcAft>
        <a:buClrTx/>
        <a:buSzTx/>
        <a:buFontTx/>
        <a:buNone/>
        <a:tabLst/>
        <a:defRPr b="0" baseline="0" cap="none" i="0" spc="0" strike="noStrike" sz="3800" u="none">
          <a:solidFill>
            <a:srgbClr val="000000"/>
          </a:solidFill>
          <a:uFillTx/>
          <a:latin typeface="Arial"/>
          <a:ea typeface="Arial"/>
          <a:cs typeface="Arial"/>
          <a:sym typeface="Arial"/>
        </a:defRPr>
      </a:lvl1pPr>
      <a:lvl2pPr marL="732699" marR="0" indent="-241300" algn="l" defTabSz="914400" rtl="0" latinLnBrk="0">
        <a:lnSpc>
          <a:spcPct val="80000"/>
        </a:lnSpc>
        <a:spcBef>
          <a:spcPts val="1000"/>
        </a:spcBef>
        <a:spcAft>
          <a:spcPts val="0"/>
        </a:spcAft>
        <a:buClrTx/>
        <a:buSzPct val="100000"/>
        <a:buFontTx/>
        <a:buChar char="•"/>
        <a:tabLst/>
        <a:defRPr b="0" baseline="0" cap="none" i="0" spc="0" strike="noStrike" sz="3800" u="none">
          <a:solidFill>
            <a:srgbClr val="000000"/>
          </a:solidFill>
          <a:uFillTx/>
          <a:latin typeface="Arial"/>
          <a:ea typeface="Arial"/>
          <a:cs typeface="Arial"/>
          <a:sym typeface="Arial"/>
        </a:defRPr>
      </a:lvl2pPr>
      <a:lvl3pPr marL="1122862" marR="0" indent="-271462" algn="l" defTabSz="914400" rtl="0" latinLnBrk="0">
        <a:lnSpc>
          <a:spcPct val="80000"/>
        </a:lnSpc>
        <a:spcBef>
          <a:spcPts val="1000"/>
        </a:spcBef>
        <a:spcAft>
          <a:spcPts val="0"/>
        </a:spcAft>
        <a:buClrTx/>
        <a:buSzPct val="100000"/>
        <a:buFontTx/>
        <a:buChar char="•"/>
        <a:tabLst/>
        <a:defRPr b="0" baseline="0" cap="none" i="0" spc="0" strike="noStrike" sz="3800" u="none">
          <a:solidFill>
            <a:srgbClr val="000000"/>
          </a:solidFill>
          <a:uFillTx/>
          <a:latin typeface="Arial"/>
          <a:ea typeface="Arial"/>
          <a:cs typeface="Arial"/>
          <a:sym typeface="Arial"/>
        </a:defRPr>
      </a:lvl3pPr>
      <a:lvl4pPr marL="1701642" marR="0" indent="-310242" algn="l" defTabSz="914400" rtl="0" latinLnBrk="0">
        <a:lnSpc>
          <a:spcPct val="80000"/>
        </a:lnSpc>
        <a:spcBef>
          <a:spcPts val="1000"/>
        </a:spcBef>
        <a:spcAft>
          <a:spcPts val="0"/>
        </a:spcAft>
        <a:buClrTx/>
        <a:buSzPct val="100000"/>
        <a:buFontTx/>
        <a:buChar char="•"/>
        <a:tabLst/>
        <a:defRPr b="0" baseline="0" cap="none" i="0" spc="0" strike="noStrike" sz="3800" u="none">
          <a:solidFill>
            <a:srgbClr val="000000"/>
          </a:solidFill>
          <a:uFillTx/>
          <a:latin typeface="Arial"/>
          <a:ea typeface="Arial"/>
          <a:cs typeface="Arial"/>
          <a:sym typeface="Arial"/>
        </a:defRPr>
      </a:lvl4pPr>
      <a:lvl5pPr marL="2151642" marR="0" indent="-310242" algn="l" defTabSz="914400" rtl="0" latinLnBrk="0">
        <a:lnSpc>
          <a:spcPct val="80000"/>
        </a:lnSpc>
        <a:spcBef>
          <a:spcPts val="1000"/>
        </a:spcBef>
        <a:spcAft>
          <a:spcPts val="0"/>
        </a:spcAft>
        <a:buClrTx/>
        <a:buSzPct val="100000"/>
        <a:buFontTx/>
        <a:buChar char="•"/>
        <a:tabLst/>
        <a:defRPr b="0" baseline="0" cap="none" i="0" spc="0" strike="noStrike" sz="3800" u="none">
          <a:solidFill>
            <a:srgbClr val="000000"/>
          </a:solidFill>
          <a:uFillTx/>
          <a:latin typeface="Arial"/>
          <a:ea typeface="Arial"/>
          <a:cs typeface="Arial"/>
          <a:sym typeface="Arial"/>
        </a:defRPr>
      </a:lvl5pPr>
      <a:lvl6pPr marL="2768600" marR="0" indent="-482600" algn="l" defTabSz="914400" rtl="0" latinLnBrk="0">
        <a:lnSpc>
          <a:spcPct val="80000"/>
        </a:lnSpc>
        <a:spcBef>
          <a:spcPts val="1000"/>
        </a:spcBef>
        <a:spcAft>
          <a:spcPts val="0"/>
        </a:spcAft>
        <a:buClrTx/>
        <a:buSzPct val="100000"/>
        <a:buFontTx/>
        <a:buChar char="•"/>
        <a:tabLst/>
        <a:defRPr b="0" baseline="0" cap="none" i="0" spc="0" strike="noStrike" sz="3800" u="none">
          <a:solidFill>
            <a:srgbClr val="000000"/>
          </a:solidFill>
          <a:uFillTx/>
          <a:latin typeface="Arial"/>
          <a:ea typeface="Arial"/>
          <a:cs typeface="Arial"/>
          <a:sym typeface="Arial"/>
        </a:defRPr>
      </a:lvl6pPr>
      <a:lvl7pPr marL="3225800" marR="0" indent="-482600" algn="l" defTabSz="914400" rtl="0" latinLnBrk="0">
        <a:lnSpc>
          <a:spcPct val="80000"/>
        </a:lnSpc>
        <a:spcBef>
          <a:spcPts val="1000"/>
        </a:spcBef>
        <a:spcAft>
          <a:spcPts val="0"/>
        </a:spcAft>
        <a:buClrTx/>
        <a:buSzPct val="100000"/>
        <a:buFontTx/>
        <a:buChar char="•"/>
        <a:tabLst/>
        <a:defRPr b="0" baseline="0" cap="none" i="0" spc="0" strike="noStrike" sz="3800" u="none">
          <a:solidFill>
            <a:srgbClr val="000000"/>
          </a:solidFill>
          <a:uFillTx/>
          <a:latin typeface="Arial"/>
          <a:ea typeface="Arial"/>
          <a:cs typeface="Arial"/>
          <a:sym typeface="Arial"/>
        </a:defRPr>
      </a:lvl7pPr>
      <a:lvl8pPr marL="3683000" marR="0" indent="-482600" algn="l" defTabSz="914400" rtl="0" latinLnBrk="0">
        <a:lnSpc>
          <a:spcPct val="80000"/>
        </a:lnSpc>
        <a:spcBef>
          <a:spcPts val="1000"/>
        </a:spcBef>
        <a:spcAft>
          <a:spcPts val="0"/>
        </a:spcAft>
        <a:buClrTx/>
        <a:buSzPct val="100000"/>
        <a:buFontTx/>
        <a:buChar char="•"/>
        <a:tabLst/>
        <a:defRPr b="0" baseline="0" cap="none" i="0" spc="0" strike="noStrike" sz="3800" u="none">
          <a:solidFill>
            <a:srgbClr val="000000"/>
          </a:solidFill>
          <a:uFillTx/>
          <a:latin typeface="Arial"/>
          <a:ea typeface="Arial"/>
          <a:cs typeface="Arial"/>
          <a:sym typeface="Arial"/>
        </a:defRPr>
      </a:lvl8pPr>
      <a:lvl9pPr marL="4140200" marR="0" indent="-482600" algn="l" defTabSz="914400" rtl="0" latinLnBrk="0">
        <a:lnSpc>
          <a:spcPct val="80000"/>
        </a:lnSpc>
        <a:spcBef>
          <a:spcPts val="1000"/>
        </a:spcBef>
        <a:spcAft>
          <a:spcPts val="0"/>
        </a:spcAft>
        <a:buClrTx/>
        <a:buSzPct val="100000"/>
        <a:buFontTx/>
        <a:buChar char="•"/>
        <a:tabLst/>
        <a:defRPr b="0" baseline="0" cap="none" i="0" spc="0" strike="noStrike" sz="3800" u="none">
          <a:solidFill>
            <a:srgbClr val="000000"/>
          </a:solidFill>
          <a:uFillTx/>
          <a:latin typeface="Arial"/>
          <a:ea typeface="Arial"/>
          <a:cs typeface="Arial"/>
          <a:sym typeface="Arial"/>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adafruit/DHT-sensor-library/blob/master/examples/DHTtester/DHTtester.ino" TargetMode="External"/></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2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2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2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2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3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3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3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33.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3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4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4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4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43.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45.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47.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4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5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5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52.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5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5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56.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6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64.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71.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1" name="Tijdelijke aanduiding voor tekst 1"/>
          <p:cNvSpPr txBox="1"/>
          <p:nvPr>
            <p:ph type="body" sz="quarter" idx="1"/>
          </p:nvPr>
        </p:nvSpPr>
        <p:spPr>
          <a:prstGeom prst="rect">
            <a:avLst/>
          </a:prstGeom>
        </p:spPr>
        <p:txBody>
          <a:bodyPr/>
          <a:lstStyle/>
          <a:p>
            <a:pPr/>
            <a:r>
              <a:t>Workshop on Commenting</a:t>
            </a:r>
          </a:p>
        </p:txBody>
      </p:sp>
      <p:sp>
        <p:nvSpPr>
          <p:cNvPr id="92" name="Tijdelijke aanduiding voor tekst 2"/>
          <p:cNvSpPr/>
          <p:nvPr>
            <p:ph type="body" idx="21"/>
          </p:nvPr>
        </p:nvSpPr>
        <p:spPr>
          <a:prstGeom prst="rect">
            <a:avLst/>
          </a:prstGeom>
          <a:extLst>
            <a:ext uri="{C572A759-6A51-4108-AA02-DFA0A04FC94B}">
              <ma14:wrappingTextBoxFlag xmlns:ma14="http://schemas.microsoft.com/office/mac/drawingml/2011/main" val="1"/>
            </a:ext>
          </a:extLst>
        </p:spPr>
        <p:txBody>
          <a:bodyPr/>
          <a:lstStyle/>
          <a:p>
            <a:pPr lvl="1" marL="0" indent="457200">
              <a:buSzTx/>
              <a:buNone/>
              <a:defRPr sz="5200">
                <a:solidFill>
                  <a:srgbClr val="E50856"/>
                </a:solidFill>
                <a:latin typeface="Avenir Next Condensed Regular"/>
                <a:ea typeface="Avenir Next Condensed Regular"/>
                <a:cs typeface="Avenir Next Condensed Regular"/>
                <a:sym typeface="Avenir Next Condensed Regular"/>
              </a:defRPr>
            </a:pPr>
            <a:r>
              <a:t>Programming 6</a:t>
            </a:r>
          </a:p>
        </p:txBody>
      </p:sp>
      <p:sp>
        <p:nvSpPr>
          <p:cNvPr id="93" name="Tijdelijke aanduiding voor tekst 3"/>
          <p:cNvSpPr/>
          <p:nvPr>
            <p:ph type="body" idx="22"/>
          </p:nvPr>
        </p:nvSpPr>
        <p:spPr>
          <a:prstGeom prst="rect">
            <a:avLst/>
          </a:prstGeom>
        </p:spPr>
        <p:txBody>
          <a:bodyPr/>
          <a:lstStyle/>
          <a:p>
            <a:pPr indent="131399">
              <a:defRPr b="1" sz="13900">
                <a:latin typeface="Avenir Next Condensed Regular"/>
                <a:ea typeface="Avenir Next Condensed Regular"/>
                <a:cs typeface="Avenir Next Condensed Regular"/>
                <a:sym typeface="Avenir Next Condensed Regular"/>
              </a:defRPr>
            </a:pPr>
          </a:p>
        </p:txBody>
      </p:sp>
      <p:sp>
        <p:nvSpPr>
          <p:cNvPr id="94" name="Tijdelijke aanduiding voor tekst 1"/>
          <p:cNvSpPr txBox="1"/>
          <p:nvPr/>
        </p:nvSpPr>
        <p:spPr>
          <a:xfrm>
            <a:off x="1800225" y="11121881"/>
            <a:ext cx="20828000" cy="16097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lnSpc>
                <a:spcPct val="80000"/>
              </a:lnSpc>
              <a:spcBef>
                <a:spcPts val="1000"/>
              </a:spcBef>
              <a:defRPr sz="3000">
                <a:latin typeface="Avenir Next Condensed Regular"/>
                <a:ea typeface="Avenir Next Condensed Regular"/>
                <a:cs typeface="Avenir Next Condensed Regular"/>
                <a:sym typeface="Avenir Next Condensed Regular"/>
              </a:defRPr>
            </a:pPr>
            <a:r>
              <a:t>johan.korten@han.nl </a:t>
            </a:r>
          </a:p>
          <a:p>
            <a:pPr>
              <a:lnSpc>
                <a:spcPct val="80000"/>
              </a:lnSpc>
              <a:spcBef>
                <a:spcPts val="1000"/>
              </a:spcBef>
              <a:defRPr sz="3000">
                <a:latin typeface="Avenir Next Condensed Regular"/>
                <a:ea typeface="Avenir Next Condensed Regular"/>
                <a:cs typeface="Avenir Next Condensed Regular"/>
                <a:sym typeface="Avenir Next Condensed Regular"/>
              </a:defRPr>
            </a:pPr>
            <a:r>
              <a:t>V1.0 Nov 2025</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6" name="Workshop Topics overview"/>
          <p:cNvSpPr txBox="1"/>
          <p:nvPr>
            <p:ph type="title"/>
          </p:nvPr>
        </p:nvSpPr>
        <p:spPr>
          <a:prstGeom prst="rect">
            <a:avLst/>
          </a:prstGeom>
        </p:spPr>
        <p:txBody>
          <a:bodyPr/>
          <a:lstStyle/>
          <a:p>
            <a:pPr/>
            <a:r>
              <a:t>Workshop Topics overview</a:t>
            </a:r>
          </a:p>
        </p:txBody>
      </p:sp>
      <p:sp>
        <p:nvSpPr>
          <p:cNvPr id="97" name="Clean code (beyond SOLID)…"/>
          <p:cNvSpPr txBox="1"/>
          <p:nvPr>
            <p:ph type="body" idx="1"/>
          </p:nvPr>
        </p:nvSpPr>
        <p:spPr>
          <a:xfrm>
            <a:off x="1688592" y="3069576"/>
            <a:ext cx="21824355" cy="9296401"/>
          </a:xfrm>
          <a:prstGeom prst="rect">
            <a:avLst/>
          </a:prstGeom>
        </p:spPr>
        <p:txBody>
          <a:bodyPr/>
          <a:lstStyle/>
          <a:p>
            <a:pPr>
              <a:lnSpc>
                <a:spcPct val="120000"/>
              </a:lnSpc>
            </a:pPr>
            <a:r>
              <a:t>Clean code (beyond SOLID)</a:t>
            </a:r>
          </a:p>
          <a:p>
            <a:pPr>
              <a:lnSpc>
                <a:spcPct val="120000"/>
              </a:lnSpc>
            </a:pPr>
            <a:r>
              <a:t>CMake</a:t>
            </a:r>
          </a:p>
          <a:p>
            <a:pPr>
              <a:lnSpc>
                <a:spcPct val="120000"/>
              </a:lnSpc>
            </a:pPr>
            <a:r>
              <a:t>Unit testing</a:t>
            </a:r>
          </a:p>
          <a:p>
            <a:pPr>
              <a:lnSpc>
                <a:spcPct val="120000"/>
              </a:lnSpc>
              <a:defRPr b="1"/>
            </a:pPr>
            <a:r>
              <a:t>Commenting</a:t>
            </a:r>
          </a:p>
          <a:p>
            <a:pPr>
              <a:lnSpc>
                <a:spcPct val="120000"/>
              </a:lnSpc>
            </a:pPr>
            <a:r>
              <a:t>Patterns (Clean architecture)</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9" name="Overview of Today’s Topics"/>
          <p:cNvSpPr txBox="1"/>
          <p:nvPr>
            <p:ph type="title"/>
          </p:nvPr>
        </p:nvSpPr>
        <p:spPr>
          <a:prstGeom prst="rect">
            <a:avLst/>
          </a:prstGeom>
        </p:spPr>
        <p:txBody>
          <a:bodyPr/>
          <a:lstStyle/>
          <a:p>
            <a:pPr/>
            <a:r>
              <a:t>Overview of Today’s Topics</a:t>
            </a:r>
          </a:p>
        </p:txBody>
      </p:sp>
      <p:sp>
        <p:nvSpPr>
          <p:cNvPr id="100" name="- The self-documenting code debate…"/>
          <p:cNvSpPr txBox="1"/>
          <p:nvPr>
            <p:ph type="body" idx="1"/>
          </p:nvPr>
        </p:nvSpPr>
        <p:spPr>
          <a:xfrm>
            <a:off x="1688592" y="3069576"/>
            <a:ext cx="21824355" cy="9296401"/>
          </a:xfrm>
          <a:prstGeom prst="rect">
            <a:avLst/>
          </a:prstGeom>
        </p:spPr>
        <p:txBody>
          <a:bodyPr/>
          <a:lstStyle/>
          <a:p>
            <a:pPr>
              <a:lnSpc>
                <a:spcPct val="120000"/>
              </a:lnSpc>
            </a:pPr>
            <a:r>
              <a:t>- The self-documenting code debate</a:t>
            </a:r>
          </a:p>
          <a:p>
            <a:pPr>
              <a:lnSpc>
                <a:spcPct val="120000"/>
              </a:lnSpc>
            </a:pPr>
            <a:r>
              <a:t>- The "why" of commenting</a:t>
            </a:r>
          </a:p>
          <a:p>
            <a:pPr>
              <a:lnSpc>
                <a:spcPct val="120000"/>
              </a:lnSpc>
            </a:pPr>
            <a:r>
              <a:t>- Different levels of documentation</a:t>
            </a:r>
          </a:p>
          <a:p>
            <a:pPr>
              <a:lnSpc>
                <a:spcPct val="120000"/>
              </a:lnSpc>
            </a:pPr>
            <a:r>
              <a:t>- Practical exercises</a:t>
            </a:r>
          </a:p>
          <a:p>
            <a:pPr>
              <a:lnSpc>
                <a:spcPct val="120000"/>
              </a:lnSpc>
            </a:pPr>
            <a:r>
              <a:t>- The role of AI in commenting and documenting</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2" name="Reasons why we don’t comment"/>
          <p:cNvSpPr txBox="1"/>
          <p:nvPr>
            <p:ph type="title"/>
          </p:nvPr>
        </p:nvSpPr>
        <p:spPr>
          <a:prstGeom prst="rect">
            <a:avLst/>
          </a:prstGeom>
        </p:spPr>
        <p:txBody>
          <a:bodyPr/>
          <a:lstStyle/>
          <a:p>
            <a:pPr/>
            <a:r>
              <a:t>Reasons why we don’t comment</a:t>
            </a:r>
          </a:p>
        </p:txBody>
      </p:sp>
      <p:sp>
        <p:nvSpPr>
          <p:cNvPr id="103" name="- Good code is self-documenting…"/>
          <p:cNvSpPr txBox="1"/>
          <p:nvPr>
            <p:ph type="body" idx="1"/>
          </p:nvPr>
        </p:nvSpPr>
        <p:spPr>
          <a:xfrm>
            <a:off x="1688592" y="3069576"/>
            <a:ext cx="21824355" cy="9296401"/>
          </a:xfrm>
          <a:prstGeom prst="rect">
            <a:avLst/>
          </a:prstGeom>
        </p:spPr>
        <p:txBody>
          <a:bodyPr/>
          <a:lstStyle/>
          <a:p>
            <a:pPr>
              <a:lnSpc>
                <a:spcPct val="120000"/>
              </a:lnSpc>
              <a:defRPr b="1"/>
            </a:pPr>
            <a:r>
              <a:t>- Good code is self-documenting</a:t>
            </a:r>
          </a:p>
          <a:p>
            <a:pPr>
              <a:lnSpc>
                <a:spcPct val="120000"/>
              </a:lnSpc>
            </a:pPr>
            <a:r>
              <a:t>- Commenting takes up too much of our time</a:t>
            </a:r>
          </a:p>
          <a:p>
            <a:pPr>
              <a:lnSpc>
                <a:spcPct val="120000"/>
              </a:lnSpc>
            </a:pPr>
            <a:r>
              <a:t>- Comments become out of date and become misleading</a:t>
            </a:r>
          </a:p>
          <a:p>
            <a:pPr>
              <a:lnSpc>
                <a:spcPct val="120000"/>
              </a:lnSpc>
            </a:pPr>
            <a:r>
              <a:t>- Most comments I have seen are all worthless so why bother</a:t>
            </a:r>
          </a:p>
          <a:p>
            <a:pPr>
              <a:lnSpc>
                <a:spcPct val="120000"/>
              </a:lnSpc>
            </a:pPr>
          </a:p>
          <a:p>
            <a:pPr>
              <a:lnSpc>
                <a:spcPct val="120000"/>
              </a:lnSpc>
            </a:pPr>
            <a:r>
              <a:t>John Ousterhout (2022)</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5" name="Remember: Reading code"/>
          <p:cNvSpPr txBox="1"/>
          <p:nvPr>
            <p:ph type="title"/>
          </p:nvPr>
        </p:nvSpPr>
        <p:spPr>
          <a:prstGeom prst="rect">
            <a:avLst/>
          </a:prstGeom>
        </p:spPr>
        <p:txBody>
          <a:bodyPr/>
          <a:lstStyle/>
          <a:p>
            <a:pPr/>
            <a:r>
              <a:t>Remember: Reading code</a:t>
            </a:r>
          </a:p>
        </p:txBody>
      </p:sp>
      <p:sp>
        <p:nvSpPr>
          <p:cNvPr id="106" name="&quot;Indeed, the ratio of time spent reading versus writing is well over 10 to 1. We are constantly reading old code as part of the effort to write new code.”…"/>
          <p:cNvSpPr txBox="1"/>
          <p:nvPr>
            <p:ph type="body" idx="1"/>
          </p:nvPr>
        </p:nvSpPr>
        <p:spPr>
          <a:xfrm>
            <a:off x="1688592" y="3069576"/>
            <a:ext cx="21824355" cy="9296401"/>
          </a:xfrm>
          <a:prstGeom prst="rect">
            <a:avLst/>
          </a:prstGeom>
        </p:spPr>
        <p:txBody>
          <a:bodyPr/>
          <a:lstStyle/>
          <a:p>
            <a:pPr>
              <a:lnSpc>
                <a:spcPct val="120000"/>
              </a:lnSpc>
            </a:pPr>
            <a:r>
              <a:t>"Indeed, the ratio of time spent reading versus writing is well over 10 to 1. We are constantly reading old code as part of the effort to write new code.”</a:t>
            </a:r>
          </a:p>
          <a:p>
            <a:pPr>
              <a:lnSpc>
                <a:spcPct val="120000"/>
              </a:lnSpc>
            </a:pPr>
          </a:p>
          <a:p>
            <a:pPr>
              <a:lnSpc>
                <a:spcPct val="120000"/>
              </a:lnSpc>
            </a:pPr>
            <a:r>
              <a:t>Robert C. Martin (2008)</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0" name="What the heck is this code…?!"/>
          <p:cNvSpPr txBox="1"/>
          <p:nvPr>
            <p:ph type="title"/>
          </p:nvPr>
        </p:nvSpPr>
        <p:spPr>
          <a:prstGeom prst="rect">
            <a:avLst/>
          </a:prstGeom>
        </p:spPr>
        <p:txBody>
          <a:bodyPr/>
          <a:lstStyle/>
          <a:p>
            <a:pPr/>
            <a:r>
              <a:t>What the heck is this code…?!</a:t>
            </a:r>
          </a:p>
        </p:txBody>
      </p:sp>
      <p:sp>
        <p:nvSpPr>
          <p:cNvPr id="111" name="- What are h, t, f, hif and hic?"/>
          <p:cNvSpPr txBox="1"/>
          <p:nvPr>
            <p:ph type="body" idx="1"/>
          </p:nvPr>
        </p:nvSpPr>
        <p:spPr>
          <a:xfrm>
            <a:off x="1688592" y="3069576"/>
            <a:ext cx="21824355" cy="9296401"/>
          </a:xfrm>
          <a:prstGeom prst="rect">
            <a:avLst/>
          </a:prstGeom>
        </p:spPr>
        <p:txBody>
          <a:bodyPr/>
          <a:lstStyle/>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r>
              <a:t>- What are h, t, f, hif and hic?</a:t>
            </a:r>
          </a:p>
        </p:txBody>
      </p:sp>
      <p:pic>
        <p:nvPicPr>
          <p:cNvPr id="112" name="geplakte-film.png" descr="geplakte-film.png"/>
          <p:cNvPicPr>
            <a:picLocks noChangeAspect="1"/>
          </p:cNvPicPr>
          <p:nvPr/>
        </p:nvPicPr>
        <p:blipFill>
          <a:blip r:embed="rId3">
            <a:extLst/>
          </a:blip>
          <a:stretch>
            <a:fillRect/>
          </a:stretch>
        </p:blipFill>
        <p:spPr>
          <a:xfrm>
            <a:off x="1689386" y="3115546"/>
            <a:ext cx="13652501" cy="3352801"/>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6" name="What the heck is this code…?!"/>
          <p:cNvSpPr txBox="1"/>
          <p:nvPr>
            <p:ph type="title"/>
          </p:nvPr>
        </p:nvSpPr>
        <p:spPr>
          <a:prstGeom prst="rect">
            <a:avLst/>
          </a:prstGeom>
        </p:spPr>
        <p:txBody>
          <a:bodyPr/>
          <a:lstStyle/>
          <a:p>
            <a:pPr/>
            <a:r>
              <a:t>What the heck is this code…?!</a:t>
            </a:r>
          </a:p>
        </p:txBody>
      </p:sp>
      <p:sp>
        <p:nvSpPr>
          <p:cNvPr id="117" name="- What are h, t, f, hif and hic?…"/>
          <p:cNvSpPr txBox="1"/>
          <p:nvPr>
            <p:ph type="body" idx="1"/>
          </p:nvPr>
        </p:nvSpPr>
        <p:spPr>
          <a:xfrm>
            <a:off x="1688592" y="3069576"/>
            <a:ext cx="21824355" cy="9296401"/>
          </a:xfrm>
          <a:prstGeom prst="rect">
            <a:avLst/>
          </a:prstGeom>
        </p:spPr>
        <p:txBody>
          <a:bodyPr/>
          <a:lstStyle/>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r>
              <a:t>- What are h, t, f, hif and hic?</a:t>
            </a:r>
          </a:p>
          <a:p>
            <a:pPr>
              <a:lnSpc>
                <a:spcPct val="120000"/>
              </a:lnSpc>
            </a:pPr>
            <a:r>
              <a:t>- How do you know?</a:t>
            </a:r>
          </a:p>
        </p:txBody>
      </p:sp>
      <p:pic>
        <p:nvPicPr>
          <p:cNvPr id="118" name="geplakte-film.png" descr="geplakte-film.png"/>
          <p:cNvPicPr>
            <a:picLocks noChangeAspect="1"/>
          </p:cNvPicPr>
          <p:nvPr/>
        </p:nvPicPr>
        <p:blipFill>
          <a:blip r:embed="rId3">
            <a:extLst/>
          </a:blip>
          <a:stretch>
            <a:fillRect/>
          </a:stretch>
        </p:blipFill>
        <p:spPr>
          <a:xfrm>
            <a:off x="1689386" y="3115546"/>
            <a:ext cx="13652501" cy="3352801"/>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2" name="What the heck is this code…?!"/>
          <p:cNvSpPr txBox="1"/>
          <p:nvPr>
            <p:ph type="title"/>
          </p:nvPr>
        </p:nvSpPr>
        <p:spPr>
          <a:prstGeom prst="rect">
            <a:avLst/>
          </a:prstGeom>
        </p:spPr>
        <p:txBody>
          <a:bodyPr/>
          <a:lstStyle/>
          <a:p>
            <a:pPr/>
            <a:r>
              <a:t>What the heck is this code…?!</a:t>
            </a:r>
          </a:p>
        </p:txBody>
      </p:sp>
      <p:sp>
        <p:nvSpPr>
          <p:cNvPr id="123" name="- What are h, t, f, hif and hic?…"/>
          <p:cNvSpPr txBox="1"/>
          <p:nvPr>
            <p:ph type="body" idx="1"/>
          </p:nvPr>
        </p:nvSpPr>
        <p:spPr>
          <a:xfrm>
            <a:off x="1688592" y="3069576"/>
            <a:ext cx="21824355" cy="9296401"/>
          </a:xfrm>
          <a:prstGeom prst="rect">
            <a:avLst/>
          </a:prstGeom>
        </p:spPr>
        <p:txBody>
          <a:bodyPr/>
          <a:lstStyle/>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r>
              <a:t>- What are h, t, f, hif and hic?</a:t>
            </a:r>
          </a:p>
          <a:p>
            <a:pPr>
              <a:lnSpc>
                <a:spcPct val="120000"/>
              </a:lnSpc>
            </a:pPr>
            <a:r>
              <a:t>- How do you know?</a:t>
            </a:r>
          </a:p>
          <a:p>
            <a:pPr>
              <a:lnSpc>
                <a:spcPct val="120000"/>
              </a:lnSpc>
            </a:pPr>
            <a:r>
              <a:t>- Now imagine you're debugging this at 2 AM, six months from now, in a project with three different sensors. Still confident about what </a:t>
            </a:r>
            <a:r>
              <a:rPr i="1"/>
              <a:t>h </a:t>
            </a:r>
            <a:r>
              <a:t>means?</a:t>
            </a:r>
          </a:p>
          <a:p>
            <a:pPr>
              <a:lnSpc>
                <a:spcPct val="120000"/>
              </a:lnSpc>
            </a:pPr>
            <a:r>
              <a:t>- What if this is running on a medical device and someone needs to verify what's being measured? Do they have to guess that </a:t>
            </a:r>
            <a:r>
              <a:rPr i="1"/>
              <a:t>f</a:t>
            </a:r>
            <a:r>
              <a:t> is Fahrenheit, or should the code tell them?</a:t>
            </a:r>
          </a:p>
        </p:txBody>
      </p:sp>
      <p:pic>
        <p:nvPicPr>
          <p:cNvPr id="124" name="geplakte-film.png" descr="geplakte-film.png"/>
          <p:cNvPicPr>
            <a:picLocks noChangeAspect="1"/>
          </p:cNvPicPr>
          <p:nvPr/>
        </p:nvPicPr>
        <p:blipFill>
          <a:blip r:embed="rId3">
            <a:extLst/>
          </a:blip>
          <a:stretch>
            <a:fillRect/>
          </a:stretch>
        </p:blipFill>
        <p:spPr>
          <a:xfrm>
            <a:off x="1689386" y="3115546"/>
            <a:ext cx="13652501" cy="3352801"/>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8" name="What the heck is this code…?!"/>
          <p:cNvSpPr txBox="1"/>
          <p:nvPr>
            <p:ph type="title"/>
          </p:nvPr>
        </p:nvSpPr>
        <p:spPr>
          <a:prstGeom prst="rect">
            <a:avLst/>
          </a:prstGeom>
        </p:spPr>
        <p:txBody>
          <a:bodyPr/>
          <a:lstStyle/>
          <a:p>
            <a:pPr/>
            <a:r>
              <a:t>What the heck is this code…?!</a:t>
            </a:r>
          </a:p>
        </p:txBody>
      </p:sp>
      <p:sp>
        <p:nvSpPr>
          <p:cNvPr id="129" name="Two confessions:…"/>
          <p:cNvSpPr txBox="1"/>
          <p:nvPr>
            <p:ph type="body" idx="1"/>
          </p:nvPr>
        </p:nvSpPr>
        <p:spPr>
          <a:xfrm>
            <a:off x="1688592" y="3069576"/>
            <a:ext cx="21824355" cy="9296401"/>
          </a:xfrm>
          <a:prstGeom prst="rect">
            <a:avLst/>
          </a:prstGeom>
        </p:spPr>
        <p:txBody>
          <a:bodyPr/>
          <a:lstStyle/>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r>
              <a:t>Two confessions:</a:t>
            </a:r>
          </a:p>
          <a:p>
            <a:pPr>
              <a:lnSpc>
                <a:spcPct val="120000"/>
              </a:lnSpc>
            </a:pPr>
            <a:r>
              <a:t>- I tricked you a little bit, this is the actual code</a:t>
            </a:r>
          </a:p>
          <a:p>
            <a:pPr>
              <a:lnSpc>
                <a:spcPct val="120000"/>
              </a:lnSpc>
            </a:pPr>
            <a:r>
              <a:t>- I did remove the comments and the final output</a:t>
            </a:r>
          </a:p>
        </p:txBody>
      </p:sp>
      <p:pic>
        <p:nvPicPr>
          <p:cNvPr id="130" name="geplakte-film.png" descr="geplakte-film.png"/>
          <p:cNvPicPr>
            <a:picLocks noChangeAspect="1"/>
          </p:cNvPicPr>
          <p:nvPr/>
        </p:nvPicPr>
        <p:blipFill>
          <a:blip r:embed="rId3">
            <a:extLst/>
          </a:blip>
          <a:stretch>
            <a:fillRect/>
          </a:stretch>
        </p:blipFill>
        <p:spPr>
          <a:xfrm>
            <a:off x="1689386" y="3118494"/>
            <a:ext cx="13652501" cy="6667501"/>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4" name="What the heck is this code…?!"/>
          <p:cNvSpPr txBox="1"/>
          <p:nvPr>
            <p:ph type="title"/>
          </p:nvPr>
        </p:nvSpPr>
        <p:spPr>
          <a:prstGeom prst="rect">
            <a:avLst/>
          </a:prstGeom>
        </p:spPr>
        <p:txBody>
          <a:bodyPr/>
          <a:lstStyle/>
          <a:p>
            <a:pPr/>
            <a:r>
              <a:t>What the heck is this code…?!</a:t>
            </a:r>
          </a:p>
        </p:txBody>
      </p:sp>
      <p:sp>
        <p:nvSpPr>
          <p:cNvPr id="135" name="Let’s have a look at this code:…"/>
          <p:cNvSpPr txBox="1"/>
          <p:nvPr>
            <p:ph type="body" idx="1"/>
          </p:nvPr>
        </p:nvSpPr>
        <p:spPr>
          <a:xfrm>
            <a:off x="1688592" y="3069576"/>
            <a:ext cx="21824355" cy="9296401"/>
          </a:xfrm>
          <a:prstGeom prst="rect">
            <a:avLst/>
          </a:prstGeom>
        </p:spPr>
        <p:txBody>
          <a:bodyPr/>
          <a:lstStyle/>
          <a:p>
            <a:pPr>
              <a:lnSpc>
                <a:spcPct val="120000"/>
              </a:lnSpc>
            </a:pPr>
            <a:r>
              <a:t>Let’s have a look at this code:</a:t>
            </a:r>
          </a:p>
          <a:p>
            <a:pPr>
              <a:lnSpc>
                <a:spcPct val="120000"/>
              </a:lnSpc>
            </a:pPr>
            <a:r>
              <a:rPr u="sng">
                <a:solidFill>
                  <a:srgbClr val="0563C1"/>
                </a:solidFill>
                <a:uFill>
                  <a:solidFill>
                    <a:srgbClr val="0563C1"/>
                  </a:solidFill>
                </a:uFill>
                <a:hlinkClick r:id="rId2" invalidUrl="" action="" tgtFrame="" tooltip="" history="1" highlightClick="0" endSnd="0"/>
              </a:rPr>
              <a:t>https://github.com/adafruit/DHT-sensor-library/blob/master/examples/DHTtester/DHTtester.ino</a:t>
            </a:r>
          </a:p>
          <a:p>
            <a:pPr>
              <a:lnSpc>
                <a:spcPct val="120000"/>
              </a:lnSpc>
            </a:pPr>
          </a:p>
          <a:p>
            <a:pPr>
              <a:lnSpc>
                <a:spcPct val="120000"/>
              </a:lnSpc>
            </a:pPr>
            <a:r>
              <a:t>Ok we are the ‘lucky’ few who can fairly easily read this code because we happen to know the sensor etc.</a:t>
            </a:r>
          </a:p>
          <a:p>
            <a:pPr>
              <a:lnSpc>
                <a:spcPct val="120000"/>
              </a:lnSpc>
            </a:pPr>
          </a:p>
          <a:p>
            <a:pPr>
              <a:lnSpc>
                <a:spcPct val="120000"/>
              </a:lnSpc>
            </a:pPr>
            <a:r>
              <a:t>(See also our Repo / DHTtester.ino)</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7" name="What the heck is this code…?!"/>
          <p:cNvSpPr txBox="1"/>
          <p:nvPr>
            <p:ph type="title"/>
          </p:nvPr>
        </p:nvSpPr>
        <p:spPr>
          <a:prstGeom prst="rect">
            <a:avLst/>
          </a:prstGeom>
        </p:spPr>
        <p:txBody>
          <a:bodyPr/>
          <a:lstStyle/>
          <a:p>
            <a:pPr/>
            <a:r>
              <a:t>What the heck is this code…?!</a:t>
            </a:r>
          </a:p>
        </p:txBody>
      </p:sp>
      <p:sp>
        <p:nvSpPr>
          <p:cNvPr id="138" name="This is official library example code, written by experienced developers at Adafruit, and it's completely dependent on comments to be comprehensible.…"/>
          <p:cNvSpPr txBox="1"/>
          <p:nvPr>
            <p:ph type="body" idx="1"/>
          </p:nvPr>
        </p:nvSpPr>
        <p:spPr>
          <a:xfrm>
            <a:off x="1688592" y="3069576"/>
            <a:ext cx="21824355" cy="9296401"/>
          </a:xfrm>
          <a:prstGeom prst="rect">
            <a:avLst/>
          </a:prstGeom>
        </p:spPr>
        <p:txBody>
          <a:bodyPr/>
          <a:lstStyle/>
          <a:p>
            <a:pPr>
              <a:lnSpc>
                <a:spcPct val="120000"/>
              </a:lnSpc>
            </a:pPr>
            <a:r>
              <a:t>This is </a:t>
            </a:r>
            <a:r>
              <a:rPr i="1"/>
              <a:t>official library example code</a:t>
            </a:r>
            <a:r>
              <a:t>, written by experienced developers at Adafruit, and it's completely dependent on comments to be comprehensible. </a:t>
            </a:r>
          </a:p>
          <a:p>
            <a:pPr>
              <a:lnSpc>
                <a:spcPct val="120000"/>
              </a:lnSpc>
            </a:pPr>
            <a:r>
              <a:t>Without comments, ‘professional-grade’ code from MIT-educated engineers becomes opaque.</a:t>
            </a:r>
          </a:p>
          <a:p>
            <a:pPr>
              <a:lnSpc>
                <a:spcPct val="120000"/>
              </a:lnSpc>
            </a:pPr>
          </a:p>
          <a:p>
            <a:pPr>
              <a:lnSpc>
                <a:spcPct val="120000"/>
              </a:lnSpc>
            </a:pPr>
            <a:r>
              <a:t>If Lady Ada – one of the most respected figures in the Arduino/maker community – writes code that entirely relies on comments to understand, what does that say about the "good code is self-documenting" argument?</a:t>
            </a:r>
          </a:p>
          <a:p>
            <a:pPr>
              <a:lnSpc>
                <a:spcPct val="120000"/>
              </a:lnSpc>
            </a:pP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2" name="What the heck is this code…?!"/>
          <p:cNvSpPr txBox="1"/>
          <p:nvPr>
            <p:ph type="title"/>
          </p:nvPr>
        </p:nvSpPr>
        <p:spPr>
          <a:prstGeom prst="rect">
            <a:avLst/>
          </a:prstGeom>
        </p:spPr>
        <p:txBody>
          <a:bodyPr/>
          <a:lstStyle/>
          <a:p>
            <a:pPr/>
            <a:r>
              <a:t>What the heck is this code…?!</a:t>
            </a:r>
          </a:p>
        </p:txBody>
      </p:sp>
      <p:sp>
        <p:nvSpPr>
          <p:cNvPr id="143" name="/*…"/>
          <p:cNvSpPr txBox="1"/>
          <p:nvPr>
            <p:ph type="body" idx="1"/>
          </p:nvPr>
        </p:nvSpPr>
        <p:spPr>
          <a:xfrm>
            <a:off x="1688592" y="3069576"/>
            <a:ext cx="21824355" cy="9296401"/>
          </a:xfrm>
          <a:prstGeom prst="rect">
            <a:avLst/>
          </a:prstGeom>
          <a:solidFill>
            <a:srgbClr val="1E1E1E"/>
          </a:solidFill>
        </p:spPr>
        <p:txBody>
          <a:bodyPr/>
          <a:lstStyle/>
          <a:p>
            <a:pPr lvl="1" marL="0" indent="228600" defTabSz="457200">
              <a:lnSpc>
                <a:spcPct val="100000"/>
              </a:lnSpc>
              <a:spcBef>
                <a:spcPts val="0"/>
              </a:spcBef>
              <a:buSzTx/>
              <a:buNone/>
              <a:defRPr sz="3000">
                <a:solidFill>
                  <a:srgbClr val="6A9955"/>
                </a:solidFill>
                <a:latin typeface="Menlo Regular"/>
                <a:ea typeface="Menlo Regular"/>
                <a:cs typeface="Menlo Regular"/>
                <a:sym typeface="Menlo Regular"/>
              </a:defRPr>
            </a:pPr>
          </a:p>
          <a:p>
            <a:pPr lvl="1" marL="0" indent="228600" defTabSz="457200">
              <a:lnSpc>
                <a:spcPct val="100000"/>
              </a:lnSpc>
              <a:spcBef>
                <a:spcPts val="0"/>
              </a:spcBef>
              <a:buSzTx/>
              <a:buNone/>
              <a:defRPr sz="3000">
                <a:solidFill>
                  <a:srgbClr val="6A9955"/>
                </a:solidFill>
                <a:latin typeface="Menlo Regular"/>
                <a:ea typeface="Menlo Regular"/>
                <a:cs typeface="Menlo Regular"/>
                <a:sym typeface="Menlo Regular"/>
              </a:defRPr>
            </a:pPr>
            <a:r>
              <a:t>/* </a:t>
            </a:r>
            <a:endParaRPr>
              <a:solidFill>
                <a:srgbClr val="D4D4D4"/>
              </a:solidFill>
            </a:endParaRPr>
          </a:p>
          <a:p>
            <a:pPr lvl="2" marL="0" indent="457200" defTabSz="457200">
              <a:lnSpc>
                <a:spcPct val="100000"/>
              </a:lnSpc>
              <a:spcBef>
                <a:spcPts val="0"/>
              </a:spcBef>
              <a:buSzTx/>
              <a:buNone/>
              <a:defRPr sz="3000">
                <a:solidFill>
                  <a:srgbClr val="6A9955"/>
                </a:solidFill>
                <a:latin typeface="Menlo Regular"/>
                <a:ea typeface="Menlo Regular"/>
                <a:cs typeface="Menlo Regular"/>
                <a:sym typeface="Menlo Regular"/>
              </a:defRPr>
            </a:pPr>
            <a:r>
              <a:t>We just proved: Without comments, even this trivial code becomes ambiguous.</a:t>
            </a:r>
            <a:endParaRPr>
              <a:solidFill>
                <a:srgbClr val="D4D4D4"/>
              </a:solidFill>
            </a:endParaRPr>
          </a:p>
          <a:p>
            <a:pPr lvl="2" marL="0" indent="457200" defTabSz="457200">
              <a:lnSpc>
                <a:spcPct val="100000"/>
              </a:lnSpc>
              <a:spcBef>
                <a:spcPts val="0"/>
              </a:spcBef>
              <a:buSzTx/>
              <a:buNone/>
              <a:defRPr sz="3000">
                <a:solidFill>
                  <a:srgbClr val="6A9955"/>
                </a:solidFill>
                <a:latin typeface="Menlo Regular"/>
                <a:ea typeface="Menlo Regular"/>
                <a:cs typeface="Menlo Regular"/>
                <a:sym typeface="Menlo Regular"/>
              </a:defRPr>
            </a:pPr>
            <a:r>
              <a:t>This sets up beautifully for your Ousterhout quote later: ”The process of writing comments, if done correctly, will actually improve a system's design.”</a:t>
            </a:r>
          </a:p>
          <a:p>
            <a:pPr lvl="2" marL="0" indent="457200" defTabSz="457200">
              <a:lnSpc>
                <a:spcPct val="100000"/>
              </a:lnSpc>
              <a:spcBef>
                <a:spcPts val="0"/>
              </a:spcBef>
              <a:buSzTx/>
              <a:buNone/>
              <a:defRPr sz="3000">
                <a:solidFill>
                  <a:srgbClr val="6A9955"/>
                </a:solidFill>
                <a:latin typeface="Menlo Regular"/>
                <a:ea typeface="Menlo Regular"/>
                <a:cs typeface="Menlo Regular"/>
                <a:sym typeface="Menlo Regular"/>
              </a:defRPr>
            </a:pPr>
            <a:endParaRPr>
              <a:solidFill>
                <a:srgbClr val="D4D4D4"/>
              </a:solidFill>
            </a:endParaRPr>
          </a:p>
          <a:p>
            <a:pPr lvl="2" marL="0" indent="457200" defTabSz="457200">
              <a:lnSpc>
                <a:spcPct val="100000"/>
              </a:lnSpc>
              <a:spcBef>
                <a:spcPts val="0"/>
              </a:spcBef>
              <a:buSzTx/>
              <a:buNone/>
              <a:defRPr sz="3000">
                <a:solidFill>
                  <a:srgbClr val="6A9955"/>
                </a:solidFill>
                <a:latin typeface="Menlo Regular"/>
                <a:ea typeface="Menlo Regular"/>
                <a:cs typeface="Menlo Regular"/>
                <a:sym typeface="Menlo Regular"/>
              </a:defRPr>
            </a:pPr>
            <a:r>
              <a:t>Because if Adafruit had been forced to make this code self-documenting, they might have written:</a:t>
            </a:r>
            <a:endParaRPr>
              <a:solidFill>
                <a:srgbClr val="D4D4D4"/>
              </a:solidFill>
            </a:endParaRPr>
          </a:p>
          <a:p>
            <a:pPr lvl="1" marL="0" indent="228600" defTabSz="457200">
              <a:lnSpc>
                <a:spcPct val="100000"/>
              </a:lnSpc>
              <a:spcBef>
                <a:spcPts val="0"/>
              </a:spcBef>
              <a:buSzTx/>
              <a:buNone/>
              <a:defRPr sz="3000">
                <a:solidFill>
                  <a:srgbClr val="6A9955"/>
                </a:solidFill>
                <a:latin typeface="Menlo Regular"/>
                <a:ea typeface="Menlo Regular"/>
                <a:cs typeface="Menlo Regular"/>
                <a:sym typeface="Menlo Regular"/>
              </a:defRPr>
            </a:pPr>
            <a:r>
              <a:t>*/</a:t>
            </a:r>
            <a:endParaRPr>
              <a:solidFill>
                <a:srgbClr val="D4D4D4"/>
              </a:solidFill>
            </a:endParaRPr>
          </a:p>
          <a:p>
            <a:pPr lvl="1" marL="0" indent="228600" defTabSz="457200">
              <a:lnSpc>
                <a:spcPct val="100000"/>
              </a:lnSpc>
              <a:spcBef>
                <a:spcPts val="0"/>
              </a:spcBef>
              <a:buSzTx/>
              <a:buNone/>
              <a:defRPr sz="3000">
                <a:solidFill>
                  <a:srgbClr val="9CDCFE"/>
                </a:solidFill>
                <a:latin typeface="Menlo Regular"/>
                <a:ea typeface="Menlo Regular"/>
                <a:cs typeface="Menlo Regular"/>
                <a:sym typeface="Menlo Regular"/>
              </a:defRPr>
            </a:pPr>
            <a:r>
              <a:rPr>
                <a:solidFill>
                  <a:srgbClr val="569CD6"/>
                </a:solidFill>
              </a:rPr>
              <a:t>float</a:t>
            </a:r>
            <a:r>
              <a:rPr>
                <a:solidFill>
                  <a:srgbClr val="D4D4D4"/>
                </a:solidFill>
              </a:rPr>
              <a:t> </a:t>
            </a:r>
            <a:r>
              <a:t>humidity_percent</a:t>
            </a:r>
            <a:r>
              <a:rPr>
                <a:solidFill>
                  <a:srgbClr val="D4D4D4"/>
                </a:solidFill>
              </a:rPr>
              <a:t> = </a:t>
            </a:r>
            <a:r>
              <a:t>ambientSensor</a:t>
            </a:r>
            <a:r>
              <a:rPr>
                <a:solidFill>
                  <a:srgbClr val="D4D4D4"/>
                </a:solidFill>
              </a:rPr>
              <a:t>.</a:t>
            </a:r>
            <a:r>
              <a:rPr>
                <a:solidFill>
                  <a:srgbClr val="DCDCAA"/>
                </a:solidFill>
              </a:rPr>
              <a:t>readHumidity</a:t>
            </a:r>
            <a:r>
              <a:rPr>
                <a:solidFill>
                  <a:srgbClr val="D4D4D4"/>
                </a:solidFill>
              </a:rPr>
              <a:t>();</a:t>
            </a:r>
            <a:endParaRPr>
              <a:solidFill>
                <a:srgbClr val="D4D4D4"/>
              </a:solidFill>
            </a:endParaRPr>
          </a:p>
          <a:p>
            <a:pPr lvl="1" marL="0" indent="228600" defTabSz="457200">
              <a:lnSpc>
                <a:spcPct val="100000"/>
              </a:lnSpc>
              <a:spcBef>
                <a:spcPts val="0"/>
              </a:spcBef>
              <a:buSzTx/>
              <a:buNone/>
              <a:defRPr sz="3000">
                <a:solidFill>
                  <a:srgbClr val="9CDCFE"/>
                </a:solidFill>
                <a:latin typeface="Menlo Regular"/>
                <a:ea typeface="Menlo Regular"/>
                <a:cs typeface="Menlo Regular"/>
                <a:sym typeface="Menlo Regular"/>
              </a:defRPr>
            </a:pPr>
            <a:r>
              <a:rPr>
                <a:solidFill>
                  <a:srgbClr val="569CD6"/>
                </a:solidFill>
              </a:rPr>
              <a:t>float</a:t>
            </a:r>
            <a:r>
              <a:rPr>
                <a:solidFill>
                  <a:srgbClr val="D4D4D4"/>
                </a:solidFill>
              </a:rPr>
              <a:t> </a:t>
            </a:r>
            <a:r>
              <a:t>temperature_celsius</a:t>
            </a:r>
            <a:r>
              <a:rPr>
                <a:solidFill>
                  <a:srgbClr val="D4D4D4"/>
                </a:solidFill>
              </a:rPr>
              <a:t> = </a:t>
            </a:r>
            <a:r>
              <a:t>ambientSensor</a:t>
            </a:r>
            <a:r>
              <a:rPr>
                <a:solidFill>
                  <a:srgbClr val="D4D4D4"/>
                </a:solidFill>
              </a:rPr>
              <a:t>.</a:t>
            </a:r>
            <a:r>
              <a:rPr>
                <a:solidFill>
                  <a:srgbClr val="DCDCAA"/>
                </a:solidFill>
              </a:rPr>
              <a:t>readTemperature</a:t>
            </a:r>
            <a:r>
              <a:rPr>
                <a:solidFill>
                  <a:srgbClr val="D4D4D4"/>
                </a:solidFill>
              </a:rPr>
              <a:t>();</a:t>
            </a:r>
            <a:endParaRPr>
              <a:solidFill>
                <a:srgbClr val="D4D4D4"/>
              </a:solidFill>
            </a:endParaRPr>
          </a:p>
          <a:p>
            <a:pPr lvl="1" marL="0" indent="228600" defTabSz="457200">
              <a:lnSpc>
                <a:spcPct val="100000"/>
              </a:lnSpc>
              <a:spcBef>
                <a:spcPts val="0"/>
              </a:spcBef>
              <a:buSzTx/>
              <a:buNone/>
              <a:defRPr sz="3000">
                <a:solidFill>
                  <a:srgbClr val="9CDCFE"/>
                </a:solidFill>
                <a:latin typeface="Menlo Regular"/>
                <a:ea typeface="Menlo Regular"/>
                <a:cs typeface="Menlo Regular"/>
                <a:sym typeface="Menlo Regular"/>
              </a:defRPr>
            </a:pPr>
            <a:r>
              <a:rPr>
                <a:solidFill>
                  <a:srgbClr val="569CD6"/>
                </a:solidFill>
              </a:rPr>
              <a:t>float</a:t>
            </a:r>
            <a:r>
              <a:rPr>
                <a:solidFill>
                  <a:srgbClr val="D4D4D4"/>
                </a:solidFill>
              </a:rPr>
              <a:t> </a:t>
            </a:r>
            <a:r>
              <a:t>temperature_fahrenheit</a:t>
            </a:r>
            <a:r>
              <a:rPr>
                <a:solidFill>
                  <a:srgbClr val="D4D4D4"/>
                </a:solidFill>
              </a:rPr>
              <a:t> = </a:t>
            </a:r>
            <a:r>
              <a:t>ambientSensor</a:t>
            </a:r>
            <a:r>
              <a:rPr>
                <a:solidFill>
                  <a:srgbClr val="D4D4D4"/>
                </a:solidFill>
              </a:rPr>
              <a:t>.</a:t>
            </a:r>
            <a:r>
              <a:rPr>
                <a:solidFill>
                  <a:srgbClr val="DCDCAA"/>
                </a:solidFill>
              </a:rPr>
              <a:t>readTemperature</a:t>
            </a:r>
            <a:r>
              <a:rPr>
                <a:solidFill>
                  <a:srgbClr val="D4D4D4"/>
                </a:solidFill>
              </a:rPr>
              <a:t>(</a:t>
            </a:r>
            <a:r>
              <a:rPr>
                <a:solidFill>
                  <a:srgbClr val="569CD6"/>
                </a:solidFill>
              </a:rPr>
              <a:t>true</a:t>
            </a:r>
            <a:r>
              <a:rPr>
                <a:solidFill>
                  <a:srgbClr val="D4D4D4"/>
                </a:solidFill>
              </a:rPr>
              <a:t>);</a:t>
            </a:r>
            <a:endParaRPr>
              <a:solidFill>
                <a:srgbClr val="D4D4D4"/>
              </a:solidFill>
            </a:endParaRPr>
          </a:p>
          <a:p>
            <a:pPr lvl="1" marL="0" indent="228600" defTabSz="457200">
              <a:lnSpc>
                <a:spcPct val="100000"/>
              </a:lnSpc>
              <a:spcBef>
                <a:spcPts val="0"/>
              </a:spcBef>
              <a:buSzTx/>
              <a:buNone/>
              <a:defRPr sz="3000">
                <a:solidFill>
                  <a:srgbClr val="D4D4D4"/>
                </a:solidFill>
                <a:latin typeface="Menlo Regular"/>
                <a:ea typeface="Menlo Regular"/>
                <a:cs typeface="Menlo Regular"/>
                <a:sym typeface="Menlo Regular"/>
              </a:defRPr>
            </a:pPr>
          </a:p>
          <a:p>
            <a:pPr lvl="1" marL="0" indent="228600" defTabSz="457200">
              <a:lnSpc>
                <a:spcPct val="100000"/>
              </a:lnSpc>
              <a:spcBef>
                <a:spcPts val="0"/>
              </a:spcBef>
              <a:buSzTx/>
              <a:buNone/>
              <a:defRPr sz="3000">
                <a:solidFill>
                  <a:srgbClr val="6A9955"/>
                </a:solidFill>
                <a:latin typeface="Menlo Regular"/>
                <a:ea typeface="Menlo Regular"/>
                <a:cs typeface="Menlo Regular"/>
                <a:sym typeface="Menlo Regular"/>
              </a:defRPr>
            </a:pPr>
            <a:r>
              <a:t>// No comments needed. The act of trying to remove the comment dependency would have improved the design.</a:t>
            </a:r>
            <a:endParaRPr>
              <a:solidFill>
                <a:srgbClr val="D4D4D4"/>
              </a:solidFill>
            </a:endParaRP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7" name="The Commenting Dilemma"/>
          <p:cNvSpPr txBox="1"/>
          <p:nvPr>
            <p:ph type="title"/>
          </p:nvPr>
        </p:nvSpPr>
        <p:spPr>
          <a:prstGeom prst="rect">
            <a:avLst/>
          </a:prstGeom>
        </p:spPr>
        <p:txBody>
          <a:bodyPr/>
          <a:lstStyle/>
          <a:p>
            <a:pPr/>
            <a:r>
              <a:t>The Commenting Dilemma</a:t>
            </a:r>
          </a:p>
        </p:txBody>
      </p:sp>
      <p:sp>
        <p:nvSpPr>
          <p:cNvPr id="148" name="Ok so now we have found ourselves a big dilemma:…"/>
          <p:cNvSpPr txBox="1"/>
          <p:nvPr>
            <p:ph type="body" idx="1"/>
          </p:nvPr>
        </p:nvSpPr>
        <p:spPr>
          <a:xfrm>
            <a:off x="1688592" y="3069576"/>
            <a:ext cx="21824355" cy="9296401"/>
          </a:xfrm>
          <a:prstGeom prst="rect">
            <a:avLst/>
          </a:prstGeom>
        </p:spPr>
        <p:txBody>
          <a:bodyPr/>
          <a:lstStyle/>
          <a:p>
            <a:pPr>
              <a:lnSpc>
                <a:spcPct val="120000"/>
              </a:lnSpc>
            </a:pPr>
            <a:r>
              <a:t>Ok so now we have found ourselves a big dilemma:</a:t>
            </a:r>
          </a:p>
          <a:p>
            <a:pPr lvl="1" marL="0" indent="491399">
              <a:lnSpc>
                <a:spcPct val="120000"/>
              </a:lnSpc>
              <a:buSzTx/>
              <a:buNone/>
            </a:pPr>
            <a:r>
              <a:t>- Comment everything</a:t>
            </a:r>
          </a:p>
          <a:p>
            <a:pPr lvl="1" marL="0" indent="491399">
              <a:lnSpc>
                <a:spcPct val="120000"/>
              </a:lnSpc>
              <a:buSzTx/>
              <a:buNone/>
            </a:pPr>
            <a:r>
              <a:t>- Comment nothing</a:t>
            </a:r>
          </a:p>
          <a:p>
            <a:pPr>
              <a:lnSpc>
                <a:spcPct val="120000"/>
              </a:lnSpc>
            </a:pP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0" name="The Commenting Dilemma: comment everything"/>
          <p:cNvSpPr txBox="1"/>
          <p:nvPr>
            <p:ph type="title"/>
          </p:nvPr>
        </p:nvSpPr>
        <p:spPr>
          <a:prstGeom prst="rect">
            <a:avLst/>
          </a:prstGeom>
        </p:spPr>
        <p:txBody>
          <a:bodyPr/>
          <a:lstStyle/>
          <a:p>
            <a:pPr/>
            <a:r>
              <a:t>The Commenting Dilemma: comment everything</a:t>
            </a:r>
          </a:p>
        </p:txBody>
      </p:sp>
      <p:sp>
        <p:nvSpPr>
          <p:cNvPr id="151" name="Comment everything:…"/>
          <p:cNvSpPr txBox="1"/>
          <p:nvPr>
            <p:ph type="body" idx="1"/>
          </p:nvPr>
        </p:nvSpPr>
        <p:spPr>
          <a:xfrm>
            <a:off x="1688592" y="3069576"/>
            <a:ext cx="21824355" cy="9296401"/>
          </a:xfrm>
          <a:prstGeom prst="rect">
            <a:avLst/>
          </a:prstGeom>
        </p:spPr>
        <p:txBody>
          <a:bodyPr/>
          <a:lstStyle/>
          <a:p>
            <a:pPr>
              <a:lnSpc>
                <a:spcPct val="120000"/>
              </a:lnSpc>
            </a:pPr>
            <a:r>
              <a:t>Comment everything:</a:t>
            </a:r>
          </a:p>
          <a:p>
            <a:pPr>
              <a:lnSpc>
                <a:spcPct val="120000"/>
              </a:lnSpc>
            </a:pPr>
            <a:r>
              <a:t>- “Every line must have a comment"</a:t>
            </a:r>
          </a:p>
          <a:p>
            <a:pPr>
              <a:lnSpc>
                <a:spcPct val="120000"/>
              </a:lnSpc>
            </a:pPr>
            <a:r>
              <a:t>- Results in noise:</a:t>
            </a:r>
          </a:p>
          <a:p>
            <a:pPr>
              <a:lnSpc>
                <a:spcPct val="120000"/>
              </a:lnSpc>
            </a:pPr>
          </a:p>
          <a:p>
            <a:pPr>
              <a:lnSpc>
                <a:spcPct val="120000"/>
              </a:lnSpc>
            </a:pPr>
            <a:r>
              <a:t>- Comments become wallpaper – ignored</a:t>
            </a:r>
          </a:p>
          <a:p>
            <a:pPr>
              <a:lnSpc>
                <a:spcPct val="120000"/>
              </a:lnSpc>
            </a:pPr>
            <a:r>
              <a:t>- Doubles the maintenance burden</a:t>
            </a:r>
          </a:p>
          <a:p>
            <a:pPr>
              <a:lnSpc>
                <a:spcPct val="120000"/>
              </a:lnSpc>
            </a:pPr>
            <a:r>
              <a:t>- Comments drift out of sync with code</a:t>
            </a:r>
          </a:p>
        </p:txBody>
      </p:sp>
      <p:pic>
        <p:nvPicPr>
          <p:cNvPr id="152" name="geplakte-film.png" descr="geplakte-film.png"/>
          <p:cNvPicPr>
            <a:picLocks noChangeAspect="1"/>
          </p:cNvPicPr>
          <p:nvPr/>
        </p:nvPicPr>
        <p:blipFill>
          <a:blip r:embed="rId2">
            <a:extLst/>
          </a:blip>
          <a:stretch>
            <a:fillRect/>
          </a:stretch>
        </p:blipFill>
        <p:spPr>
          <a:xfrm>
            <a:off x="1688592" y="3069576"/>
            <a:ext cx="12903201" cy="482601"/>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4" name="The Commenting Dilemma: comment everything"/>
          <p:cNvSpPr txBox="1"/>
          <p:nvPr>
            <p:ph type="title"/>
          </p:nvPr>
        </p:nvSpPr>
        <p:spPr>
          <a:prstGeom prst="rect">
            <a:avLst/>
          </a:prstGeom>
        </p:spPr>
        <p:txBody>
          <a:bodyPr/>
          <a:lstStyle/>
          <a:p>
            <a:pPr/>
            <a:r>
              <a:t>The Commenting Dilemma: comment everything</a:t>
            </a:r>
          </a:p>
        </p:txBody>
      </p:sp>
      <p:sp>
        <p:nvSpPr>
          <p:cNvPr id="155" name="Comment nothing:…"/>
          <p:cNvSpPr txBox="1"/>
          <p:nvPr>
            <p:ph type="body" idx="1"/>
          </p:nvPr>
        </p:nvSpPr>
        <p:spPr>
          <a:xfrm>
            <a:off x="1688592" y="3069576"/>
            <a:ext cx="21824355" cy="9296401"/>
          </a:xfrm>
          <a:prstGeom prst="rect">
            <a:avLst/>
          </a:prstGeom>
        </p:spPr>
        <p:txBody>
          <a:bodyPr/>
          <a:lstStyle/>
          <a:p>
            <a:pPr>
              <a:lnSpc>
                <a:spcPct val="120000"/>
              </a:lnSpc>
            </a:pPr>
            <a:r>
              <a:t>Comment nothing:</a:t>
            </a:r>
          </a:p>
          <a:p>
            <a:pPr>
              <a:lnSpc>
                <a:spcPct val="120000"/>
              </a:lnSpc>
            </a:pPr>
            <a:r>
              <a:t>- “Good code is self-documenting"</a:t>
            </a:r>
          </a:p>
          <a:p>
            <a:pPr>
              <a:lnSpc>
                <a:spcPct val="120000"/>
              </a:lnSpc>
            </a:pPr>
            <a:r>
              <a:t>- Works fine... until it doesn't</a:t>
            </a:r>
          </a:p>
          <a:p>
            <a:pPr>
              <a:lnSpc>
                <a:spcPct val="120000"/>
              </a:lnSpc>
            </a:pPr>
            <a:r>
              <a:t>- Assumes perfect naming (rare)</a:t>
            </a:r>
          </a:p>
          <a:p>
            <a:pPr>
              <a:lnSpc>
                <a:spcPct val="120000"/>
              </a:lnSpc>
            </a:pPr>
            <a:r>
              <a:t>- Assumes reader knows the domain (dangerous)</a:t>
            </a:r>
          </a:p>
          <a:p>
            <a:pPr>
              <a:lnSpc>
                <a:spcPct val="120000"/>
              </a:lnSpc>
            </a:pPr>
            <a:r>
              <a:t>- Assumes code can express intent and why (it can't)</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7" name="What/How versus Why"/>
          <p:cNvSpPr txBox="1"/>
          <p:nvPr>
            <p:ph type="title"/>
          </p:nvPr>
        </p:nvSpPr>
        <p:spPr>
          <a:prstGeom prst="rect">
            <a:avLst/>
          </a:prstGeom>
        </p:spPr>
        <p:txBody>
          <a:bodyPr/>
          <a:lstStyle/>
          <a:p>
            <a:pPr/>
            <a:r>
              <a:t>What/How versus Why</a:t>
            </a:r>
          </a:p>
        </p:txBody>
      </p:sp>
      <p:sp>
        <p:nvSpPr>
          <p:cNvPr id="158" name="Code tells you how. Comments tell you why.…"/>
          <p:cNvSpPr txBox="1"/>
          <p:nvPr>
            <p:ph type="body" idx="1"/>
          </p:nvPr>
        </p:nvSpPr>
        <p:spPr>
          <a:xfrm>
            <a:off x="1688592" y="3069576"/>
            <a:ext cx="21824355" cy="9296401"/>
          </a:xfrm>
          <a:prstGeom prst="rect">
            <a:avLst/>
          </a:prstGeom>
        </p:spPr>
        <p:txBody>
          <a:bodyPr/>
          <a:lstStyle/>
          <a:p>
            <a:pPr>
              <a:lnSpc>
                <a:spcPct val="120000"/>
              </a:lnSpc>
            </a:pPr>
            <a:r>
              <a:t>Code tells you how. Comments tell you why.</a:t>
            </a:r>
          </a:p>
          <a:p>
            <a:pPr>
              <a:lnSpc>
                <a:spcPct val="120000"/>
              </a:lnSpc>
            </a:pPr>
          </a:p>
          <a:p>
            <a:pPr>
              <a:lnSpc>
                <a:spcPct val="120000"/>
              </a:lnSpc>
            </a:pPr>
            <a:r>
              <a:t>What the code does → should be obvious from the code itself</a:t>
            </a:r>
          </a:p>
          <a:p>
            <a:pPr>
              <a:lnSpc>
                <a:spcPct val="120000"/>
              </a:lnSpc>
            </a:pPr>
            <a:r>
              <a:t>Why the code does it → that's what comments are for</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0" name="What/How versus Why"/>
          <p:cNvSpPr txBox="1"/>
          <p:nvPr>
            <p:ph type="title"/>
          </p:nvPr>
        </p:nvSpPr>
        <p:spPr>
          <a:prstGeom prst="rect">
            <a:avLst/>
          </a:prstGeom>
        </p:spPr>
        <p:txBody>
          <a:bodyPr/>
          <a:lstStyle/>
          <a:p>
            <a:pPr/>
            <a:r>
              <a:t>What/How versus Why</a:t>
            </a:r>
          </a:p>
        </p:txBody>
      </p:sp>
      <p:sp>
        <p:nvSpPr>
          <p:cNvPr id="161" name="Code tells you how. Comments tell you why.…"/>
          <p:cNvSpPr txBox="1"/>
          <p:nvPr>
            <p:ph type="body" idx="1"/>
          </p:nvPr>
        </p:nvSpPr>
        <p:spPr>
          <a:xfrm>
            <a:off x="1688592" y="3069576"/>
            <a:ext cx="21824355" cy="9296401"/>
          </a:xfrm>
          <a:prstGeom prst="rect">
            <a:avLst/>
          </a:prstGeom>
        </p:spPr>
        <p:txBody>
          <a:bodyPr/>
          <a:lstStyle/>
          <a:p>
            <a:pPr>
              <a:lnSpc>
                <a:spcPct val="120000"/>
              </a:lnSpc>
            </a:pPr>
            <a:r>
              <a:t>Code tells you how. Comments tell you why.</a:t>
            </a:r>
          </a:p>
          <a:p>
            <a:pPr>
              <a:lnSpc>
                <a:spcPct val="120000"/>
              </a:lnSpc>
            </a:pPr>
          </a:p>
          <a:p>
            <a:pPr>
              <a:lnSpc>
                <a:spcPct val="120000"/>
              </a:lnSpc>
            </a:pPr>
            <a:r>
              <a:t>What the code does → should be obvious from the code itself</a:t>
            </a:r>
          </a:p>
          <a:p>
            <a:pPr>
              <a:lnSpc>
                <a:spcPct val="120000"/>
              </a:lnSpc>
            </a:pPr>
            <a:r>
              <a:t>Why the code does it → that's what comments are for</a:t>
            </a:r>
          </a:p>
          <a:p>
            <a:pPr>
              <a:lnSpc>
                <a:spcPct val="120000"/>
              </a:lnSpc>
            </a:pPr>
          </a:p>
          <a:p>
            <a:pPr>
              <a:lnSpc>
                <a:spcPct val="120000"/>
              </a:lnSpc>
            </a:pPr>
          </a:p>
        </p:txBody>
      </p:sp>
      <p:pic>
        <p:nvPicPr>
          <p:cNvPr id="162" name="geplakte-film.png" descr="geplakte-film.png"/>
          <p:cNvPicPr>
            <a:picLocks noChangeAspect="1"/>
          </p:cNvPicPr>
          <p:nvPr/>
        </p:nvPicPr>
        <p:blipFill>
          <a:blip r:embed="rId3">
            <a:extLst/>
          </a:blip>
          <a:stretch>
            <a:fillRect/>
          </a:stretch>
        </p:blipFill>
        <p:spPr>
          <a:xfrm>
            <a:off x="1688592" y="3069576"/>
            <a:ext cx="12903201" cy="1422401"/>
          </a:xfrm>
          <a:prstGeom prst="rect">
            <a:avLst/>
          </a:prstGeom>
          <a:ln w="12700">
            <a:miter lim="400000"/>
          </a:ln>
        </p:spPr>
      </p:pic>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6" name="Documentation Challenges: three fragile knowledge sources"/>
          <p:cNvSpPr txBox="1"/>
          <p:nvPr>
            <p:ph type="title"/>
          </p:nvPr>
        </p:nvSpPr>
        <p:spPr>
          <a:prstGeom prst="rect">
            <a:avLst/>
          </a:prstGeom>
        </p:spPr>
        <p:txBody>
          <a:bodyPr/>
          <a:lstStyle/>
          <a:p>
            <a:pPr/>
            <a:r>
              <a:t>Documentation Challenges: three fragile knowledge sources</a:t>
            </a:r>
          </a:p>
        </p:txBody>
      </p:sp>
      <p:sp>
        <p:nvSpPr>
          <p:cNvPr id="167" name="Nawrocki et. al (2002): Extreme Programming and its development practices.…"/>
          <p:cNvSpPr txBox="1"/>
          <p:nvPr>
            <p:ph type="body" idx="1"/>
          </p:nvPr>
        </p:nvSpPr>
        <p:spPr>
          <a:xfrm>
            <a:off x="1688592" y="3069576"/>
            <a:ext cx="21824355" cy="9296401"/>
          </a:xfrm>
          <a:prstGeom prst="rect">
            <a:avLst/>
          </a:prstGeom>
        </p:spPr>
        <p:txBody>
          <a:bodyPr/>
          <a:lstStyle/>
          <a:p>
            <a:pPr>
              <a:lnSpc>
                <a:spcPct val="120000"/>
              </a:lnSpc>
            </a:pPr>
          </a:p>
          <a:p>
            <a:pPr>
              <a:lnSpc>
                <a:spcPct val="120000"/>
              </a:lnSpc>
            </a:pPr>
            <a:r>
              <a:t>Nawrocki et. al (2002): Extreme Programming and its development practices.</a:t>
            </a:r>
          </a:p>
          <a:p>
            <a:pPr>
              <a:lnSpc>
                <a:spcPct val="120000"/>
              </a:lnSpc>
            </a:pPr>
          </a:p>
          <a:p>
            <a:pPr>
              <a:lnSpc>
                <a:spcPct val="120000"/>
              </a:lnSpc>
            </a:pPr>
            <a:r>
              <a:t>There are three sources of knowledge about the software that are required but are hard to maintain in the long run: </a:t>
            </a:r>
          </a:p>
          <a:p>
            <a:pPr>
              <a:lnSpc>
                <a:spcPct val="120000"/>
              </a:lnSpc>
            </a:pPr>
            <a:r>
              <a:t>- the code, </a:t>
            </a:r>
          </a:p>
          <a:p>
            <a:pPr>
              <a:lnSpc>
                <a:spcPct val="120000"/>
              </a:lnSpc>
            </a:pPr>
            <a:r>
              <a:t>- test cases; and </a:t>
            </a:r>
          </a:p>
          <a:p>
            <a:pPr>
              <a:lnSpc>
                <a:spcPct val="120000"/>
              </a:lnSpc>
            </a:pPr>
            <a:r>
              <a:t>- the memory of the developers.</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Documentation Challenges: Why documentation fails"/>
          <p:cNvSpPr txBox="1"/>
          <p:nvPr>
            <p:ph type="title"/>
          </p:nvPr>
        </p:nvSpPr>
        <p:spPr>
          <a:prstGeom prst="rect">
            <a:avLst/>
          </a:prstGeom>
        </p:spPr>
        <p:txBody>
          <a:bodyPr/>
          <a:lstStyle/>
          <a:p>
            <a:pPr/>
            <a:r>
              <a:t>Documentation Challenges: Why documentation fails</a:t>
            </a:r>
          </a:p>
        </p:txBody>
      </p:sp>
      <p:sp>
        <p:nvSpPr>
          <p:cNvPr id="172" name="- Informal documentation is hard to understand.…"/>
          <p:cNvSpPr txBox="1"/>
          <p:nvPr>
            <p:ph type="body" idx="1"/>
          </p:nvPr>
        </p:nvSpPr>
        <p:spPr>
          <a:xfrm>
            <a:off x="1688592" y="3069576"/>
            <a:ext cx="21824355" cy="9296401"/>
          </a:xfrm>
          <a:prstGeom prst="rect">
            <a:avLst/>
          </a:prstGeom>
        </p:spPr>
        <p:txBody>
          <a:bodyPr/>
          <a:lstStyle/>
          <a:p>
            <a:pPr>
              <a:lnSpc>
                <a:spcPct val="120000"/>
              </a:lnSpc>
            </a:pPr>
          </a:p>
          <a:p>
            <a:pPr>
              <a:lnSpc>
                <a:spcPct val="120000"/>
              </a:lnSpc>
            </a:pPr>
            <a:r>
              <a:t>- Informal documentation is hard to understand.</a:t>
            </a:r>
          </a:p>
          <a:p>
            <a:pPr>
              <a:lnSpc>
                <a:spcPct val="120000"/>
              </a:lnSpc>
            </a:pPr>
            <a:r>
              <a:t>- Documentation is considered waste.</a:t>
            </a:r>
          </a:p>
          <a:p>
            <a:pPr>
              <a:lnSpc>
                <a:spcPct val="120000"/>
              </a:lnSpc>
            </a:pPr>
            <a:r>
              <a:t>- Productivity is measured by the amount of working software only.</a:t>
            </a:r>
          </a:p>
          <a:p>
            <a:pPr>
              <a:lnSpc>
                <a:spcPct val="120000"/>
              </a:lnSpc>
            </a:pPr>
            <a:r>
              <a:t>- Documentation is out-of-sync with the software.</a:t>
            </a:r>
          </a:p>
          <a:p>
            <a:pPr>
              <a:lnSpc>
                <a:spcPct val="120000"/>
              </a:lnSpc>
            </a:pPr>
            <a:r>
              <a:t>- Short-term focus.</a:t>
            </a:r>
          </a:p>
          <a:p>
            <a:pPr>
              <a:lnSpc>
                <a:spcPct val="120000"/>
              </a:lnSpc>
            </a:pPr>
          </a:p>
          <a:p>
            <a:pPr>
              <a:lnSpc>
                <a:spcPct val="120000"/>
              </a:lnSpc>
              <a:defRPr i="1"/>
            </a:pPr>
            <a:r>
              <a:t>In memory of our late colleague Theo Teunissen (2025).</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6" name="Theo's tribute: Reasons why we don’t comment"/>
          <p:cNvSpPr txBox="1"/>
          <p:nvPr>
            <p:ph type="title"/>
          </p:nvPr>
        </p:nvSpPr>
        <p:spPr>
          <a:prstGeom prst="rect">
            <a:avLst/>
          </a:prstGeom>
        </p:spPr>
        <p:txBody>
          <a:bodyPr/>
          <a:lstStyle/>
          <a:p>
            <a:pPr/>
            <a:r>
              <a:t>Theo's tribute: Reasons why we don’t comment</a:t>
            </a:r>
          </a:p>
        </p:txBody>
      </p:sp>
      <p:sp>
        <p:nvSpPr>
          <p:cNvPr id="177" name="The TL;DR culture problem – Diminished attention spans and &quot;digital natives&quot; are processing information differently.…"/>
          <p:cNvSpPr txBox="1"/>
          <p:nvPr>
            <p:ph type="body" idx="1"/>
          </p:nvPr>
        </p:nvSpPr>
        <p:spPr>
          <a:xfrm>
            <a:off x="1688592" y="3069576"/>
            <a:ext cx="21824355" cy="9296401"/>
          </a:xfrm>
          <a:prstGeom prst="rect">
            <a:avLst/>
          </a:prstGeom>
        </p:spPr>
        <p:txBody>
          <a:bodyPr/>
          <a:lstStyle/>
          <a:p>
            <a:pPr>
              <a:lnSpc>
                <a:spcPct val="120000"/>
              </a:lnSpc>
            </a:pPr>
            <a:r>
              <a:rPr b="1"/>
              <a:t>The TL;DR culture problem</a:t>
            </a:r>
            <a:r>
              <a:t> – Diminished attention spans and "digital natives" are processing information differently. </a:t>
            </a:r>
          </a:p>
          <a:p>
            <a:pPr>
              <a:lnSpc>
                <a:spcPct val="120000"/>
              </a:lnSpc>
            </a:pPr>
            <a:r>
              <a:rPr b="1"/>
              <a:t>Documentation ≠ waste</a:t>
            </a:r>
            <a:r>
              <a:t> – Lean interpretation that documentation is waste, don’t document too much, make ”just enough" documentation.</a:t>
            </a:r>
          </a:p>
          <a:p>
            <a:pPr>
              <a:lnSpc>
                <a:spcPct val="120000"/>
              </a:lnSpc>
            </a:pPr>
          </a:p>
          <a:p>
            <a:pPr>
              <a:lnSpc>
                <a:spcPct val="120000"/>
              </a:lnSpc>
            </a:pPr>
            <a:r>
              <a:t>Theunissen, 2023</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1" name="Theo's tribute: Knowledge Vaporization"/>
          <p:cNvSpPr txBox="1"/>
          <p:nvPr>
            <p:ph type="title"/>
          </p:nvPr>
        </p:nvSpPr>
        <p:spPr>
          <a:prstGeom prst="rect">
            <a:avLst/>
          </a:prstGeom>
        </p:spPr>
        <p:txBody>
          <a:bodyPr/>
          <a:lstStyle/>
          <a:p>
            <a:pPr/>
            <a:r>
              <a:t>Theo's tribute: Knowledge Vaporization</a:t>
            </a:r>
          </a:p>
        </p:txBody>
      </p:sp>
      <p:sp>
        <p:nvSpPr>
          <p:cNvPr id="182" name="Knowledge vaporization – This is his central concept: the reduction in documentation quantity and quality due to Agile/Lean/DevOps leads to knowledge evaporating over time. The three knowledge sources from Nawrocki (code, test cases, developer memory) ar"/>
          <p:cNvSpPr txBox="1"/>
          <p:nvPr>
            <p:ph type="body" idx="1"/>
          </p:nvPr>
        </p:nvSpPr>
        <p:spPr>
          <a:xfrm>
            <a:off x="1688592" y="3069576"/>
            <a:ext cx="21824355" cy="9296401"/>
          </a:xfrm>
          <a:prstGeom prst="rect">
            <a:avLst/>
          </a:prstGeom>
        </p:spPr>
        <p:txBody>
          <a:bodyPr/>
          <a:lstStyle/>
          <a:p>
            <a:pPr>
              <a:lnSpc>
                <a:spcPct val="120000"/>
              </a:lnSpc>
            </a:pPr>
            <a:r>
              <a:rPr b="1"/>
              <a:t>Knowledge vaporization</a:t>
            </a:r>
            <a:r>
              <a:t> – This is his central concept: the reduction in documentation quantity and quality due to Agile/Lean/DevOps leads to knowledge evaporating over time. The three knowledge sources from Nawrocki (code, test cases, developer memory) are particularly vulnerable.</a:t>
            </a:r>
          </a:p>
          <a:p>
            <a:pPr>
              <a:lnSpc>
                <a:spcPct val="120000"/>
              </a:lnSpc>
            </a:pPr>
          </a:p>
          <a:p>
            <a:pPr>
              <a:lnSpc>
                <a:spcPct val="120000"/>
              </a:lnSpc>
            </a:pPr>
            <a:r>
              <a:t>Theunissen, 2023</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4" name="Why do we still need commenting"/>
          <p:cNvSpPr txBox="1"/>
          <p:nvPr>
            <p:ph type="title"/>
          </p:nvPr>
        </p:nvSpPr>
        <p:spPr>
          <a:prstGeom prst="rect">
            <a:avLst/>
          </a:prstGeom>
        </p:spPr>
        <p:txBody>
          <a:bodyPr/>
          <a:lstStyle/>
          <a:p>
            <a:pPr/>
            <a:r>
              <a:t>Why do we still need commenting</a:t>
            </a:r>
          </a:p>
        </p:txBody>
      </p:sp>
      <p:sp>
        <p:nvSpPr>
          <p:cNvPr id="185" name="Software is complex;…"/>
          <p:cNvSpPr txBox="1"/>
          <p:nvPr>
            <p:ph type="body" idx="1"/>
          </p:nvPr>
        </p:nvSpPr>
        <p:spPr>
          <a:xfrm>
            <a:off x="1688592" y="3069576"/>
            <a:ext cx="21824355" cy="9296401"/>
          </a:xfrm>
          <a:prstGeom prst="rect">
            <a:avLst/>
          </a:prstGeom>
        </p:spPr>
        <p:txBody>
          <a:bodyPr/>
          <a:lstStyle/>
          <a:p>
            <a:pPr>
              <a:lnSpc>
                <a:spcPct val="120000"/>
              </a:lnSpc>
            </a:pPr>
            <a:r>
              <a:t>Software is complex;</a:t>
            </a:r>
          </a:p>
          <a:p>
            <a:pPr>
              <a:lnSpc>
                <a:spcPct val="120000"/>
              </a:lnSpc>
            </a:pPr>
            <a:r>
              <a:t>Embedded systems are arguably even more complex;</a:t>
            </a:r>
          </a:p>
          <a:p>
            <a:pPr>
              <a:lnSpc>
                <a:spcPct val="120000"/>
              </a:lnSpc>
            </a:pPr>
            <a:r>
              <a:t>Diagrams and comments or essential to document these systems.</a:t>
            </a:r>
          </a:p>
          <a:p>
            <a:pPr>
              <a:lnSpc>
                <a:spcPct val="120000"/>
              </a:lnSpc>
            </a:pPr>
          </a:p>
          <a:p>
            <a:pPr>
              <a:lnSpc>
                <a:spcPct val="120000"/>
              </a:lnSpc>
            </a:pPr>
            <a:r>
              <a:t>Goals:</a:t>
            </a:r>
          </a:p>
          <a:p>
            <a:pPr>
              <a:lnSpc>
                <a:spcPct val="120000"/>
              </a:lnSpc>
            </a:pPr>
            <a:r>
              <a:t>- Describing our code and structures in Natural Language </a:t>
            </a:r>
          </a:p>
          <a:p>
            <a:pPr>
              <a:lnSpc>
                <a:spcPct val="120000"/>
              </a:lnSpc>
            </a:pPr>
            <a:r>
              <a:t>- Improving understandability</a:t>
            </a:r>
          </a:p>
          <a:p>
            <a:pPr>
              <a:lnSpc>
                <a:spcPct val="120000"/>
              </a:lnSpc>
            </a:pPr>
            <a:r>
              <a:t>- Hiding complexity</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7" name="The Commenting Paradox"/>
          <p:cNvSpPr txBox="1"/>
          <p:nvPr>
            <p:ph type="title"/>
          </p:nvPr>
        </p:nvSpPr>
        <p:spPr>
          <a:prstGeom prst="rect">
            <a:avLst/>
          </a:prstGeom>
        </p:spPr>
        <p:txBody>
          <a:bodyPr/>
          <a:lstStyle/>
          <a:p>
            <a:pPr/>
            <a:r>
              <a:t>The Commenting Paradox</a:t>
            </a:r>
          </a:p>
        </p:txBody>
      </p:sp>
      <p:sp>
        <p:nvSpPr>
          <p:cNvPr id="188" name="“The process of writing comments, if done correctly, will actually improve a system’s design.”…"/>
          <p:cNvSpPr txBox="1"/>
          <p:nvPr>
            <p:ph type="body" idx="1"/>
          </p:nvPr>
        </p:nvSpPr>
        <p:spPr>
          <a:xfrm>
            <a:off x="1688592" y="3069576"/>
            <a:ext cx="21824355" cy="9296401"/>
          </a:xfrm>
          <a:prstGeom prst="rect">
            <a:avLst/>
          </a:prstGeom>
        </p:spPr>
        <p:txBody>
          <a:bodyPr/>
          <a:lstStyle/>
          <a:p>
            <a:pPr>
              <a:lnSpc>
                <a:spcPct val="120000"/>
              </a:lnSpc>
            </a:pPr>
            <a:r>
              <a:t>“The process of writing comments, if done correctly, will actually improve a system’s design.” </a:t>
            </a:r>
          </a:p>
          <a:p>
            <a:pPr>
              <a:lnSpc>
                <a:spcPct val="120000"/>
              </a:lnSpc>
            </a:pPr>
            <a:r>
              <a:t>- John Ousterhout (2022), Stanford University</a:t>
            </a:r>
          </a:p>
          <a:p>
            <a:pPr>
              <a:lnSpc>
                <a:spcPct val="120000"/>
              </a:lnSpc>
            </a:pP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0" name="The Commenting Paradox"/>
          <p:cNvSpPr txBox="1"/>
          <p:nvPr>
            <p:ph type="title"/>
          </p:nvPr>
        </p:nvSpPr>
        <p:spPr>
          <a:prstGeom prst="rect">
            <a:avLst/>
          </a:prstGeom>
        </p:spPr>
        <p:txBody>
          <a:bodyPr/>
          <a:lstStyle/>
          <a:p>
            <a:pPr/>
            <a:r>
              <a:t>The Commenting Paradox</a:t>
            </a:r>
          </a:p>
        </p:txBody>
      </p:sp>
      <p:sp>
        <p:nvSpPr>
          <p:cNvPr id="191" name="“The overall idea behind comments is to capture information that was in the mind of the designer but couldn’t be represented in the code.”…"/>
          <p:cNvSpPr txBox="1"/>
          <p:nvPr>
            <p:ph type="body" idx="1"/>
          </p:nvPr>
        </p:nvSpPr>
        <p:spPr>
          <a:xfrm>
            <a:off x="1688592" y="3069576"/>
            <a:ext cx="21824355" cy="9296401"/>
          </a:xfrm>
          <a:prstGeom prst="rect">
            <a:avLst/>
          </a:prstGeom>
        </p:spPr>
        <p:txBody>
          <a:bodyPr/>
          <a:lstStyle/>
          <a:p>
            <a:pPr>
              <a:lnSpc>
                <a:spcPct val="120000"/>
              </a:lnSpc>
            </a:pPr>
            <a:r>
              <a:t>“The overall idea behind comments is to capture information that was in the mind of the designer but couldn’t be represented in the code.”</a:t>
            </a:r>
          </a:p>
          <a:p>
            <a:pPr>
              <a:lnSpc>
                <a:spcPct val="120000"/>
              </a:lnSpc>
            </a:pPr>
          </a:p>
          <a:p>
            <a:pPr>
              <a:lnSpc>
                <a:spcPct val="120000"/>
              </a:lnSpc>
            </a:pPr>
            <a:r>
              <a:t>- John Ousterhout (2022), Stanford University</a:t>
            </a:r>
          </a:p>
          <a:p>
            <a:pPr>
              <a:lnSpc>
                <a:spcPct val="120000"/>
              </a:lnSpc>
            </a:pP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3" name="The Commenting Paradox (take a few minutes to read)"/>
          <p:cNvSpPr txBox="1"/>
          <p:nvPr>
            <p:ph type="title"/>
          </p:nvPr>
        </p:nvSpPr>
        <p:spPr>
          <a:prstGeom prst="rect">
            <a:avLst/>
          </a:prstGeom>
        </p:spPr>
        <p:txBody>
          <a:bodyPr/>
          <a:lstStyle/>
          <a:p>
            <a:pPr/>
            <a:r>
              <a:t>The Commenting Paradox (take a few minutes to read)</a:t>
            </a:r>
          </a:p>
        </p:txBody>
      </p:sp>
      <p:sp>
        <p:nvSpPr>
          <p:cNvPr id="194" name="Robert C. Martin: “Nothing can be quite so helpful as a well-placed comment. Nothing can clutter up a module more than frivolous dogmatic comments. Nothing can be quite so damaging as an old crufty comment that propagates lies and misinformation.…"/>
          <p:cNvSpPr txBox="1"/>
          <p:nvPr>
            <p:ph type="body" idx="1"/>
          </p:nvPr>
        </p:nvSpPr>
        <p:spPr>
          <a:xfrm>
            <a:off x="1688592" y="3069576"/>
            <a:ext cx="21824355" cy="9296401"/>
          </a:xfrm>
          <a:prstGeom prst="rect">
            <a:avLst/>
          </a:prstGeom>
        </p:spPr>
        <p:txBody>
          <a:bodyPr/>
          <a:lstStyle/>
          <a:p>
            <a:pPr defTabSz="886968">
              <a:lnSpc>
                <a:spcPct val="120000"/>
              </a:lnSpc>
              <a:spcBef>
                <a:spcPts val="900"/>
              </a:spcBef>
              <a:defRPr sz="3686"/>
            </a:pPr>
            <a:r>
              <a:t>Robert C. Martin: “Nothing can be quite so helpful as a well-placed comment. Nothing can clutter up a module more than frivolous dogmatic comments. Nothing can be quite so damaging as an old crufty comment that propagates lies and misinformation.</a:t>
            </a:r>
          </a:p>
          <a:p>
            <a:pPr defTabSz="886968">
              <a:lnSpc>
                <a:spcPct val="120000"/>
              </a:lnSpc>
              <a:spcBef>
                <a:spcPts val="900"/>
              </a:spcBef>
              <a:defRPr sz="3686"/>
            </a:pPr>
            <a:r>
              <a:t>Comments are not like Schindler's List. They are not "pure good." Indeed, comments are, at best, a necessary evil. If our programming languages were expressive enough, or if we had the talent to subtly wield those languages to express our intent, we would not need comments very much -- perhaps not at all.</a:t>
            </a:r>
          </a:p>
          <a:p>
            <a:pPr defTabSz="886968">
              <a:lnSpc>
                <a:spcPct val="120000"/>
              </a:lnSpc>
              <a:spcBef>
                <a:spcPts val="900"/>
              </a:spcBef>
              <a:defRPr sz="3686"/>
            </a:pPr>
            <a:r>
              <a:t>The proper use of comments is to compensate for our failure to express ourself in code. Note that I used the word failure. I meant it. Comments are always failures. We must have them because we cannot always figure out how to express ourselves without them, but their use is not a cause for celebration.</a:t>
            </a:r>
          </a:p>
          <a:p>
            <a:pPr defTabSz="886968">
              <a:lnSpc>
                <a:spcPct val="120000"/>
              </a:lnSpc>
              <a:spcBef>
                <a:spcPts val="900"/>
              </a:spcBef>
              <a:defRPr sz="3686"/>
            </a:pPr>
            <a:r>
              <a:t>So when you find yourself in a position where you need to write a comment, think it through and see whether there isn't some way to turn the tables and express yourself in code. Every time you express yourself in code, you should pat yourself on the back. Every time you write a comment, you should grimace and feel the failure of your ability of expression.”</a:t>
            </a:r>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8" name="The Commenting Paradox"/>
          <p:cNvSpPr txBox="1"/>
          <p:nvPr>
            <p:ph type="title"/>
          </p:nvPr>
        </p:nvSpPr>
        <p:spPr>
          <a:prstGeom prst="rect">
            <a:avLst/>
          </a:prstGeom>
        </p:spPr>
        <p:txBody>
          <a:bodyPr/>
          <a:lstStyle/>
          <a:p>
            <a:pPr/>
            <a:r>
              <a:t>The Commenting Paradox</a:t>
            </a:r>
          </a:p>
        </p:txBody>
      </p:sp>
      <p:graphicFrame>
        <p:nvGraphicFramePr>
          <p:cNvPr id="199" name="Tabel 1"/>
          <p:cNvGraphicFramePr/>
          <p:nvPr/>
        </p:nvGraphicFramePr>
        <p:xfrm>
          <a:off x="1943482" y="3832227"/>
          <a:ext cx="15130454" cy="5316034"/>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7563004"/>
                <a:gridCol w="7563004"/>
              </a:tblGrid>
              <a:tr h="606070">
                <a:tc>
                  <a:txBody>
                    <a:bodyPr/>
                    <a:lstStyle/>
                    <a:p>
                      <a:pPr algn="l" defTabSz="457200">
                        <a:defRPr b="0" sz="1800">
                          <a:solidFill>
                            <a:srgbClr val="000000"/>
                          </a:solidFill>
                        </a:defRPr>
                      </a:pPr>
                      <a:r>
                        <a:rPr b="1" sz="3100">
                          <a:latin typeface="Arial"/>
                          <a:ea typeface="Arial"/>
                          <a:cs typeface="Arial"/>
                          <a:sym typeface="Arial"/>
                        </a:rPr>
                        <a:t>Martin</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a:solidFill>
                        <a:srgbClr val="000000"/>
                      </a:solidFill>
                      <a:miter lim="400000"/>
                    </a:lnB>
                    <a:solidFill>
                      <a:srgbClr val="BEC0BF"/>
                    </a:solidFill>
                  </a:tcPr>
                </a:tc>
                <a:tc>
                  <a:txBody>
                    <a:bodyPr/>
                    <a:lstStyle/>
                    <a:p>
                      <a:pPr algn="l" defTabSz="457200">
                        <a:defRPr b="0" sz="1800">
                          <a:solidFill>
                            <a:srgbClr val="000000"/>
                          </a:solidFill>
                        </a:defRPr>
                      </a:pPr>
                      <a:r>
                        <a:rPr b="1" sz="3100">
                          <a:latin typeface="Arial"/>
                          <a:ea typeface="Arial"/>
                          <a:cs typeface="Arial"/>
                          <a:sym typeface="Arial"/>
                        </a:rPr>
                        <a:t>Ousterhout</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a:solidFill>
                        <a:srgbClr val="000000"/>
                      </a:solidFill>
                      <a:miter lim="400000"/>
                    </a:lnB>
                    <a:solidFill>
                      <a:srgbClr val="BEC0BF"/>
                    </a:solidFill>
                  </a:tcPr>
                </a:tc>
              </a:tr>
              <a:tr h="552905">
                <a:tc>
                  <a:txBody>
                    <a:bodyPr/>
                    <a:lstStyle/>
                    <a:p>
                      <a:pPr algn="l" defTabSz="457200">
                        <a:defRPr sz="1800"/>
                      </a:pPr>
                      <a:r>
                        <a:rPr sz="3100">
                          <a:latin typeface="Arial"/>
                          <a:ea typeface="Arial"/>
                          <a:cs typeface="Arial"/>
                          <a:sym typeface="Arial"/>
                        </a:rPr>
                        <a:t>Comments = failure to express in code</a:t>
                      </a:r>
                    </a:p>
                  </a:txBody>
                  <a:tcPr marL="50800" marR="50800" marT="50800" marB="50800" anchor="t" anchorCtr="0" horzOverflow="overflow">
                    <a:lnL w="4445">
                      <a:solidFill>
                        <a:srgbClr val="000000"/>
                      </a:solidFill>
                      <a:miter lim="400000"/>
                    </a:lnL>
                    <a:lnR w="4445">
                      <a:solidFill>
                        <a:srgbClr val="000000"/>
                      </a:solidFill>
                      <a:miter lim="400000"/>
                    </a:lnR>
                    <a:lnT>
                      <a:solidFill>
                        <a:srgbClr val="000000"/>
                      </a:solidFill>
                      <a:miter lim="400000"/>
                    </a:lnT>
                    <a:lnB w="4445">
                      <a:solidFill>
                        <a:srgbClr val="000000"/>
                      </a:solidFill>
                      <a:miter lim="400000"/>
                    </a:lnB>
                    <a:noFill/>
                  </a:tcPr>
                </a:tc>
                <a:tc>
                  <a:txBody>
                    <a:bodyPr/>
                    <a:lstStyle/>
                    <a:p>
                      <a:pPr algn="l" defTabSz="457200">
                        <a:defRPr sz="3100">
                          <a:latin typeface="Arial"/>
                          <a:ea typeface="Arial"/>
                          <a:cs typeface="Arial"/>
                          <a:sym typeface="Arial"/>
                        </a:defRPr>
                      </a:pPr>
                      <a:r>
                        <a:t>Comments = different </a:t>
                      </a:r>
                      <a:r>
                        <a:rPr i="1"/>
                        <a:t>type</a:t>
                      </a:r>
                      <a:r>
                        <a:t> of expression</a:t>
                      </a:r>
                    </a:p>
                  </a:txBody>
                  <a:tcPr marL="50800" marR="50800" marT="50800" marB="50800" anchor="t" anchorCtr="0" horzOverflow="overflow">
                    <a:lnL w="4445">
                      <a:solidFill>
                        <a:srgbClr val="000000"/>
                      </a:solidFill>
                      <a:miter lim="400000"/>
                    </a:lnL>
                    <a:lnR w="4445">
                      <a:solidFill>
                        <a:srgbClr val="000000"/>
                      </a:solidFill>
                      <a:miter lim="400000"/>
                    </a:lnR>
                    <a:lnT>
                      <a:solidFill>
                        <a:srgbClr val="000000"/>
                      </a:solidFill>
                      <a:miter lim="400000"/>
                    </a:lnT>
                    <a:lnB w="4445">
                      <a:solidFill>
                        <a:srgbClr val="000000"/>
                      </a:solidFill>
                      <a:miter lim="400000"/>
                    </a:lnB>
                    <a:noFill/>
                  </a:tcPr>
                </a:tc>
              </a:tr>
              <a:tr h="550365">
                <a:tc>
                  <a:txBody>
                    <a:bodyPr/>
                    <a:lstStyle/>
                    <a:p>
                      <a:pPr algn="l" defTabSz="457200">
                        <a:defRPr sz="1800"/>
                      </a:pPr>
                      <a:r>
                        <a:rPr sz="3100">
                          <a:latin typeface="Arial"/>
                          <a:ea typeface="Arial"/>
                          <a:cs typeface="Arial"/>
                          <a:sym typeface="Arial"/>
                        </a:rPr>
                        <a:t>Code is the only truth</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3100">
                          <a:latin typeface="Arial"/>
                          <a:ea typeface="Arial"/>
                          <a:cs typeface="Arial"/>
                          <a:sym typeface="Arial"/>
                        </a:defRPr>
                      </a:pPr>
                      <a:r>
                        <a:t>Code says </a:t>
                      </a:r>
                      <a:r>
                        <a:rPr i="1"/>
                        <a:t>what</a:t>
                      </a:r>
                      <a:r>
                        <a:t>, comments say </a:t>
                      </a:r>
                      <a:r>
                        <a:rPr i="1"/>
                        <a:t>why</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r h="550365">
                <a:tc>
                  <a:txBody>
                    <a:bodyPr/>
                    <a:lstStyle/>
                    <a:p>
                      <a:pPr algn="l" defTabSz="457200">
                        <a:defRPr sz="1800"/>
                      </a:pPr>
                      <a:r>
                        <a:rPr sz="3100">
                          <a:latin typeface="Arial"/>
                          <a:ea typeface="Arial"/>
                          <a:cs typeface="Arial"/>
                          <a:sym typeface="Arial"/>
                        </a:rPr>
                        <a:t>Minimise comments</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3100">
                          <a:latin typeface="Arial"/>
                          <a:ea typeface="Arial"/>
                          <a:cs typeface="Arial"/>
                          <a:sym typeface="Arial"/>
                        </a:defRPr>
                      </a:pPr>
                      <a:r>
                        <a:t>Write </a:t>
                      </a:r>
                      <a:r>
                        <a:rPr i="1"/>
                        <a:t>good</a:t>
                      </a:r>
                      <a:r>
                        <a:t> comments</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r h="550365">
                <a:tc>
                  <a:txBody>
                    <a:bodyPr/>
                    <a:lstStyle/>
                    <a:p>
                      <a:pPr algn="l" defTabSz="457200">
                        <a:defRPr sz="1800"/>
                      </a:pPr>
                      <a:r>
                        <a:rPr sz="3100">
                          <a:latin typeface="Arial"/>
                          <a:ea typeface="Arial"/>
                          <a:cs typeface="Arial"/>
                          <a:sym typeface="Arial"/>
                        </a:rPr>
                        <a:t>Comments lie</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3100">
                          <a:latin typeface="Arial"/>
                          <a:ea typeface="Arial"/>
                          <a:cs typeface="Arial"/>
                          <a:sym typeface="Arial"/>
                        </a:defRPr>
                      </a:pPr>
                      <a:r>
                        <a:rPr i="1"/>
                        <a:t>Unmaintained</a:t>
                      </a:r>
                      <a:r>
                        <a:t> comments lie</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bl>
          </a:graphicData>
        </a:graphic>
      </p:graphicFrame>
      <p:sp>
        <p:nvSpPr>
          <p:cNvPr id="200" name="Martin sees comments as a fallback for inadequate code.…"/>
          <p:cNvSpPr txBox="1"/>
          <p:nvPr>
            <p:ph type="body" idx="1"/>
          </p:nvPr>
        </p:nvSpPr>
        <p:spPr>
          <a:xfrm>
            <a:off x="1688592" y="3069576"/>
            <a:ext cx="21824355" cy="9296401"/>
          </a:xfrm>
          <a:prstGeom prst="rect">
            <a:avLst/>
          </a:prstGeom>
        </p:spPr>
        <p:txBody>
          <a:bodyPr/>
          <a:lstStyle/>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r>
              <a:t>Martin sees comments as a </a:t>
            </a:r>
            <a:r>
              <a:rPr i="1"/>
              <a:t>fallback</a:t>
            </a:r>
            <a:r>
              <a:t> for </a:t>
            </a:r>
            <a:r>
              <a:rPr i="1"/>
              <a:t>inadequate code</a:t>
            </a:r>
            <a:r>
              <a:t>. </a:t>
            </a:r>
          </a:p>
          <a:p>
            <a:pPr>
              <a:lnSpc>
                <a:spcPct val="120000"/>
              </a:lnSpc>
            </a:pPr>
            <a:r>
              <a:t>Ousterhout sees comments as a </a:t>
            </a:r>
            <a:r>
              <a:rPr i="1"/>
              <a:t>complement to code</a:t>
            </a:r>
            <a:r>
              <a:t> – both need to be well-written, and </a:t>
            </a:r>
          </a:p>
          <a:p>
            <a:pPr>
              <a:lnSpc>
                <a:spcPct val="120000"/>
              </a:lnSpc>
            </a:pPr>
            <a:r>
              <a:t>good comments actually improve design by forcing you to think clearly about intent.</a:t>
            </a:r>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4" name="Rechthoek"/>
          <p:cNvSpPr/>
          <p:nvPr/>
        </p:nvSpPr>
        <p:spPr>
          <a:xfrm>
            <a:off x="1625640" y="3015595"/>
            <a:ext cx="18886873" cy="5161440"/>
          </a:xfrm>
          <a:prstGeom prst="rect">
            <a:avLst/>
          </a:prstGeom>
          <a:solidFill>
            <a:srgbClr val="1E1E1E"/>
          </a:solidFill>
          <a:ln w="12700">
            <a:solidFill>
              <a:schemeClr val="accent1"/>
            </a:solidFill>
            <a:miter/>
          </a:ln>
        </p:spPr>
        <p:txBody>
          <a:bodyPr lIns="45719" rIns="45719" anchor="ctr"/>
          <a:lstStyle/>
          <a:p>
            <a:pPr/>
          </a:p>
        </p:txBody>
      </p:sp>
      <p:sp>
        <p:nvSpPr>
          <p:cNvPr id="205" name="The Commenting Paradox"/>
          <p:cNvSpPr txBox="1"/>
          <p:nvPr>
            <p:ph type="title"/>
          </p:nvPr>
        </p:nvSpPr>
        <p:spPr>
          <a:prstGeom prst="rect">
            <a:avLst/>
          </a:prstGeom>
        </p:spPr>
        <p:txBody>
          <a:bodyPr/>
          <a:lstStyle/>
          <a:p>
            <a:pPr/>
            <a:r>
              <a:t>The Commenting Paradox</a:t>
            </a:r>
          </a:p>
        </p:txBody>
      </p:sp>
      <p:sp>
        <p:nvSpPr>
          <p:cNvPr id="206" name="const uint8_t WATCHDOG_TIMEOUT_MS = 120;…"/>
          <p:cNvSpPr txBox="1"/>
          <p:nvPr>
            <p:ph type="body" idx="1"/>
          </p:nvPr>
        </p:nvSpPr>
        <p:spPr>
          <a:xfrm>
            <a:off x="1688592" y="3069576"/>
            <a:ext cx="21824355" cy="9296401"/>
          </a:xfrm>
          <a:prstGeom prst="rect">
            <a:avLst/>
          </a:prstGeom>
        </p:spPr>
        <p:txBody>
          <a:bodyPr/>
          <a:lstStyle/>
          <a:p>
            <a:pPr defTabSz="457200">
              <a:lnSpc>
                <a:spcPct val="100000"/>
              </a:lnSpc>
              <a:spcBef>
                <a:spcPts val="0"/>
              </a:spcBef>
              <a:defRPr sz="3000">
                <a:solidFill>
                  <a:srgbClr val="D4D4D4"/>
                </a:solidFill>
                <a:latin typeface="Menlo Regular"/>
                <a:ea typeface="Menlo Regular"/>
                <a:cs typeface="Menlo Regular"/>
                <a:sym typeface="Menlo Regular"/>
              </a:defRPr>
            </a:pPr>
            <a:r>
              <a:rPr>
                <a:solidFill>
                  <a:srgbClr val="569CD6"/>
                </a:solidFill>
              </a:rPr>
              <a:t>const</a:t>
            </a:r>
            <a:r>
              <a:t> </a:t>
            </a:r>
            <a:r>
              <a:rPr>
                <a:solidFill>
                  <a:srgbClr val="569CD6"/>
                </a:solidFill>
              </a:rPr>
              <a:t>uint8_t</a:t>
            </a:r>
            <a:r>
              <a:t> WATCHDOG_TIMEOUT_MS = </a:t>
            </a:r>
            <a:r>
              <a:rPr>
                <a:solidFill>
                  <a:srgbClr val="B5CEA8"/>
                </a:solidFill>
              </a:rPr>
              <a:t>120</a:t>
            </a:r>
            <a:r>
              <a:t>;</a:t>
            </a:r>
          </a:p>
          <a:p>
            <a:pPr defTabSz="457200">
              <a:lnSpc>
                <a:spcPct val="100000"/>
              </a:lnSpc>
              <a:spcBef>
                <a:spcPts val="0"/>
              </a:spcBef>
              <a:defRPr sz="3000">
                <a:solidFill>
                  <a:srgbClr val="D4D4D4"/>
                </a:solidFill>
                <a:latin typeface="Menlo Regular"/>
                <a:ea typeface="Menlo Regular"/>
                <a:cs typeface="Menlo Regular"/>
                <a:sym typeface="Menlo Regular"/>
              </a:defRPr>
            </a:pPr>
            <a:r>
              <a:rPr>
                <a:solidFill>
                  <a:srgbClr val="569CD6"/>
                </a:solidFill>
              </a:rPr>
              <a:t>const</a:t>
            </a:r>
            <a:r>
              <a:t> </a:t>
            </a:r>
            <a:r>
              <a:rPr>
                <a:solidFill>
                  <a:srgbClr val="569CD6"/>
                </a:solidFill>
              </a:rPr>
              <a:t>uint8_t</a:t>
            </a:r>
            <a:r>
              <a:t> SAFETY_MARGIN_MS = </a:t>
            </a:r>
            <a:r>
              <a:rPr>
                <a:solidFill>
                  <a:srgbClr val="B5CEA8"/>
                </a:solidFill>
              </a:rPr>
              <a:t>25</a:t>
            </a:r>
            <a:r>
              <a:t>;</a:t>
            </a:r>
          </a:p>
          <a:p>
            <a:pPr defTabSz="457200">
              <a:lnSpc>
                <a:spcPct val="100000"/>
              </a:lnSpc>
              <a:spcBef>
                <a:spcPts val="0"/>
              </a:spcBef>
              <a:defRPr sz="3000">
                <a:solidFill>
                  <a:srgbClr val="D4D4D4"/>
                </a:solidFill>
                <a:latin typeface="Menlo Regular"/>
                <a:ea typeface="Menlo Regular"/>
                <a:cs typeface="Menlo Regular"/>
                <a:sym typeface="Menlo Regular"/>
              </a:defRPr>
            </a:pPr>
            <a:r>
              <a:rPr>
                <a:solidFill>
                  <a:srgbClr val="569CD6"/>
                </a:solidFill>
              </a:rPr>
              <a:t>const</a:t>
            </a:r>
            <a:r>
              <a:t> </a:t>
            </a:r>
            <a:r>
              <a:rPr>
                <a:solidFill>
                  <a:srgbClr val="569CD6"/>
                </a:solidFill>
              </a:rPr>
              <a:t>uint8_t</a:t>
            </a:r>
            <a:r>
              <a:t> MAX_PROCESSING_DELAY_MS = WATCHDOG_TIMEOUT_MS - SAFETY_MARGIN_MS;</a:t>
            </a:r>
          </a:p>
          <a:p>
            <a:pPr defTabSz="457200">
              <a:lnSpc>
                <a:spcPct val="100000"/>
              </a:lnSpc>
              <a:spcBef>
                <a:spcPts val="0"/>
              </a:spcBef>
              <a:defRPr sz="3000">
                <a:solidFill>
                  <a:srgbClr val="D4D4D4"/>
                </a:solidFill>
                <a:latin typeface="Menlo Regular"/>
                <a:ea typeface="Menlo Regular"/>
                <a:cs typeface="Menlo Regular"/>
                <a:sym typeface="Menlo Regular"/>
              </a:defRPr>
            </a:pPr>
          </a:p>
          <a:p>
            <a:pPr defTabSz="457200">
              <a:lnSpc>
                <a:spcPct val="100000"/>
              </a:lnSpc>
              <a:spcBef>
                <a:spcPts val="0"/>
              </a:spcBef>
              <a:defRPr sz="3000">
                <a:solidFill>
                  <a:srgbClr val="DCDCAA"/>
                </a:solidFill>
                <a:latin typeface="Menlo Regular"/>
                <a:ea typeface="Menlo Regular"/>
                <a:cs typeface="Menlo Regular"/>
                <a:sym typeface="Menlo Regular"/>
              </a:defRPr>
            </a:pPr>
            <a:r>
              <a:rPr>
                <a:solidFill>
                  <a:srgbClr val="569CD6"/>
                </a:solidFill>
              </a:rPr>
              <a:t>void</a:t>
            </a:r>
            <a:r>
              <a:rPr>
                <a:solidFill>
                  <a:srgbClr val="D4D4D4"/>
                </a:solidFill>
              </a:rPr>
              <a:t> </a:t>
            </a:r>
            <a:r>
              <a:t>processData</a:t>
            </a:r>
            <a:r>
              <a:rPr>
                <a:solidFill>
                  <a:srgbClr val="D4D4D4"/>
                </a:solidFill>
              </a:rPr>
              <a:t>() {</a:t>
            </a:r>
            <a:endParaRPr>
              <a:solidFill>
                <a:srgbClr val="D4D4D4"/>
              </a:solidFill>
            </a:endParaRPr>
          </a:p>
          <a:p>
            <a:pPr defTabSz="457200">
              <a:lnSpc>
                <a:spcPct val="100000"/>
              </a:lnSpc>
              <a:spcBef>
                <a:spcPts val="0"/>
              </a:spcBef>
              <a:defRPr sz="3000">
                <a:solidFill>
                  <a:srgbClr val="DCDCAA"/>
                </a:solidFill>
                <a:latin typeface="Menlo Regular"/>
                <a:ea typeface="Menlo Regular"/>
                <a:cs typeface="Menlo Regular"/>
                <a:sym typeface="Menlo Regular"/>
              </a:defRPr>
            </a:pPr>
            <a:r>
              <a:rPr>
                <a:solidFill>
                  <a:srgbClr val="D4D4D4"/>
                </a:solidFill>
              </a:rPr>
              <a:t>    </a:t>
            </a:r>
            <a:r>
              <a:t>readSensors</a:t>
            </a:r>
            <a:r>
              <a:rPr>
                <a:solidFill>
                  <a:srgbClr val="D4D4D4"/>
                </a:solidFill>
              </a:rPr>
              <a:t>();</a:t>
            </a:r>
            <a:endParaRPr>
              <a:solidFill>
                <a:srgbClr val="D4D4D4"/>
              </a:solidFill>
            </a:endParaRPr>
          </a:p>
          <a:p>
            <a:pPr defTabSz="457200">
              <a:lnSpc>
                <a:spcPct val="100000"/>
              </a:lnSpc>
              <a:spcBef>
                <a:spcPts val="0"/>
              </a:spcBef>
              <a:defRPr sz="3000">
                <a:solidFill>
                  <a:srgbClr val="DCDCAA"/>
                </a:solidFill>
                <a:latin typeface="Menlo Regular"/>
                <a:ea typeface="Menlo Regular"/>
                <a:cs typeface="Menlo Regular"/>
                <a:sym typeface="Menlo Regular"/>
              </a:defRPr>
            </a:pPr>
            <a:r>
              <a:rPr>
                <a:solidFill>
                  <a:srgbClr val="D4D4D4"/>
                </a:solidFill>
              </a:rPr>
              <a:t>    </a:t>
            </a:r>
            <a:r>
              <a:t>calculateOutput</a:t>
            </a:r>
            <a:r>
              <a:rPr>
                <a:solidFill>
                  <a:srgbClr val="D4D4D4"/>
                </a:solidFill>
              </a:rPr>
              <a:t>();</a:t>
            </a:r>
            <a:endParaRPr>
              <a:solidFill>
                <a:srgbClr val="D4D4D4"/>
              </a:solidFill>
            </a:endParaRPr>
          </a:p>
          <a:p>
            <a:pPr defTabSz="457200">
              <a:lnSpc>
                <a:spcPct val="100000"/>
              </a:lnSpc>
              <a:spcBef>
                <a:spcPts val="0"/>
              </a:spcBef>
              <a:defRPr sz="3000">
                <a:solidFill>
                  <a:srgbClr val="D4D4D4"/>
                </a:solidFill>
                <a:latin typeface="Menlo Regular"/>
                <a:ea typeface="Menlo Regular"/>
                <a:cs typeface="Menlo Regular"/>
                <a:sym typeface="Menlo Regular"/>
              </a:defRPr>
            </a:pPr>
            <a:r>
              <a:t>    </a:t>
            </a:r>
            <a:r>
              <a:rPr>
                <a:solidFill>
                  <a:srgbClr val="DCDCAA"/>
                </a:solidFill>
              </a:rPr>
              <a:t>delay</a:t>
            </a:r>
            <a:r>
              <a:t>(MAX_PROCESSING_DELAY_MS);</a:t>
            </a:r>
          </a:p>
          <a:p>
            <a:pPr defTabSz="457200">
              <a:lnSpc>
                <a:spcPct val="100000"/>
              </a:lnSpc>
              <a:spcBef>
                <a:spcPts val="0"/>
              </a:spcBef>
              <a:defRPr sz="3000">
                <a:solidFill>
                  <a:srgbClr val="DCDCAA"/>
                </a:solidFill>
                <a:latin typeface="Menlo Regular"/>
                <a:ea typeface="Menlo Regular"/>
                <a:cs typeface="Menlo Regular"/>
                <a:sym typeface="Menlo Regular"/>
              </a:defRPr>
            </a:pPr>
            <a:r>
              <a:rPr>
                <a:solidFill>
                  <a:srgbClr val="D4D4D4"/>
                </a:solidFill>
              </a:rPr>
              <a:t>    </a:t>
            </a:r>
            <a:r>
              <a:t>transmitResult</a:t>
            </a:r>
            <a:r>
              <a:rPr>
                <a:solidFill>
                  <a:srgbClr val="D4D4D4"/>
                </a:solidFill>
              </a:rPr>
              <a:t>();</a:t>
            </a:r>
            <a:endParaRPr>
              <a:solidFill>
                <a:srgbClr val="D4D4D4"/>
              </a:solidFill>
            </a:endParaRPr>
          </a:p>
          <a:p>
            <a:pPr defTabSz="457200">
              <a:lnSpc>
                <a:spcPct val="100000"/>
              </a:lnSpc>
              <a:spcBef>
                <a:spcPts val="0"/>
              </a:spcBef>
              <a:defRPr sz="3000">
                <a:solidFill>
                  <a:srgbClr val="D4D4D4"/>
                </a:solidFill>
                <a:latin typeface="Menlo Regular"/>
                <a:ea typeface="Menlo Regular"/>
                <a:cs typeface="Menlo Regular"/>
                <a:sym typeface="Menlo Regular"/>
              </a:defRPr>
            </a:pPr>
            <a:r>
              <a:t>}</a:t>
            </a:r>
          </a:p>
          <a:p>
            <a:pPr defTabSz="457200">
              <a:lnSpc>
                <a:spcPct val="100000"/>
              </a:lnSpc>
              <a:spcBef>
                <a:spcPts val="0"/>
              </a:spcBef>
              <a:defRPr sz="3000">
                <a:solidFill>
                  <a:srgbClr val="D4D4D4"/>
                </a:solidFill>
                <a:latin typeface="Menlo Regular"/>
                <a:ea typeface="Menlo Regular"/>
                <a:cs typeface="Menlo Regular"/>
                <a:sym typeface="Menlo Regular"/>
              </a:defRPr>
            </a:pPr>
          </a:p>
        </p:txBody>
      </p:sp>
      <p:sp>
        <p:nvSpPr>
          <p:cNvPr id="207" name="- Is this code well-written?"/>
          <p:cNvSpPr txBox="1"/>
          <p:nvPr/>
        </p:nvSpPr>
        <p:spPr>
          <a:xfrm>
            <a:off x="1688592" y="8621852"/>
            <a:ext cx="21824355" cy="3744125"/>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lvl1pPr>
              <a:lnSpc>
                <a:spcPct val="120000"/>
              </a:lnSpc>
              <a:spcBef>
                <a:spcPts val="1000"/>
              </a:spcBef>
              <a:defRPr sz="3800">
                <a:latin typeface="Arial"/>
                <a:ea typeface="Arial"/>
                <a:cs typeface="Arial"/>
                <a:sym typeface="Arial"/>
              </a:defRPr>
            </a:lvl1pPr>
          </a:lstStyle>
          <a:p>
            <a:pPr/>
            <a:r>
              <a:t>- Is this code well-written?</a:t>
            </a:r>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1" name="Rechthoek"/>
          <p:cNvSpPr/>
          <p:nvPr/>
        </p:nvSpPr>
        <p:spPr>
          <a:xfrm>
            <a:off x="1625640" y="3015595"/>
            <a:ext cx="18886873" cy="5161440"/>
          </a:xfrm>
          <a:prstGeom prst="rect">
            <a:avLst/>
          </a:prstGeom>
          <a:solidFill>
            <a:srgbClr val="1E1E1E"/>
          </a:solidFill>
          <a:ln w="12700">
            <a:solidFill>
              <a:schemeClr val="accent1"/>
            </a:solidFill>
            <a:miter/>
          </a:ln>
        </p:spPr>
        <p:txBody>
          <a:bodyPr lIns="45719" rIns="45719" anchor="ctr"/>
          <a:lstStyle/>
          <a:p>
            <a:pPr/>
          </a:p>
        </p:txBody>
      </p:sp>
      <p:sp>
        <p:nvSpPr>
          <p:cNvPr id="212" name="The Commenting Paradox"/>
          <p:cNvSpPr txBox="1"/>
          <p:nvPr>
            <p:ph type="title"/>
          </p:nvPr>
        </p:nvSpPr>
        <p:spPr>
          <a:prstGeom prst="rect">
            <a:avLst/>
          </a:prstGeom>
        </p:spPr>
        <p:txBody>
          <a:bodyPr/>
          <a:lstStyle/>
          <a:p>
            <a:pPr/>
            <a:r>
              <a:t>The Commenting Paradox</a:t>
            </a:r>
          </a:p>
        </p:txBody>
      </p:sp>
      <p:sp>
        <p:nvSpPr>
          <p:cNvPr id="213" name="const uint8_t WATCHDOG_TIMEOUT_MS = 120;…"/>
          <p:cNvSpPr txBox="1"/>
          <p:nvPr>
            <p:ph type="body" idx="1"/>
          </p:nvPr>
        </p:nvSpPr>
        <p:spPr>
          <a:xfrm>
            <a:off x="1688592" y="3069576"/>
            <a:ext cx="21824355" cy="9296401"/>
          </a:xfrm>
          <a:prstGeom prst="rect">
            <a:avLst/>
          </a:prstGeom>
        </p:spPr>
        <p:txBody>
          <a:bodyPr/>
          <a:lstStyle/>
          <a:p>
            <a:pPr defTabSz="457200">
              <a:lnSpc>
                <a:spcPct val="100000"/>
              </a:lnSpc>
              <a:spcBef>
                <a:spcPts val="0"/>
              </a:spcBef>
              <a:defRPr sz="3000">
                <a:solidFill>
                  <a:srgbClr val="D4D4D4"/>
                </a:solidFill>
                <a:latin typeface="Menlo Regular"/>
                <a:ea typeface="Menlo Regular"/>
                <a:cs typeface="Menlo Regular"/>
                <a:sym typeface="Menlo Regular"/>
              </a:defRPr>
            </a:pPr>
            <a:r>
              <a:rPr>
                <a:solidFill>
                  <a:srgbClr val="569CD6"/>
                </a:solidFill>
              </a:rPr>
              <a:t>const</a:t>
            </a:r>
            <a:r>
              <a:t> </a:t>
            </a:r>
            <a:r>
              <a:rPr>
                <a:solidFill>
                  <a:srgbClr val="569CD6"/>
                </a:solidFill>
              </a:rPr>
              <a:t>uint8_t</a:t>
            </a:r>
            <a:r>
              <a:t> WATCHDOG_TIMEOUT_MS = </a:t>
            </a:r>
            <a:r>
              <a:rPr>
                <a:solidFill>
                  <a:srgbClr val="B5CEA8"/>
                </a:solidFill>
              </a:rPr>
              <a:t>120</a:t>
            </a:r>
            <a:r>
              <a:t>;</a:t>
            </a:r>
          </a:p>
          <a:p>
            <a:pPr defTabSz="457200">
              <a:lnSpc>
                <a:spcPct val="100000"/>
              </a:lnSpc>
              <a:spcBef>
                <a:spcPts val="0"/>
              </a:spcBef>
              <a:defRPr sz="3000">
                <a:solidFill>
                  <a:srgbClr val="D4D4D4"/>
                </a:solidFill>
                <a:latin typeface="Menlo Regular"/>
                <a:ea typeface="Menlo Regular"/>
                <a:cs typeface="Menlo Regular"/>
                <a:sym typeface="Menlo Regular"/>
              </a:defRPr>
            </a:pPr>
            <a:r>
              <a:rPr>
                <a:solidFill>
                  <a:srgbClr val="569CD6"/>
                </a:solidFill>
              </a:rPr>
              <a:t>const</a:t>
            </a:r>
            <a:r>
              <a:t> </a:t>
            </a:r>
            <a:r>
              <a:rPr>
                <a:solidFill>
                  <a:srgbClr val="569CD6"/>
                </a:solidFill>
              </a:rPr>
              <a:t>uint8_t</a:t>
            </a:r>
            <a:r>
              <a:t> SAFETY_MARGIN_MS = </a:t>
            </a:r>
            <a:r>
              <a:rPr>
                <a:solidFill>
                  <a:srgbClr val="B5CEA8"/>
                </a:solidFill>
              </a:rPr>
              <a:t>25</a:t>
            </a:r>
            <a:r>
              <a:t>;</a:t>
            </a:r>
          </a:p>
          <a:p>
            <a:pPr defTabSz="457200">
              <a:lnSpc>
                <a:spcPct val="100000"/>
              </a:lnSpc>
              <a:spcBef>
                <a:spcPts val="0"/>
              </a:spcBef>
              <a:defRPr sz="3000">
                <a:solidFill>
                  <a:srgbClr val="D4D4D4"/>
                </a:solidFill>
                <a:latin typeface="Menlo Regular"/>
                <a:ea typeface="Menlo Regular"/>
                <a:cs typeface="Menlo Regular"/>
                <a:sym typeface="Menlo Regular"/>
              </a:defRPr>
            </a:pPr>
            <a:r>
              <a:rPr>
                <a:solidFill>
                  <a:srgbClr val="569CD6"/>
                </a:solidFill>
              </a:rPr>
              <a:t>const</a:t>
            </a:r>
            <a:r>
              <a:t> </a:t>
            </a:r>
            <a:r>
              <a:rPr>
                <a:solidFill>
                  <a:srgbClr val="569CD6"/>
                </a:solidFill>
              </a:rPr>
              <a:t>uint8_t</a:t>
            </a:r>
            <a:r>
              <a:t> MAX_PROCESSING_DELAY_MS = WATCHDOG_TIMEOUT_MS - SAFETY_MARGIN_MS;</a:t>
            </a:r>
          </a:p>
          <a:p>
            <a:pPr defTabSz="457200">
              <a:lnSpc>
                <a:spcPct val="100000"/>
              </a:lnSpc>
              <a:spcBef>
                <a:spcPts val="0"/>
              </a:spcBef>
              <a:defRPr sz="3000">
                <a:solidFill>
                  <a:srgbClr val="D4D4D4"/>
                </a:solidFill>
                <a:latin typeface="Menlo Regular"/>
                <a:ea typeface="Menlo Regular"/>
                <a:cs typeface="Menlo Regular"/>
                <a:sym typeface="Menlo Regular"/>
              </a:defRPr>
            </a:pPr>
          </a:p>
          <a:p>
            <a:pPr defTabSz="457200">
              <a:lnSpc>
                <a:spcPct val="100000"/>
              </a:lnSpc>
              <a:spcBef>
                <a:spcPts val="0"/>
              </a:spcBef>
              <a:defRPr sz="3000">
                <a:solidFill>
                  <a:srgbClr val="DCDCAA"/>
                </a:solidFill>
                <a:latin typeface="Menlo Regular"/>
                <a:ea typeface="Menlo Regular"/>
                <a:cs typeface="Menlo Regular"/>
                <a:sym typeface="Menlo Regular"/>
              </a:defRPr>
            </a:pPr>
            <a:r>
              <a:rPr>
                <a:solidFill>
                  <a:srgbClr val="569CD6"/>
                </a:solidFill>
              </a:rPr>
              <a:t>void</a:t>
            </a:r>
            <a:r>
              <a:rPr>
                <a:solidFill>
                  <a:srgbClr val="D4D4D4"/>
                </a:solidFill>
              </a:rPr>
              <a:t> </a:t>
            </a:r>
            <a:r>
              <a:t>processData</a:t>
            </a:r>
            <a:r>
              <a:rPr>
                <a:solidFill>
                  <a:srgbClr val="D4D4D4"/>
                </a:solidFill>
              </a:rPr>
              <a:t>() {</a:t>
            </a:r>
            <a:endParaRPr>
              <a:solidFill>
                <a:srgbClr val="D4D4D4"/>
              </a:solidFill>
            </a:endParaRPr>
          </a:p>
          <a:p>
            <a:pPr defTabSz="457200">
              <a:lnSpc>
                <a:spcPct val="100000"/>
              </a:lnSpc>
              <a:spcBef>
                <a:spcPts val="0"/>
              </a:spcBef>
              <a:defRPr sz="3000">
                <a:solidFill>
                  <a:srgbClr val="DCDCAA"/>
                </a:solidFill>
                <a:latin typeface="Menlo Regular"/>
                <a:ea typeface="Menlo Regular"/>
                <a:cs typeface="Menlo Regular"/>
                <a:sym typeface="Menlo Regular"/>
              </a:defRPr>
            </a:pPr>
            <a:r>
              <a:rPr>
                <a:solidFill>
                  <a:srgbClr val="D4D4D4"/>
                </a:solidFill>
              </a:rPr>
              <a:t>    </a:t>
            </a:r>
            <a:r>
              <a:t>readSensors</a:t>
            </a:r>
            <a:r>
              <a:rPr>
                <a:solidFill>
                  <a:srgbClr val="D4D4D4"/>
                </a:solidFill>
              </a:rPr>
              <a:t>();</a:t>
            </a:r>
            <a:endParaRPr>
              <a:solidFill>
                <a:srgbClr val="D4D4D4"/>
              </a:solidFill>
            </a:endParaRPr>
          </a:p>
          <a:p>
            <a:pPr defTabSz="457200">
              <a:lnSpc>
                <a:spcPct val="100000"/>
              </a:lnSpc>
              <a:spcBef>
                <a:spcPts val="0"/>
              </a:spcBef>
              <a:defRPr sz="3000">
                <a:solidFill>
                  <a:srgbClr val="DCDCAA"/>
                </a:solidFill>
                <a:latin typeface="Menlo Regular"/>
                <a:ea typeface="Menlo Regular"/>
                <a:cs typeface="Menlo Regular"/>
                <a:sym typeface="Menlo Regular"/>
              </a:defRPr>
            </a:pPr>
            <a:r>
              <a:rPr>
                <a:solidFill>
                  <a:srgbClr val="D4D4D4"/>
                </a:solidFill>
              </a:rPr>
              <a:t>    </a:t>
            </a:r>
            <a:r>
              <a:t>calculateOutput</a:t>
            </a:r>
            <a:r>
              <a:rPr>
                <a:solidFill>
                  <a:srgbClr val="D4D4D4"/>
                </a:solidFill>
              </a:rPr>
              <a:t>();</a:t>
            </a:r>
            <a:endParaRPr>
              <a:solidFill>
                <a:srgbClr val="D4D4D4"/>
              </a:solidFill>
            </a:endParaRPr>
          </a:p>
          <a:p>
            <a:pPr defTabSz="457200">
              <a:lnSpc>
                <a:spcPct val="100000"/>
              </a:lnSpc>
              <a:spcBef>
                <a:spcPts val="0"/>
              </a:spcBef>
              <a:defRPr sz="3000">
                <a:solidFill>
                  <a:srgbClr val="D4D4D4"/>
                </a:solidFill>
                <a:latin typeface="Menlo Regular"/>
                <a:ea typeface="Menlo Regular"/>
                <a:cs typeface="Menlo Regular"/>
                <a:sym typeface="Menlo Regular"/>
              </a:defRPr>
            </a:pPr>
            <a:r>
              <a:t>    </a:t>
            </a:r>
            <a:r>
              <a:rPr>
                <a:solidFill>
                  <a:srgbClr val="DCDCAA"/>
                </a:solidFill>
              </a:rPr>
              <a:t>delay</a:t>
            </a:r>
            <a:r>
              <a:t>(MAX_PROCESSING_DELAY_MS);</a:t>
            </a:r>
          </a:p>
          <a:p>
            <a:pPr defTabSz="457200">
              <a:lnSpc>
                <a:spcPct val="100000"/>
              </a:lnSpc>
              <a:spcBef>
                <a:spcPts val="0"/>
              </a:spcBef>
              <a:defRPr sz="3000">
                <a:solidFill>
                  <a:srgbClr val="DCDCAA"/>
                </a:solidFill>
                <a:latin typeface="Menlo Regular"/>
                <a:ea typeface="Menlo Regular"/>
                <a:cs typeface="Menlo Regular"/>
                <a:sym typeface="Menlo Regular"/>
              </a:defRPr>
            </a:pPr>
            <a:r>
              <a:rPr>
                <a:solidFill>
                  <a:srgbClr val="D4D4D4"/>
                </a:solidFill>
              </a:rPr>
              <a:t>    </a:t>
            </a:r>
            <a:r>
              <a:t>transmitResult</a:t>
            </a:r>
            <a:r>
              <a:rPr>
                <a:solidFill>
                  <a:srgbClr val="D4D4D4"/>
                </a:solidFill>
              </a:rPr>
              <a:t>();</a:t>
            </a:r>
            <a:endParaRPr>
              <a:solidFill>
                <a:srgbClr val="D4D4D4"/>
              </a:solidFill>
            </a:endParaRPr>
          </a:p>
          <a:p>
            <a:pPr defTabSz="457200">
              <a:lnSpc>
                <a:spcPct val="100000"/>
              </a:lnSpc>
              <a:spcBef>
                <a:spcPts val="0"/>
              </a:spcBef>
              <a:defRPr sz="3000">
                <a:solidFill>
                  <a:srgbClr val="D4D4D4"/>
                </a:solidFill>
                <a:latin typeface="Menlo Regular"/>
                <a:ea typeface="Menlo Regular"/>
                <a:cs typeface="Menlo Regular"/>
                <a:sym typeface="Menlo Regular"/>
              </a:defRPr>
            </a:pPr>
            <a:r>
              <a:t>}</a:t>
            </a:r>
          </a:p>
          <a:p>
            <a:pPr defTabSz="457200">
              <a:lnSpc>
                <a:spcPct val="100000"/>
              </a:lnSpc>
              <a:spcBef>
                <a:spcPts val="0"/>
              </a:spcBef>
              <a:defRPr sz="3000">
                <a:solidFill>
                  <a:srgbClr val="D4D4D4"/>
                </a:solidFill>
                <a:latin typeface="Menlo Regular"/>
                <a:ea typeface="Menlo Regular"/>
                <a:cs typeface="Menlo Regular"/>
                <a:sym typeface="Menlo Regular"/>
              </a:defRPr>
            </a:pPr>
          </a:p>
        </p:txBody>
      </p:sp>
      <p:sp>
        <p:nvSpPr>
          <p:cNvPr id="214" name="- Is this code well-written?…"/>
          <p:cNvSpPr txBox="1"/>
          <p:nvPr/>
        </p:nvSpPr>
        <p:spPr>
          <a:xfrm>
            <a:off x="1688592" y="8621852"/>
            <a:ext cx="21824355" cy="3744125"/>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lnSpc>
                <a:spcPct val="120000"/>
              </a:lnSpc>
              <a:spcBef>
                <a:spcPts val="1000"/>
              </a:spcBef>
              <a:defRPr sz="3800">
                <a:latin typeface="Arial"/>
                <a:ea typeface="Arial"/>
                <a:cs typeface="Arial"/>
                <a:sym typeface="Arial"/>
              </a:defRPr>
            </a:pPr>
            <a:r>
              <a:t>- Is this code well-written?</a:t>
            </a:r>
          </a:p>
          <a:p>
            <a:pPr>
              <a:lnSpc>
                <a:spcPct val="120000"/>
              </a:lnSpc>
              <a:spcBef>
                <a:spcPts val="1000"/>
              </a:spcBef>
              <a:defRPr sz="3800">
                <a:latin typeface="Arial"/>
                <a:ea typeface="Arial"/>
                <a:cs typeface="Arial"/>
                <a:sym typeface="Arial"/>
              </a:defRPr>
            </a:pPr>
            <a:r>
              <a:t>- Why was it written the way it was?</a:t>
            </a:r>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8" name="Rechthoek"/>
          <p:cNvSpPr/>
          <p:nvPr/>
        </p:nvSpPr>
        <p:spPr>
          <a:xfrm>
            <a:off x="1625640" y="3015595"/>
            <a:ext cx="18886873" cy="5953026"/>
          </a:xfrm>
          <a:prstGeom prst="rect">
            <a:avLst/>
          </a:prstGeom>
          <a:solidFill>
            <a:srgbClr val="1E1E1E"/>
          </a:solidFill>
          <a:ln w="12700">
            <a:solidFill>
              <a:schemeClr val="accent1"/>
            </a:solidFill>
            <a:miter/>
          </a:ln>
        </p:spPr>
        <p:txBody>
          <a:bodyPr lIns="45719" rIns="45719" anchor="ctr"/>
          <a:lstStyle/>
          <a:p>
            <a:pPr/>
          </a:p>
        </p:txBody>
      </p:sp>
      <p:sp>
        <p:nvSpPr>
          <p:cNvPr id="219" name="The Commenting Paradox"/>
          <p:cNvSpPr txBox="1"/>
          <p:nvPr>
            <p:ph type="title"/>
          </p:nvPr>
        </p:nvSpPr>
        <p:spPr>
          <a:prstGeom prst="rect">
            <a:avLst/>
          </a:prstGeom>
        </p:spPr>
        <p:txBody>
          <a:bodyPr/>
          <a:lstStyle/>
          <a:p>
            <a:pPr/>
            <a:r>
              <a:t>The Commenting Paradox</a:t>
            </a:r>
          </a:p>
        </p:txBody>
      </p:sp>
      <p:sp>
        <p:nvSpPr>
          <p:cNvPr id="220" name="const uint8_t WATCHDOG_TIMEOUT_MS = 120;…"/>
          <p:cNvSpPr txBox="1"/>
          <p:nvPr>
            <p:ph type="body" idx="1"/>
          </p:nvPr>
        </p:nvSpPr>
        <p:spPr>
          <a:xfrm>
            <a:off x="1688592" y="3069576"/>
            <a:ext cx="21824355" cy="9296401"/>
          </a:xfrm>
          <a:prstGeom prst="rect">
            <a:avLst/>
          </a:prstGeom>
        </p:spPr>
        <p:txBody>
          <a:bodyPr/>
          <a:lstStyle/>
          <a:p>
            <a:pPr defTabSz="457200">
              <a:lnSpc>
                <a:spcPct val="100000"/>
              </a:lnSpc>
              <a:spcBef>
                <a:spcPts val="0"/>
              </a:spcBef>
              <a:defRPr sz="3000">
                <a:solidFill>
                  <a:srgbClr val="D4D4D4"/>
                </a:solidFill>
                <a:latin typeface="Menlo Regular"/>
                <a:ea typeface="Menlo Regular"/>
                <a:cs typeface="Menlo Regular"/>
                <a:sym typeface="Menlo Regular"/>
              </a:defRPr>
            </a:pPr>
            <a:r>
              <a:rPr>
                <a:solidFill>
                  <a:srgbClr val="569CD6"/>
                </a:solidFill>
              </a:rPr>
              <a:t>const</a:t>
            </a:r>
            <a:r>
              <a:t> </a:t>
            </a:r>
            <a:r>
              <a:rPr>
                <a:solidFill>
                  <a:srgbClr val="569CD6"/>
                </a:solidFill>
              </a:rPr>
              <a:t>uint8_t</a:t>
            </a:r>
            <a:r>
              <a:t> WATCHDOG_TIMEOUT_MS = </a:t>
            </a:r>
            <a:r>
              <a:rPr>
                <a:solidFill>
                  <a:srgbClr val="B5CEA8"/>
                </a:solidFill>
              </a:rPr>
              <a:t>120</a:t>
            </a:r>
            <a:r>
              <a:t>;</a:t>
            </a:r>
          </a:p>
          <a:p>
            <a:pPr defTabSz="457200">
              <a:lnSpc>
                <a:spcPct val="100000"/>
              </a:lnSpc>
              <a:spcBef>
                <a:spcPts val="0"/>
              </a:spcBef>
              <a:defRPr sz="3000">
                <a:solidFill>
                  <a:srgbClr val="D4D4D4"/>
                </a:solidFill>
                <a:latin typeface="Menlo Regular"/>
                <a:ea typeface="Menlo Regular"/>
                <a:cs typeface="Menlo Regular"/>
                <a:sym typeface="Menlo Regular"/>
              </a:defRPr>
            </a:pPr>
            <a:r>
              <a:rPr>
                <a:solidFill>
                  <a:srgbClr val="569CD6"/>
                </a:solidFill>
              </a:rPr>
              <a:t>const</a:t>
            </a:r>
            <a:r>
              <a:t> </a:t>
            </a:r>
            <a:r>
              <a:rPr>
                <a:solidFill>
                  <a:srgbClr val="569CD6"/>
                </a:solidFill>
              </a:rPr>
              <a:t>uint8_t</a:t>
            </a:r>
            <a:r>
              <a:t> SAFETY_MARGIN_MS = </a:t>
            </a:r>
            <a:r>
              <a:rPr>
                <a:solidFill>
                  <a:srgbClr val="B5CEA8"/>
                </a:solidFill>
              </a:rPr>
              <a:t>25</a:t>
            </a:r>
            <a:r>
              <a:t>;</a:t>
            </a:r>
          </a:p>
          <a:p>
            <a:pPr defTabSz="457200">
              <a:lnSpc>
                <a:spcPct val="100000"/>
              </a:lnSpc>
              <a:spcBef>
                <a:spcPts val="0"/>
              </a:spcBef>
              <a:defRPr sz="3000">
                <a:solidFill>
                  <a:srgbClr val="D4D4D4"/>
                </a:solidFill>
                <a:latin typeface="Menlo Regular"/>
                <a:ea typeface="Menlo Regular"/>
                <a:cs typeface="Menlo Regular"/>
                <a:sym typeface="Menlo Regular"/>
              </a:defRPr>
            </a:pPr>
            <a:r>
              <a:rPr>
                <a:solidFill>
                  <a:srgbClr val="569CD6"/>
                </a:solidFill>
              </a:rPr>
              <a:t>const</a:t>
            </a:r>
            <a:r>
              <a:t> </a:t>
            </a:r>
            <a:r>
              <a:rPr>
                <a:solidFill>
                  <a:srgbClr val="569CD6"/>
                </a:solidFill>
              </a:rPr>
              <a:t>uint8_t</a:t>
            </a:r>
            <a:r>
              <a:t> MAX_PROCESSING_DELAY_MS = WATCHDOG_TIMEOUT_MS - SAFETY_MARGIN_MS;</a:t>
            </a:r>
          </a:p>
          <a:p>
            <a:pPr defTabSz="457200">
              <a:lnSpc>
                <a:spcPct val="100000"/>
              </a:lnSpc>
              <a:spcBef>
                <a:spcPts val="0"/>
              </a:spcBef>
              <a:defRPr sz="3000">
                <a:solidFill>
                  <a:srgbClr val="D4D4D4"/>
                </a:solidFill>
                <a:latin typeface="Menlo Regular"/>
                <a:ea typeface="Menlo Regular"/>
                <a:cs typeface="Menlo Regular"/>
                <a:sym typeface="Menlo Regular"/>
              </a:defRPr>
            </a:pPr>
          </a:p>
          <a:p>
            <a:pPr defTabSz="457200">
              <a:lnSpc>
                <a:spcPct val="100000"/>
              </a:lnSpc>
              <a:spcBef>
                <a:spcPts val="0"/>
              </a:spcBef>
              <a:defRPr sz="3000">
                <a:solidFill>
                  <a:srgbClr val="DCDCAA"/>
                </a:solidFill>
                <a:latin typeface="Menlo Regular"/>
                <a:ea typeface="Menlo Regular"/>
                <a:cs typeface="Menlo Regular"/>
                <a:sym typeface="Menlo Regular"/>
              </a:defRPr>
            </a:pPr>
            <a:r>
              <a:rPr>
                <a:solidFill>
                  <a:srgbClr val="569CD6"/>
                </a:solidFill>
              </a:rPr>
              <a:t>void</a:t>
            </a:r>
            <a:r>
              <a:rPr>
                <a:solidFill>
                  <a:srgbClr val="D4D4D4"/>
                </a:solidFill>
              </a:rPr>
              <a:t> </a:t>
            </a:r>
            <a:r>
              <a:t>processData</a:t>
            </a:r>
            <a:r>
              <a:rPr>
                <a:solidFill>
                  <a:srgbClr val="D4D4D4"/>
                </a:solidFill>
              </a:rPr>
              <a:t>() {</a:t>
            </a:r>
            <a:endParaRPr>
              <a:solidFill>
                <a:srgbClr val="D4D4D4"/>
              </a:solidFill>
            </a:endParaRPr>
          </a:p>
          <a:p>
            <a:pPr defTabSz="457200">
              <a:lnSpc>
                <a:spcPct val="100000"/>
              </a:lnSpc>
              <a:spcBef>
                <a:spcPts val="0"/>
              </a:spcBef>
              <a:defRPr sz="3000">
                <a:solidFill>
                  <a:srgbClr val="DCDCAA"/>
                </a:solidFill>
                <a:latin typeface="Menlo Regular"/>
                <a:ea typeface="Menlo Regular"/>
                <a:cs typeface="Menlo Regular"/>
                <a:sym typeface="Menlo Regular"/>
              </a:defRPr>
            </a:pPr>
            <a:r>
              <a:rPr>
                <a:solidFill>
                  <a:srgbClr val="D4D4D4"/>
                </a:solidFill>
              </a:rPr>
              <a:t>    </a:t>
            </a:r>
            <a:r>
              <a:t>readSensors</a:t>
            </a:r>
            <a:r>
              <a:rPr>
                <a:solidFill>
                  <a:srgbClr val="D4D4D4"/>
                </a:solidFill>
              </a:rPr>
              <a:t>();</a:t>
            </a:r>
            <a:endParaRPr>
              <a:solidFill>
                <a:srgbClr val="D4D4D4"/>
              </a:solidFill>
            </a:endParaRPr>
          </a:p>
          <a:p>
            <a:pPr defTabSz="457200">
              <a:lnSpc>
                <a:spcPct val="100000"/>
              </a:lnSpc>
              <a:spcBef>
                <a:spcPts val="0"/>
              </a:spcBef>
              <a:defRPr sz="3000">
                <a:solidFill>
                  <a:srgbClr val="DCDCAA"/>
                </a:solidFill>
                <a:latin typeface="Menlo Regular"/>
                <a:ea typeface="Menlo Regular"/>
                <a:cs typeface="Menlo Regular"/>
                <a:sym typeface="Menlo Regular"/>
              </a:defRPr>
            </a:pPr>
            <a:r>
              <a:rPr>
                <a:solidFill>
                  <a:srgbClr val="D4D4D4"/>
                </a:solidFill>
              </a:rPr>
              <a:t>    </a:t>
            </a:r>
            <a:r>
              <a:t>calculateOutput</a:t>
            </a:r>
            <a:r>
              <a:rPr>
                <a:solidFill>
                  <a:srgbClr val="D4D4D4"/>
                </a:solidFill>
              </a:rPr>
              <a:t>();</a:t>
            </a:r>
            <a:endParaRPr>
              <a:solidFill>
                <a:srgbClr val="D4D4D4"/>
              </a:solidFill>
            </a:endParaRPr>
          </a:p>
          <a:p>
            <a:pPr defTabSz="457200">
              <a:lnSpc>
                <a:spcPct val="100000"/>
              </a:lnSpc>
              <a:spcBef>
                <a:spcPts val="0"/>
              </a:spcBef>
              <a:defRPr sz="3000">
                <a:solidFill>
                  <a:srgbClr val="D4D4D4"/>
                </a:solidFill>
                <a:latin typeface="Menlo Regular"/>
                <a:ea typeface="Menlo Regular"/>
                <a:cs typeface="Menlo Regular"/>
                <a:sym typeface="Menlo Regular"/>
              </a:defRPr>
            </a:pPr>
            <a:r>
              <a:t>    </a:t>
            </a:r>
          </a:p>
          <a:p>
            <a:pPr defTabSz="457200">
              <a:lnSpc>
                <a:spcPct val="100000"/>
              </a:lnSpc>
              <a:spcBef>
                <a:spcPts val="0"/>
              </a:spcBef>
              <a:defRPr sz="3000">
                <a:solidFill>
                  <a:srgbClr val="6A9955"/>
                </a:solidFill>
                <a:latin typeface="Menlo Regular"/>
                <a:ea typeface="Menlo Regular"/>
                <a:cs typeface="Menlo Regular"/>
                <a:sym typeface="Menlo Regular"/>
              </a:defRPr>
            </a:pPr>
            <a:r>
              <a:t>    // See safety certification document SEC-2024-0042.</a:t>
            </a:r>
            <a:endParaRPr>
              <a:solidFill>
                <a:srgbClr val="D4D4D4"/>
              </a:solidFill>
            </a:endParaRPr>
          </a:p>
          <a:p>
            <a:pPr defTabSz="457200">
              <a:lnSpc>
                <a:spcPct val="100000"/>
              </a:lnSpc>
              <a:spcBef>
                <a:spcPts val="0"/>
              </a:spcBef>
              <a:defRPr sz="3000">
                <a:solidFill>
                  <a:srgbClr val="D4D4D4"/>
                </a:solidFill>
                <a:latin typeface="Menlo Regular"/>
                <a:ea typeface="Menlo Regular"/>
                <a:cs typeface="Menlo Regular"/>
                <a:sym typeface="Menlo Regular"/>
              </a:defRPr>
            </a:pPr>
            <a:r>
              <a:t>    </a:t>
            </a:r>
            <a:r>
              <a:rPr>
                <a:solidFill>
                  <a:srgbClr val="DCDCAA"/>
                </a:solidFill>
              </a:rPr>
              <a:t>delay</a:t>
            </a:r>
            <a:r>
              <a:t>(MAX_PROCESSING_DELAY_MS);</a:t>
            </a:r>
          </a:p>
          <a:p>
            <a:pPr defTabSz="457200">
              <a:lnSpc>
                <a:spcPct val="100000"/>
              </a:lnSpc>
              <a:spcBef>
                <a:spcPts val="0"/>
              </a:spcBef>
              <a:defRPr sz="3000">
                <a:solidFill>
                  <a:srgbClr val="D4D4D4"/>
                </a:solidFill>
                <a:latin typeface="Menlo Regular"/>
                <a:ea typeface="Menlo Regular"/>
                <a:cs typeface="Menlo Regular"/>
                <a:sym typeface="Menlo Regular"/>
              </a:defRPr>
            </a:pPr>
          </a:p>
          <a:p>
            <a:pPr defTabSz="457200">
              <a:lnSpc>
                <a:spcPct val="100000"/>
              </a:lnSpc>
              <a:spcBef>
                <a:spcPts val="0"/>
              </a:spcBef>
              <a:defRPr sz="3000">
                <a:solidFill>
                  <a:srgbClr val="DCDCAA"/>
                </a:solidFill>
                <a:latin typeface="Menlo Regular"/>
                <a:ea typeface="Menlo Regular"/>
                <a:cs typeface="Menlo Regular"/>
                <a:sym typeface="Menlo Regular"/>
              </a:defRPr>
            </a:pPr>
            <a:r>
              <a:rPr>
                <a:solidFill>
                  <a:srgbClr val="D4D4D4"/>
                </a:solidFill>
              </a:rPr>
              <a:t>    </a:t>
            </a:r>
            <a:r>
              <a:t>transmitResult</a:t>
            </a:r>
            <a:r>
              <a:rPr>
                <a:solidFill>
                  <a:srgbClr val="D4D4D4"/>
                </a:solidFill>
              </a:rPr>
              <a:t>();</a:t>
            </a:r>
            <a:endParaRPr>
              <a:solidFill>
                <a:srgbClr val="D4D4D4"/>
              </a:solidFill>
            </a:endParaRPr>
          </a:p>
          <a:p>
            <a:pPr defTabSz="457200">
              <a:lnSpc>
                <a:spcPct val="100000"/>
              </a:lnSpc>
              <a:spcBef>
                <a:spcPts val="0"/>
              </a:spcBef>
              <a:defRPr sz="3000">
                <a:solidFill>
                  <a:srgbClr val="D4D4D4"/>
                </a:solidFill>
                <a:latin typeface="Menlo Regular"/>
                <a:ea typeface="Menlo Regular"/>
                <a:cs typeface="Menlo Regular"/>
                <a:sym typeface="Menlo Regular"/>
              </a:defRPr>
            </a:pPr>
            <a:r>
              <a:t>}</a:t>
            </a:r>
          </a:p>
        </p:txBody>
      </p:sp>
      <p:sp>
        <p:nvSpPr>
          <p:cNvPr id="221" name="- Is this better?…"/>
          <p:cNvSpPr txBox="1"/>
          <p:nvPr/>
        </p:nvSpPr>
        <p:spPr>
          <a:xfrm>
            <a:off x="1688592" y="9423551"/>
            <a:ext cx="21824355" cy="2942426"/>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lnSpc>
                <a:spcPct val="120000"/>
              </a:lnSpc>
              <a:spcBef>
                <a:spcPts val="1000"/>
              </a:spcBef>
              <a:defRPr sz="3800">
                <a:latin typeface="Arial"/>
                <a:ea typeface="Arial"/>
                <a:cs typeface="Arial"/>
                <a:sym typeface="Arial"/>
              </a:defRPr>
            </a:pPr>
            <a:r>
              <a:t>- Is this better?</a:t>
            </a:r>
          </a:p>
          <a:p>
            <a:pPr>
              <a:lnSpc>
                <a:spcPct val="120000"/>
              </a:lnSpc>
              <a:spcBef>
                <a:spcPts val="1000"/>
              </a:spcBef>
              <a:defRPr sz="3800">
                <a:latin typeface="Arial"/>
                <a:ea typeface="Arial"/>
                <a:cs typeface="Arial"/>
                <a:sym typeface="Arial"/>
              </a:defRPr>
            </a:pPr>
            <a:r>
              <a:t>- Could we do without the comment?</a:t>
            </a:r>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5" name="Rechthoek"/>
          <p:cNvSpPr/>
          <p:nvPr/>
        </p:nvSpPr>
        <p:spPr>
          <a:xfrm>
            <a:off x="1625640" y="3015595"/>
            <a:ext cx="18886873" cy="6407539"/>
          </a:xfrm>
          <a:prstGeom prst="rect">
            <a:avLst/>
          </a:prstGeom>
          <a:solidFill>
            <a:srgbClr val="1E1E1E"/>
          </a:solidFill>
          <a:ln w="12700">
            <a:solidFill>
              <a:schemeClr val="accent1"/>
            </a:solidFill>
            <a:miter/>
          </a:ln>
        </p:spPr>
        <p:txBody>
          <a:bodyPr lIns="45719" rIns="45719" anchor="ctr"/>
          <a:lstStyle/>
          <a:p>
            <a:pPr/>
          </a:p>
        </p:txBody>
      </p:sp>
      <p:sp>
        <p:nvSpPr>
          <p:cNvPr id="226" name="The Commenting Paradox"/>
          <p:cNvSpPr txBox="1"/>
          <p:nvPr>
            <p:ph type="title"/>
          </p:nvPr>
        </p:nvSpPr>
        <p:spPr>
          <a:prstGeom prst="rect">
            <a:avLst/>
          </a:prstGeom>
        </p:spPr>
        <p:txBody>
          <a:bodyPr/>
          <a:lstStyle/>
          <a:p>
            <a:pPr/>
            <a:r>
              <a:t>The Commenting Paradox</a:t>
            </a:r>
          </a:p>
        </p:txBody>
      </p:sp>
      <p:sp>
        <p:nvSpPr>
          <p:cNvPr id="227" name="const uint8_t WATCHDOG_TIMEOUT_MS = 120;…"/>
          <p:cNvSpPr txBox="1"/>
          <p:nvPr>
            <p:ph type="body" idx="1"/>
          </p:nvPr>
        </p:nvSpPr>
        <p:spPr>
          <a:xfrm>
            <a:off x="1688592" y="3069576"/>
            <a:ext cx="21824355" cy="9296401"/>
          </a:xfrm>
          <a:prstGeom prst="rect">
            <a:avLst/>
          </a:prstGeom>
        </p:spPr>
        <p:txBody>
          <a:bodyPr/>
          <a:lstStyle/>
          <a:p>
            <a:pPr defTabSz="457200">
              <a:lnSpc>
                <a:spcPct val="100000"/>
              </a:lnSpc>
              <a:spcBef>
                <a:spcPts val="0"/>
              </a:spcBef>
              <a:defRPr sz="3000">
                <a:solidFill>
                  <a:srgbClr val="D4D4D4"/>
                </a:solidFill>
                <a:latin typeface="Menlo Regular"/>
                <a:ea typeface="Menlo Regular"/>
                <a:cs typeface="Menlo Regular"/>
                <a:sym typeface="Menlo Regular"/>
              </a:defRPr>
            </a:pPr>
            <a:r>
              <a:rPr>
                <a:solidFill>
                  <a:srgbClr val="569CD6"/>
                </a:solidFill>
              </a:rPr>
              <a:t>const</a:t>
            </a:r>
            <a:r>
              <a:t> </a:t>
            </a:r>
            <a:r>
              <a:rPr>
                <a:solidFill>
                  <a:srgbClr val="569CD6"/>
                </a:solidFill>
              </a:rPr>
              <a:t>uint8_t</a:t>
            </a:r>
            <a:r>
              <a:t> WATCHDOG_TIMEOUT_MS = </a:t>
            </a:r>
            <a:r>
              <a:rPr>
                <a:solidFill>
                  <a:srgbClr val="B5CEA8"/>
                </a:solidFill>
              </a:rPr>
              <a:t>120</a:t>
            </a:r>
            <a:r>
              <a:t>;</a:t>
            </a:r>
          </a:p>
          <a:p>
            <a:pPr defTabSz="457200">
              <a:lnSpc>
                <a:spcPct val="100000"/>
              </a:lnSpc>
              <a:spcBef>
                <a:spcPts val="0"/>
              </a:spcBef>
              <a:defRPr sz="3000">
                <a:solidFill>
                  <a:srgbClr val="D4D4D4"/>
                </a:solidFill>
                <a:latin typeface="Menlo Regular"/>
                <a:ea typeface="Menlo Regular"/>
                <a:cs typeface="Menlo Regular"/>
                <a:sym typeface="Menlo Regular"/>
              </a:defRPr>
            </a:pPr>
            <a:r>
              <a:rPr>
                <a:solidFill>
                  <a:srgbClr val="569CD6"/>
                </a:solidFill>
              </a:rPr>
              <a:t>const</a:t>
            </a:r>
            <a:r>
              <a:t> </a:t>
            </a:r>
            <a:r>
              <a:rPr>
                <a:solidFill>
                  <a:srgbClr val="569CD6"/>
                </a:solidFill>
              </a:rPr>
              <a:t>uint8_t</a:t>
            </a:r>
            <a:r>
              <a:t> SAFETY_MARGIN_MS = </a:t>
            </a:r>
            <a:r>
              <a:rPr>
                <a:solidFill>
                  <a:srgbClr val="B5CEA8"/>
                </a:solidFill>
              </a:rPr>
              <a:t>25</a:t>
            </a:r>
            <a:r>
              <a:t>;</a:t>
            </a:r>
          </a:p>
          <a:p>
            <a:pPr defTabSz="457200">
              <a:lnSpc>
                <a:spcPct val="100000"/>
              </a:lnSpc>
              <a:spcBef>
                <a:spcPts val="0"/>
              </a:spcBef>
              <a:defRPr sz="3000">
                <a:solidFill>
                  <a:srgbClr val="D4D4D4"/>
                </a:solidFill>
                <a:latin typeface="Menlo Regular"/>
                <a:ea typeface="Menlo Regular"/>
                <a:cs typeface="Menlo Regular"/>
                <a:sym typeface="Menlo Regular"/>
              </a:defRPr>
            </a:pPr>
            <a:r>
              <a:rPr>
                <a:solidFill>
                  <a:srgbClr val="569CD6"/>
                </a:solidFill>
              </a:rPr>
              <a:t>const</a:t>
            </a:r>
            <a:r>
              <a:t> </a:t>
            </a:r>
            <a:r>
              <a:rPr>
                <a:solidFill>
                  <a:srgbClr val="569CD6"/>
                </a:solidFill>
              </a:rPr>
              <a:t>uint8_t</a:t>
            </a:r>
            <a:r>
              <a:t> MAX_PROCESSING_DELAY_MS = WATCHDOG_TIMEOUT_MS - SAFETY_MARGIN_MS;</a:t>
            </a:r>
          </a:p>
          <a:p>
            <a:pPr defTabSz="457200">
              <a:lnSpc>
                <a:spcPct val="100000"/>
              </a:lnSpc>
              <a:spcBef>
                <a:spcPts val="0"/>
              </a:spcBef>
              <a:defRPr sz="3000">
                <a:solidFill>
                  <a:srgbClr val="D4D4D4"/>
                </a:solidFill>
                <a:latin typeface="Menlo Regular"/>
                <a:ea typeface="Menlo Regular"/>
                <a:cs typeface="Menlo Regular"/>
                <a:sym typeface="Menlo Regular"/>
              </a:defRPr>
            </a:pPr>
          </a:p>
          <a:p>
            <a:pPr defTabSz="457200">
              <a:lnSpc>
                <a:spcPct val="100000"/>
              </a:lnSpc>
              <a:spcBef>
                <a:spcPts val="0"/>
              </a:spcBef>
              <a:defRPr sz="3000">
                <a:solidFill>
                  <a:srgbClr val="DCDCAA"/>
                </a:solidFill>
                <a:latin typeface="Menlo Regular"/>
                <a:ea typeface="Menlo Regular"/>
                <a:cs typeface="Menlo Regular"/>
                <a:sym typeface="Menlo Regular"/>
              </a:defRPr>
            </a:pPr>
            <a:r>
              <a:rPr>
                <a:solidFill>
                  <a:srgbClr val="569CD6"/>
                </a:solidFill>
              </a:rPr>
              <a:t>void</a:t>
            </a:r>
            <a:r>
              <a:rPr>
                <a:solidFill>
                  <a:srgbClr val="D4D4D4"/>
                </a:solidFill>
              </a:rPr>
              <a:t> </a:t>
            </a:r>
            <a:r>
              <a:t>processData</a:t>
            </a:r>
            <a:r>
              <a:rPr>
                <a:solidFill>
                  <a:srgbClr val="D4D4D4"/>
                </a:solidFill>
              </a:rPr>
              <a:t>() {</a:t>
            </a:r>
            <a:endParaRPr>
              <a:solidFill>
                <a:srgbClr val="D4D4D4"/>
              </a:solidFill>
            </a:endParaRPr>
          </a:p>
          <a:p>
            <a:pPr defTabSz="457200">
              <a:lnSpc>
                <a:spcPct val="100000"/>
              </a:lnSpc>
              <a:spcBef>
                <a:spcPts val="0"/>
              </a:spcBef>
              <a:defRPr sz="3000">
                <a:solidFill>
                  <a:srgbClr val="DCDCAA"/>
                </a:solidFill>
                <a:latin typeface="Menlo Regular"/>
                <a:ea typeface="Menlo Regular"/>
                <a:cs typeface="Menlo Regular"/>
                <a:sym typeface="Menlo Regular"/>
              </a:defRPr>
            </a:pPr>
            <a:r>
              <a:rPr>
                <a:solidFill>
                  <a:srgbClr val="D4D4D4"/>
                </a:solidFill>
              </a:rPr>
              <a:t>    </a:t>
            </a:r>
            <a:r>
              <a:t>readSensors</a:t>
            </a:r>
            <a:r>
              <a:rPr>
                <a:solidFill>
                  <a:srgbClr val="D4D4D4"/>
                </a:solidFill>
              </a:rPr>
              <a:t>();</a:t>
            </a:r>
            <a:endParaRPr>
              <a:solidFill>
                <a:srgbClr val="D4D4D4"/>
              </a:solidFill>
            </a:endParaRPr>
          </a:p>
          <a:p>
            <a:pPr defTabSz="457200">
              <a:lnSpc>
                <a:spcPct val="100000"/>
              </a:lnSpc>
              <a:spcBef>
                <a:spcPts val="0"/>
              </a:spcBef>
              <a:defRPr sz="3000">
                <a:solidFill>
                  <a:srgbClr val="DCDCAA"/>
                </a:solidFill>
                <a:latin typeface="Menlo Regular"/>
                <a:ea typeface="Menlo Regular"/>
                <a:cs typeface="Menlo Regular"/>
                <a:sym typeface="Menlo Regular"/>
              </a:defRPr>
            </a:pPr>
            <a:r>
              <a:rPr>
                <a:solidFill>
                  <a:srgbClr val="D4D4D4"/>
                </a:solidFill>
              </a:rPr>
              <a:t>    </a:t>
            </a:r>
            <a:r>
              <a:t>calculateOutput</a:t>
            </a:r>
            <a:r>
              <a:rPr>
                <a:solidFill>
                  <a:srgbClr val="D4D4D4"/>
                </a:solidFill>
              </a:rPr>
              <a:t>();</a:t>
            </a:r>
            <a:endParaRPr>
              <a:solidFill>
                <a:srgbClr val="D4D4D4"/>
              </a:solidFill>
            </a:endParaRPr>
          </a:p>
          <a:p>
            <a:pPr defTabSz="457200">
              <a:lnSpc>
                <a:spcPct val="100000"/>
              </a:lnSpc>
              <a:spcBef>
                <a:spcPts val="0"/>
              </a:spcBef>
              <a:defRPr sz="3000">
                <a:solidFill>
                  <a:srgbClr val="D4D4D4"/>
                </a:solidFill>
                <a:latin typeface="Menlo Regular"/>
                <a:ea typeface="Menlo Regular"/>
                <a:cs typeface="Menlo Regular"/>
                <a:sym typeface="Menlo Regular"/>
              </a:defRPr>
            </a:pPr>
            <a:r>
              <a:t>    </a:t>
            </a:r>
          </a:p>
          <a:p>
            <a:pPr defTabSz="457200">
              <a:lnSpc>
                <a:spcPct val="100000"/>
              </a:lnSpc>
              <a:spcBef>
                <a:spcPts val="0"/>
              </a:spcBef>
              <a:defRPr sz="3000">
                <a:solidFill>
                  <a:srgbClr val="6A9955"/>
                </a:solidFill>
                <a:latin typeface="Menlo Regular"/>
                <a:ea typeface="Menlo Regular"/>
                <a:cs typeface="Menlo Regular"/>
                <a:sym typeface="Menlo Regular"/>
              </a:defRPr>
            </a:pPr>
            <a:r>
              <a:t>    // Rate limit: CAN bus protocol requires minimum interval between frames.</a:t>
            </a:r>
            <a:endParaRPr>
              <a:solidFill>
                <a:srgbClr val="D4D4D4"/>
              </a:solidFill>
            </a:endParaRPr>
          </a:p>
          <a:p>
            <a:pPr defTabSz="457200">
              <a:lnSpc>
                <a:spcPct val="100000"/>
              </a:lnSpc>
              <a:spcBef>
                <a:spcPts val="0"/>
              </a:spcBef>
              <a:defRPr sz="3000">
                <a:solidFill>
                  <a:srgbClr val="6A9955"/>
                </a:solidFill>
                <a:latin typeface="Menlo Regular"/>
                <a:ea typeface="Menlo Regular"/>
                <a:cs typeface="Menlo Regular"/>
                <a:sym typeface="Menlo Regular"/>
              </a:defRPr>
            </a:pPr>
            <a:r>
              <a:t>    // See safety certification document SEC-2024-0042.</a:t>
            </a:r>
            <a:endParaRPr>
              <a:solidFill>
                <a:srgbClr val="D4D4D4"/>
              </a:solidFill>
            </a:endParaRPr>
          </a:p>
          <a:p>
            <a:pPr defTabSz="457200">
              <a:lnSpc>
                <a:spcPct val="100000"/>
              </a:lnSpc>
              <a:spcBef>
                <a:spcPts val="0"/>
              </a:spcBef>
              <a:defRPr sz="3000">
                <a:solidFill>
                  <a:srgbClr val="D4D4D4"/>
                </a:solidFill>
                <a:latin typeface="Menlo Regular"/>
                <a:ea typeface="Menlo Regular"/>
                <a:cs typeface="Menlo Regular"/>
                <a:sym typeface="Menlo Regular"/>
              </a:defRPr>
            </a:pPr>
            <a:r>
              <a:t>    </a:t>
            </a:r>
            <a:r>
              <a:rPr>
                <a:solidFill>
                  <a:srgbClr val="DCDCAA"/>
                </a:solidFill>
              </a:rPr>
              <a:t>delay</a:t>
            </a:r>
            <a:r>
              <a:t>(MAX_PROCESSING_DELAY_MS);</a:t>
            </a:r>
          </a:p>
          <a:p>
            <a:pPr defTabSz="457200">
              <a:lnSpc>
                <a:spcPct val="100000"/>
              </a:lnSpc>
              <a:spcBef>
                <a:spcPts val="0"/>
              </a:spcBef>
              <a:defRPr sz="3000">
                <a:solidFill>
                  <a:srgbClr val="D4D4D4"/>
                </a:solidFill>
                <a:latin typeface="Menlo Regular"/>
                <a:ea typeface="Menlo Regular"/>
                <a:cs typeface="Menlo Regular"/>
                <a:sym typeface="Menlo Regular"/>
              </a:defRPr>
            </a:pPr>
          </a:p>
          <a:p>
            <a:pPr defTabSz="457200">
              <a:lnSpc>
                <a:spcPct val="100000"/>
              </a:lnSpc>
              <a:spcBef>
                <a:spcPts val="0"/>
              </a:spcBef>
              <a:defRPr sz="3000">
                <a:solidFill>
                  <a:srgbClr val="DCDCAA"/>
                </a:solidFill>
                <a:latin typeface="Menlo Regular"/>
                <a:ea typeface="Menlo Regular"/>
                <a:cs typeface="Menlo Regular"/>
                <a:sym typeface="Menlo Regular"/>
              </a:defRPr>
            </a:pPr>
            <a:r>
              <a:rPr>
                <a:solidFill>
                  <a:srgbClr val="D4D4D4"/>
                </a:solidFill>
              </a:rPr>
              <a:t>    </a:t>
            </a:r>
            <a:r>
              <a:t>transmitResult</a:t>
            </a:r>
            <a:r>
              <a:rPr>
                <a:solidFill>
                  <a:srgbClr val="D4D4D4"/>
                </a:solidFill>
              </a:rPr>
              <a:t>();</a:t>
            </a:r>
            <a:endParaRPr>
              <a:solidFill>
                <a:srgbClr val="D4D4D4"/>
              </a:solidFill>
            </a:endParaRPr>
          </a:p>
          <a:p>
            <a:pPr defTabSz="457200">
              <a:lnSpc>
                <a:spcPct val="100000"/>
              </a:lnSpc>
              <a:spcBef>
                <a:spcPts val="0"/>
              </a:spcBef>
              <a:defRPr sz="3000">
                <a:solidFill>
                  <a:srgbClr val="D4D4D4"/>
                </a:solidFill>
                <a:latin typeface="Menlo Regular"/>
                <a:ea typeface="Menlo Regular"/>
                <a:cs typeface="Menlo Regular"/>
                <a:sym typeface="Menlo Regular"/>
              </a:defRPr>
            </a:pPr>
            <a:r>
              <a:t>}</a:t>
            </a:r>
          </a:p>
        </p:txBody>
      </p:sp>
      <p:sp>
        <p:nvSpPr>
          <p:cNvPr id="228" name="- Is this better?…"/>
          <p:cNvSpPr txBox="1"/>
          <p:nvPr/>
        </p:nvSpPr>
        <p:spPr>
          <a:xfrm>
            <a:off x="1688592" y="9423551"/>
            <a:ext cx="21824355" cy="2942426"/>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lnSpc>
                <a:spcPct val="120000"/>
              </a:lnSpc>
              <a:spcBef>
                <a:spcPts val="1000"/>
              </a:spcBef>
              <a:defRPr sz="3800">
                <a:latin typeface="Arial"/>
                <a:ea typeface="Arial"/>
                <a:cs typeface="Arial"/>
                <a:sym typeface="Arial"/>
              </a:defRPr>
            </a:pPr>
          </a:p>
          <a:p>
            <a:pPr>
              <a:lnSpc>
                <a:spcPct val="120000"/>
              </a:lnSpc>
              <a:spcBef>
                <a:spcPts val="1000"/>
              </a:spcBef>
              <a:defRPr sz="3800">
                <a:latin typeface="Arial"/>
                <a:ea typeface="Arial"/>
                <a:cs typeface="Arial"/>
                <a:sym typeface="Arial"/>
              </a:defRPr>
            </a:pPr>
            <a:r>
              <a:t>- Is this better?</a:t>
            </a:r>
          </a:p>
          <a:p>
            <a:pPr>
              <a:lnSpc>
                <a:spcPct val="120000"/>
              </a:lnSpc>
              <a:spcBef>
                <a:spcPts val="1000"/>
              </a:spcBef>
              <a:defRPr sz="3800">
                <a:latin typeface="Arial"/>
                <a:ea typeface="Arial"/>
                <a:cs typeface="Arial"/>
                <a:sym typeface="Arial"/>
              </a:defRPr>
            </a:pPr>
            <a:r>
              <a:t>- Could we really do without the comment?</a:t>
            </a:r>
          </a:p>
        </p:txBody>
      </p:sp>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2" name="Rechthoek"/>
          <p:cNvSpPr/>
          <p:nvPr/>
        </p:nvSpPr>
        <p:spPr>
          <a:xfrm>
            <a:off x="1625640" y="3015595"/>
            <a:ext cx="18886873" cy="9102996"/>
          </a:xfrm>
          <a:prstGeom prst="rect">
            <a:avLst/>
          </a:prstGeom>
          <a:solidFill>
            <a:srgbClr val="1E1E1E"/>
          </a:solidFill>
          <a:ln w="12700">
            <a:solidFill>
              <a:schemeClr val="accent1"/>
            </a:solidFill>
            <a:miter/>
          </a:ln>
        </p:spPr>
        <p:txBody>
          <a:bodyPr lIns="45719" rIns="45719" anchor="ctr"/>
          <a:lstStyle/>
          <a:p>
            <a:pPr/>
          </a:p>
        </p:txBody>
      </p:sp>
      <p:sp>
        <p:nvSpPr>
          <p:cNvPr id="233" name="The Commenting Paradox"/>
          <p:cNvSpPr txBox="1"/>
          <p:nvPr>
            <p:ph type="title"/>
          </p:nvPr>
        </p:nvSpPr>
        <p:spPr>
          <a:prstGeom prst="rect">
            <a:avLst/>
          </a:prstGeom>
        </p:spPr>
        <p:txBody>
          <a:bodyPr/>
          <a:lstStyle/>
          <a:p>
            <a:pPr/>
            <a:r>
              <a:t>The Commenting Paradox</a:t>
            </a:r>
          </a:p>
        </p:txBody>
      </p:sp>
      <p:sp>
        <p:nvSpPr>
          <p:cNvPr id="234" name="// main.cpp…"/>
          <p:cNvSpPr txBox="1"/>
          <p:nvPr>
            <p:ph type="body" idx="1"/>
          </p:nvPr>
        </p:nvSpPr>
        <p:spPr>
          <a:xfrm>
            <a:off x="1688592" y="3069576"/>
            <a:ext cx="21824355" cy="9296401"/>
          </a:xfrm>
          <a:prstGeom prst="rect">
            <a:avLst/>
          </a:prstGeom>
        </p:spPr>
        <p:txBody>
          <a:bodyPr/>
          <a:lstStyle/>
          <a:p>
            <a:pPr defTabSz="365760">
              <a:lnSpc>
                <a:spcPct val="100000"/>
              </a:lnSpc>
              <a:spcBef>
                <a:spcPts val="0"/>
              </a:spcBef>
              <a:defRPr sz="2400">
                <a:solidFill>
                  <a:srgbClr val="6A9955"/>
                </a:solidFill>
                <a:latin typeface="Menlo Regular"/>
                <a:ea typeface="Menlo Regular"/>
                <a:cs typeface="Menlo Regular"/>
                <a:sym typeface="Menlo Regular"/>
              </a:defRPr>
            </a:pPr>
            <a:r>
              <a:t>// main.cpp</a:t>
            </a:r>
            <a:endParaRPr>
              <a:solidFill>
                <a:srgbClr val="D4D4D4"/>
              </a:solidFill>
            </a:endParaRPr>
          </a:p>
          <a:p>
            <a:pPr defTabSz="365760">
              <a:lnSpc>
                <a:spcPct val="100000"/>
              </a:lnSpc>
              <a:spcBef>
                <a:spcPts val="0"/>
              </a:spcBef>
              <a:defRPr sz="2400">
                <a:solidFill>
                  <a:srgbClr val="D4D4D4"/>
                </a:solidFill>
                <a:latin typeface="Menlo Regular"/>
                <a:ea typeface="Menlo Regular"/>
                <a:cs typeface="Menlo Regular"/>
                <a:sym typeface="Menlo Regular"/>
              </a:defRPr>
            </a:pPr>
          </a:p>
          <a:p>
            <a:pPr defTabSz="365760">
              <a:lnSpc>
                <a:spcPct val="100000"/>
              </a:lnSpc>
              <a:spcBef>
                <a:spcPts val="0"/>
              </a:spcBef>
              <a:defRPr sz="2400">
                <a:solidFill>
                  <a:srgbClr val="DCDCAA"/>
                </a:solidFill>
                <a:latin typeface="Menlo Regular"/>
                <a:ea typeface="Menlo Regular"/>
                <a:cs typeface="Menlo Regular"/>
                <a:sym typeface="Menlo Regular"/>
              </a:defRPr>
            </a:pPr>
            <a:r>
              <a:rPr>
                <a:solidFill>
                  <a:srgbClr val="569CD6"/>
                </a:solidFill>
              </a:rPr>
              <a:t>void</a:t>
            </a:r>
            <a:r>
              <a:rPr>
                <a:solidFill>
                  <a:srgbClr val="D4D4D4"/>
                </a:solidFill>
              </a:rPr>
              <a:t> </a:t>
            </a:r>
            <a:r>
              <a:t>processData</a:t>
            </a:r>
            <a:r>
              <a:rPr>
                <a:solidFill>
                  <a:srgbClr val="D4D4D4"/>
                </a:solidFill>
              </a:rPr>
              <a:t>() {</a:t>
            </a:r>
            <a:endParaRPr>
              <a:solidFill>
                <a:srgbClr val="D4D4D4"/>
              </a:solidFill>
            </a:endParaRPr>
          </a:p>
          <a:p>
            <a:pPr defTabSz="365760">
              <a:lnSpc>
                <a:spcPct val="100000"/>
              </a:lnSpc>
              <a:spcBef>
                <a:spcPts val="0"/>
              </a:spcBef>
              <a:defRPr sz="2400">
                <a:solidFill>
                  <a:srgbClr val="DCDCAA"/>
                </a:solidFill>
                <a:latin typeface="Menlo Regular"/>
                <a:ea typeface="Menlo Regular"/>
                <a:cs typeface="Menlo Regular"/>
                <a:sym typeface="Menlo Regular"/>
              </a:defRPr>
            </a:pPr>
            <a:r>
              <a:rPr>
                <a:solidFill>
                  <a:srgbClr val="D4D4D4"/>
                </a:solidFill>
              </a:rPr>
              <a:t>    </a:t>
            </a:r>
            <a:r>
              <a:t>readSensors</a:t>
            </a:r>
            <a:r>
              <a:rPr>
                <a:solidFill>
                  <a:srgbClr val="D4D4D4"/>
                </a:solidFill>
              </a:rPr>
              <a:t>();</a:t>
            </a:r>
            <a:endParaRPr>
              <a:solidFill>
                <a:srgbClr val="D4D4D4"/>
              </a:solidFill>
            </a:endParaRPr>
          </a:p>
          <a:p>
            <a:pPr defTabSz="365760">
              <a:lnSpc>
                <a:spcPct val="100000"/>
              </a:lnSpc>
              <a:spcBef>
                <a:spcPts val="0"/>
              </a:spcBef>
              <a:defRPr sz="2400">
                <a:solidFill>
                  <a:srgbClr val="DCDCAA"/>
                </a:solidFill>
                <a:latin typeface="Menlo Regular"/>
                <a:ea typeface="Menlo Regular"/>
                <a:cs typeface="Menlo Regular"/>
                <a:sym typeface="Menlo Regular"/>
              </a:defRPr>
            </a:pPr>
            <a:r>
              <a:rPr>
                <a:solidFill>
                  <a:srgbClr val="D4D4D4"/>
                </a:solidFill>
              </a:rPr>
              <a:t>    </a:t>
            </a:r>
            <a:r>
              <a:t>calculateOutput</a:t>
            </a:r>
            <a:r>
              <a:rPr>
                <a:solidFill>
                  <a:srgbClr val="D4D4D4"/>
                </a:solidFill>
              </a:rPr>
              <a:t>();</a:t>
            </a:r>
            <a:endParaRPr>
              <a:solidFill>
                <a:srgbClr val="D4D4D4"/>
              </a:solidFill>
            </a:endParaRPr>
          </a:p>
          <a:p>
            <a:pPr defTabSz="365760">
              <a:lnSpc>
                <a:spcPct val="100000"/>
              </a:lnSpc>
              <a:spcBef>
                <a:spcPts val="0"/>
              </a:spcBef>
              <a:defRPr sz="2400">
                <a:solidFill>
                  <a:srgbClr val="DCDCAA"/>
                </a:solidFill>
                <a:latin typeface="Menlo Regular"/>
                <a:ea typeface="Menlo Regular"/>
                <a:cs typeface="Menlo Regular"/>
                <a:sym typeface="Menlo Regular"/>
              </a:defRPr>
            </a:pPr>
            <a:r>
              <a:rPr>
                <a:solidFill>
                  <a:srgbClr val="D4D4D4"/>
                </a:solidFill>
              </a:rPr>
              <a:t>    </a:t>
            </a:r>
            <a:r>
              <a:t>waitForNextTransmissionWindow</a:t>
            </a:r>
            <a:r>
              <a:rPr>
                <a:solidFill>
                  <a:srgbClr val="D4D4D4"/>
                </a:solidFill>
              </a:rPr>
              <a:t>();</a:t>
            </a:r>
            <a:endParaRPr>
              <a:solidFill>
                <a:srgbClr val="D4D4D4"/>
              </a:solidFill>
            </a:endParaRPr>
          </a:p>
          <a:p>
            <a:pPr defTabSz="365760">
              <a:lnSpc>
                <a:spcPct val="100000"/>
              </a:lnSpc>
              <a:spcBef>
                <a:spcPts val="0"/>
              </a:spcBef>
              <a:defRPr sz="2400">
                <a:solidFill>
                  <a:srgbClr val="DCDCAA"/>
                </a:solidFill>
                <a:latin typeface="Menlo Regular"/>
                <a:ea typeface="Menlo Regular"/>
                <a:cs typeface="Menlo Regular"/>
                <a:sym typeface="Menlo Regular"/>
              </a:defRPr>
            </a:pPr>
            <a:r>
              <a:rPr>
                <a:solidFill>
                  <a:srgbClr val="D4D4D4"/>
                </a:solidFill>
              </a:rPr>
              <a:t>    </a:t>
            </a:r>
            <a:r>
              <a:t>transmitResult</a:t>
            </a:r>
            <a:r>
              <a:rPr>
                <a:solidFill>
                  <a:srgbClr val="D4D4D4"/>
                </a:solidFill>
              </a:rPr>
              <a:t>();</a:t>
            </a:r>
            <a:endParaRPr>
              <a:solidFill>
                <a:srgbClr val="D4D4D4"/>
              </a:solidFill>
            </a:endParaRPr>
          </a:p>
          <a:p>
            <a:pPr defTabSz="365760">
              <a:lnSpc>
                <a:spcPct val="100000"/>
              </a:lnSpc>
              <a:spcBef>
                <a:spcPts val="0"/>
              </a:spcBef>
              <a:defRPr sz="2400">
                <a:solidFill>
                  <a:srgbClr val="D4D4D4"/>
                </a:solidFill>
                <a:latin typeface="Menlo Regular"/>
                <a:ea typeface="Menlo Regular"/>
                <a:cs typeface="Menlo Regular"/>
                <a:sym typeface="Menlo Regular"/>
              </a:defRPr>
            </a:pPr>
            <a:r>
              <a:t>}</a:t>
            </a:r>
          </a:p>
          <a:p>
            <a:pPr defTabSz="365760">
              <a:lnSpc>
                <a:spcPct val="100000"/>
              </a:lnSpc>
              <a:spcBef>
                <a:spcPts val="0"/>
              </a:spcBef>
              <a:defRPr sz="2400">
                <a:solidFill>
                  <a:srgbClr val="D4D4D4"/>
                </a:solidFill>
                <a:latin typeface="Menlo Regular"/>
                <a:ea typeface="Menlo Regular"/>
                <a:cs typeface="Menlo Regular"/>
                <a:sym typeface="Menlo Regular"/>
              </a:defRPr>
            </a:pPr>
          </a:p>
          <a:p>
            <a:pPr defTabSz="365760">
              <a:lnSpc>
                <a:spcPct val="100000"/>
              </a:lnSpc>
              <a:spcBef>
                <a:spcPts val="0"/>
              </a:spcBef>
              <a:defRPr sz="2400">
                <a:solidFill>
                  <a:srgbClr val="6A9955"/>
                </a:solidFill>
                <a:latin typeface="Menlo Regular"/>
                <a:ea typeface="Menlo Regular"/>
                <a:cs typeface="Menlo Regular"/>
                <a:sym typeface="Menlo Regular"/>
              </a:defRPr>
            </a:pPr>
            <a:r>
              <a:t>// goryDetails.hpp</a:t>
            </a:r>
            <a:endParaRPr>
              <a:solidFill>
                <a:srgbClr val="D4D4D4"/>
              </a:solidFill>
            </a:endParaRPr>
          </a:p>
          <a:p>
            <a:pPr defTabSz="365760">
              <a:lnSpc>
                <a:spcPct val="100000"/>
              </a:lnSpc>
              <a:spcBef>
                <a:spcPts val="0"/>
              </a:spcBef>
              <a:defRPr sz="2400">
                <a:solidFill>
                  <a:srgbClr val="D4D4D4"/>
                </a:solidFill>
                <a:latin typeface="Menlo Regular"/>
                <a:ea typeface="Menlo Regular"/>
                <a:cs typeface="Menlo Regular"/>
                <a:sym typeface="Menlo Regular"/>
              </a:defRPr>
            </a:pPr>
          </a:p>
          <a:p>
            <a:pPr defTabSz="365760">
              <a:lnSpc>
                <a:spcPct val="100000"/>
              </a:lnSpc>
              <a:spcBef>
                <a:spcPts val="0"/>
              </a:spcBef>
              <a:defRPr sz="2400">
                <a:solidFill>
                  <a:srgbClr val="9CDCFE"/>
                </a:solidFill>
                <a:latin typeface="Menlo Regular"/>
                <a:ea typeface="Menlo Regular"/>
                <a:cs typeface="Menlo Regular"/>
                <a:sym typeface="Menlo Regular"/>
              </a:defRPr>
            </a:pPr>
            <a:r>
              <a:rPr>
                <a:solidFill>
                  <a:srgbClr val="569CD6"/>
                </a:solidFill>
              </a:rPr>
              <a:t>const</a:t>
            </a:r>
            <a:r>
              <a:rPr>
                <a:solidFill>
                  <a:srgbClr val="D4D4D4"/>
                </a:solidFill>
              </a:rPr>
              <a:t> </a:t>
            </a:r>
            <a:r>
              <a:rPr>
                <a:solidFill>
                  <a:srgbClr val="4EC9B0"/>
                </a:solidFill>
              </a:rPr>
              <a:t>uint8_t</a:t>
            </a:r>
            <a:r>
              <a:rPr>
                <a:solidFill>
                  <a:srgbClr val="D4D4D4"/>
                </a:solidFill>
              </a:rPr>
              <a:t> </a:t>
            </a:r>
            <a:r>
              <a:t>WATCHDOG_TIMEOUT_MS</a:t>
            </a:r>
            <a:r>
              <a:rPr>
                <a:solidFill>
                  <a:srgbClr val="D4D4D4"/>
                </a:solidFill>
              </a:rPr>
              <a:t> = </a:t>
            </a:r>
            <a:r>
              <a:rPr>
                <a:solidFill>
                  <a:srgbClr val="B5CEA8"/>
                </a:solidFill>
              </a:rPr>
              <a:t>120</a:t>
            </a:r>
            <a:r>
              <a:rPr>
                <a:solidFill>
                  <a:srgbClr val="D4D4D4"/>
                </a:solidFill>
              </a:rPr>
              <a:t>;</a:t>
            </a:r>
            <a:endParaRPr>
              <a:solidFill>
                <a:srgbClr val="D4D4D4"/>
              </a:solidFill>
            </a:endParaRPr>
          </a:p>
          <a:p>
            <a:pPr defTabSz="365760">
              <a:lnSpc>
                <a:spcPct val="100000"/>
              </a:lnSpc>
              <a:spcBef>
                <a:spcPts val="0"/>
              </a:spcBef>
              <a:defRPr sz="2400">
                <a:solidFill>
                  <a:srgbClr val="9CDCFE"/>
                </a:solidFill>
                <a:latin typeface="Menlo Regular"/>
                <a:ea typeface="Menlo Regular"/>
                <a:cs typeface="Menlo Regular"/>
                <a:sym typeface="Menlo Regular"/>
              </a:defRPr>
            </a:pPr>
            <a:r>
              <a:rPr>
                <a:solidFill>
                  <a:srgbClr val="569CD6"/>
                </a:solidFill>
              </a:rPr>
              <a:t>const</a:t>
            </a:r>
            <a:r>
              <a:rPr>
                <a:solidFill>
                  <a:srgbClr val="D4D4D4"/>
                </a:solidFill>
              </a:rPr>
              <a:t> </a:t>
            </a:r>
            <a:r>
              <a:rPr>
                <a:solidFill>
                  <a:srgbClr val="4EC9B0"/>
                </a:solidFill>
              </a:rPr>
              <a:t>uint8_t</a:t>
            </a:r>
            <a:r>
              <a:rPr>
                <a:solidFill>
                  <a:srgbClr val="D4D4D4"/>
                </a:solidFill>
              </a:rPr>
              <a:t> </a:t>
            </a:r>
            <a:r>
              <a:t>SAFETY_MARGIN_MS</a:t>
            </a:r>
            <a:r>
              <a:rPr>
                <a:solidFill>
                  <a:srgbClr val="D4D4D4"/>
                </a:solidFill>
              </a:rPr>
              <a:t> = </a:t>
            </a:r>
            <a:r>
              <a:rPr>
                <a:solidFill>
                  <a:srgbClr val="B5CEA8"/>
                </a:solidFill>
              </a:rPr>
              <a:t>25</a:t>
            </a:r>
            <a:r>
              <a:rPr>
                <a:solidFill>
                  <a:srgbClr val="D4D4D4"/>
                </a:solidFill>
              </a:rPr>
              <a:t>;</a:t>
            </a:r>
            <a:endParaRPr>
              <a:solidFill>
                <a:srgbClr val="D4D4D4"/>
              </a:solidFill>
            </a:endParaRPr>
          </a:p>
          <a:p>
            <a:pPr defTabSz="365760">
              <a:lnSpc>
                <a:spcPct val="100000"/>
              </a:lnSpc>
              <a:spcBef>
                <a:spcPts val="0"/>
              </a:spcBef>
              <a:defRPr sz="2400">
                <a:solidFill>
                  <a:srgbClr val="9CDCFE"/>
                </a:solidFill>
                <a:latin typeface="Menlo Regular"/>
                <a:ea typeface="Menlo Regular"/>
                <a:cs typeface="Menlo Regular"/>
                <a:sym typeface="Menlo Regular"/>
              </a:defRPr>
            </a:pPr>
            <a:r>
              <a:rPr>
                <a:solidFill>
                  <a:srgbClr val="569CD6"/>
                </a:solidFill>
              </a:rPr>
              <a:t>const</a:t>
            </a:r>
            <a:r>
              <a:rPr>
                <a:solidFill>
                  <a:srgbClr val="D4D4D4"/>
                </a:solidFill>
              </a:rPr>
              <a:t> </a:t>
            </a:r>
            <a:r>
              <a:rPr>
                <a:solidFill>
                  <a:srgbClr val="4EC9B0"/>
                </a:solidFill>
              </a:rPr>
              <a:t>uint8_t</a:t>
            </a:r>
            <a:r>
              <a:rPr>
                <a:solidFill>
                  <a:srgbClr val="D4D4D4"/>
                </a:solidFill>
              </a:rPr>
              <a:t> </a:t>
            </a:r>
            <a:r>
              <a:t>TRANSMISSION_INTERVAL_MS</a:t>
            </a:r>
            <a:r>
              <a:rPr>
                <a:solidFill>
                  <a:srgbClr val="D4D4D4"/>
                </a:solidFill>
              </a:rPr>
              <a:t> = </a:t>
            </a:r>
            <a:r>
              <a:t>WATCHDOG_TIMEOUT_MS</a:t>
            </a:r>
            <a:r>
              <a:rPr>
                <a:solidFill>
                  <a:srgbClr val="D4D4D4"/>
                </a:solidFill>
              </a:rPr>
              <a:t> - </a:t>
            </a:r>
            <a:r>
              <a:t>SAFETY_MARGIN_MS</a:t>
            </a:r>
            <a:r>
              <a:rPr>
                <a:solidFill>
                  <a:srgbClr val="D4D4D4"/>
                </a:solidFill>
              </a:rPr>
              <a:t>;</a:t>
            </a:r>
            <a:endParaRPr>
              <a:solidFill>
                <a:srgbClr val="D4D4D4"/>
              </a:solidFill>
            </a:endParaRPr>
          </a:p>
          <a:p>
            <a:pPr defTabSz="365760">
              <a:lnSpc>
                <a:spcPct val="100000"/>
              </a:lnSpc>
              <a:spcBef>
                <a:spcPts val="0"/>
              </a:spcBef>
              <a:defRPr sz="2400">
                <a:solidFill>
                  <a:srgbClr val="D4D4D4"/>
                </a:solidFill>
                <a:latin typeface="Menlo Regular"/>
                <a:ea typeface="Menlo Regular"/>
                <a:cs typeface="Menlo Regular"/>
                <a:sym typeface="Menlo Regular"/>
              </a:defRPr>
            </a:pPr>
          </a:p>
          <a:p>
            <a:pPr defTabSz="365760">
              <a:lnSpc>
                <a:spcPct val="100000"/>
              </a:lnSpc>
              <a:spcBef>
                <a:spcPts val="0"/>
              </a:spcBef>
              <a:defRPr sz="2400">
                <a:solidFill>
                  <a:srgbClr val="6A9955"/>
                </a:solidFill>
                <a:latin typeface="Menlo Regular"/>
                <a:ea typeface="Menlo Regular"/>
                <a:cs typeface="Menlo Regular"/>
                <a:sym typeface="Menlo Regular"/>
              </a:defRPr>
            </a:pPr>
            <a:r>
              <a:t>/**</a:t>
            </a:r>
            <a:endParaRPr>
              <a:solidFill>
                <a:srgbClr val="D4D4D4"/>
              </a:solidFill>
            </a:endParaRPr>
          </a:p>
          <a:p>
            <a:pPr defTabSz="365760">
              <a:lnSpc>
                <a:spcPct val="100000"/>
              </a:lnSpc>
              <a:spcBef>
                <a:spcPts val="0"/>
              </a:spcBef>
              <a:defRPr sz="2400">
                <a:solidFill>
                  <a:srgbClr val="6A9955"/>
                </a:solidFill>
                <a:latin typeface="Menlo Regular"/>
                <a:ea typeface="Menlo Regular"/>
                <a:cs typeface="Menlo Regular"/>
                <a:sym typeface="Menlo Regular"/>
              </a:defRPr>
            </a:pPr>
            <a:r>
              <a:t> * Rate limit: CAN bus protocol requires minimum interval between frames.</a:t>
            </a:r>
            <a:endParaRPr>
              <a:solidFill>
                <a:srgbClr val="D4D4D4"/>
              </a:solidFill>
            </a:endParaRPr>
          </a:p>
          <a:p>
            <a:pPr defTabSz="365760">
              <a:lnSpc>
                <a:spcPct val="100000"/>
              </a:lnSpc>
              <a:spcBef>
                <a:spcPts val="0"/>
              </a:spcBef>
              <a:defRPr sz="2400">
                <a:solidFill>
                  <a:srgbClr val="6A9955"/>
                </a:solidFill>
                <a:latin typeface="Menlo Regular"/>
                <a:ea typeface="Menlo Regular"/>
                <a:cs typeface="Menlo Regular"/>
                <a:sym typeface="Menlo Regular"/>
              </a:defRPr>
            </a:pPr>
            <a:r>
              <a:t> * </a:t>
            </a:r>
            <a:endParaRPr>
              <a:solidFill>
                <a:srgbClr val="D4D4D4"/>
              </a:solidFill>
            </a:endParaRPr>
          </a:p>
          <a:p>
            <a:pPr defTabSz="365760">
              <a:lnSpc>
                <a:spcPct val="100000"/>
              </a:lnSpc>
              <a:spcBef>
                <a:spcPts val="0"/>
              </a:spcBef>
              <a:defRPr sz="2400">
                <a:solidFill>
                  <a:srgbClr val="6A9955"/>
                </a:solidFill>
                <a:latin typeface="Menlo Regular"/>
                <a:ea typeface="Menlo Regular"/>
                <a:cs typeface="Menlo Regular"/>
                <a:sym typeface="Menlo Regular"/>
              </a:defRPr>
            </a:pPr>
            <a:r>
              <a:t> * WARNING: Do not exceed 100ms - watchdog resets MCU at 120ms.</a:t>
            </a:r>
            <a:endParaRPr>
              <a:solidFill>
                <a:srgbClr val="D4D4D4"/>
              </a:solidFill>
            </a:endParaRPr>
          </a:p>
          <a:p>
            <a:pPr defTabSz="365760">
              <a:lnSpc>
                <a:spcPct val="100000"/>
              </a:lnSpc>
              <a:spcBef>
                <a:spcPts val="0"/>
              </a:spcBef>
              <a:defRPr sz="2400">
                <a:solidFill>
                  <a:srgbClr val="6A9955"/>
                </a:solidFill>
                <a:latin typeface="Menlo Regular"/>
                <a:ea typeface="Menlo Regular"/>
                <a:cs typeface="Menlo Regular"/>
                <a:sym typeface="Menlo Regular"/>
              </a:defRPr>
            </a:pPr>
            <a:r>
              <a:t> * See safety certification document SEC-2024-0042.</a:t>
            </a:r>
            <a:endParaRPr>
              <a:solidFill>
                <a:srgbClr val="D4D4D4"/>
              </a:solidFill>
            </a:endParaRPr>
          </a:p>
          <a:p>
            <a:pPr defTabSz="365760">
              <a:lnSpc>
                <a:spcPct val="100000"/>
              </a:lnSpc>
              <a:spcBef>
                <a:spcPts val="0"/>
              </a:spcBef>
              <a:defRPr sz="2400">
                <a:solidFill>
                  <a:srgbClr val="6A9955"/>
                </a:solidFill>
                <a:latin typeface="Menlo Regular"/>
                <a:ea typeface="Menlo Regular"/>
                <a:cs typeface="Menlo Regular"/>
                <a:sym typeface="Menlo Regular"/>
              </a:defRPr>
            </a:pPr>
            <a:r>
              <a:t> */</a:t>
            </a:r>
            <a:endParaRPr>
              <a:solidFill>
                <a:srgbClr val="D4D4D4"/>
              </a:solidFill>
            </a:endParaRPr>
          </a:p>
          <a:p>
            <a:pPr defTabSz="365760">
              <a:lnSpc>
                <a:spcPct val="100000"/>
              </a:lnSpc>
              <a:spcBef>
                <a:spcPts val="0"/>
              </a:spcBef>
              <a:defRPr sz="2400">
                <a:solidFill>
                  <a:srgbClr val="DCDCAA"/>
                </a:solidFill>
                <a:latin typeface="Menlo Regular"/>
                <a:ea typeface="Menlo Regular"/>
                <a:cs typeface="Menlo Regular"/>
                <a:sym typeface="Menlo Regular"/>
              </a:defRPr>
            </a:pPr>
            <a:r>
              <a:rPr>
                <a:solidFill>
                  <a:srgbClr val="569CD6"/>
                </a:solidFill>
              </a:rPr>
              <a:t>void</a:t>
            </a:r>
            <a:r>
              <a:rPr>
                <a:solidFill>
                  <a:srgbClr val="D4D4D4"/>
                </a:solidFill>
              </a:rPr>
              <a:t> </a:t>
            </a:r>
            <a:r>
              <a:t>waitForNextTransmissionWindow</a:t>
            </a:r>
            <a:r>
              <a:rPr>
                <a:solidFill>
                  <a:srgbClr val="D4D4D4"/>
                </a:solidFill>
              </a:rPr>
              <a:t>() {</a:t>
            </a:r>
            <a:endParaRPr>
              <a:solidFill>
                <a:srgbClr val="D4D4D4"/>
              </a:solidFill>
            </a:endParaRPr>
          </a:p>
          <a:p>
            <a:pPr defTabSz="365760">
              <a:lnSpc>
                <a:spcPct val="100000"/>
              </a:lnSpc>
              <a:spcBef>
                <a:spcPts val="0"/>
              </a:spcBef>
              <a:defRPr sz="2400">
                <a:solidFill>
                  <a:srgbClr val="9CDCFE"/>
                </a:solidFill>
                <a:latin typeface="Menlo Regular"/>
                <a:ea typeface="Menlo Regular"/>
                <a:cs typeface="Menlo Regular"/>
                <a:sym typeface="Menlo Regular"/>
              </a:defRPr>
            </a:pPr>
            <a:r>
              <a:rPr>
                <a:solidFill>
                  <a:srgbClr val="D4D4D4"/>
                </a:solidFill>
              </a:rPr>
              <a:t>    </a:t>
            </a:r>
            <a:r>
              <a:rPr>
                <a:solidFill>
                  <a:srgbClr val="DCDCAA"/>
                </a:solidFill>
              </a:rPr>
              <a:t>delay</a:t>
            </a:r>
            <a:r>
              <a:rPr>
                <a:solidFill>
                  <a:srgbClr val="D4D4D4"/>
                </a:solidFill>
              </a:rPr>
              <a:t>(</a:t>
            </a:r>
            <a:r>
              <a:t>TRANSMISSION_INTERVAL_MS</a:t>
            </a:r>
            <a:r>
              <a:rPr>
                <a:solidFill>
                  <a:srgbClr val="D4D4D4"/>
                </a:solidFill>
              </a:rPr>
              <a:t>);</a:t>
            </a:r>
            <a:endParaRPr>
              <a:solidFill>
                <a:srgbClr val="D4D4D4"/>
              </a:solidFill>
            </a:endParaRPr>
          </a:p>
          <a:p>
            <a:pPr defTabSz="365760">
              <a:lnSpc>
                <a:spcPct val="100000"/>
              </a:lnSpc>
              <a:spcBef>
                <a:spcPts val="0"/>
              </a:spcBef>
              <a:defRPr sz="2400">
                <a:solidFill>
                  <a:srgbClr val="D4D4D4"/>
                </a:solidFill>
                <a:latin typeface="Menlo Regular"/>
                <a:ea typeface="Menlo Regular"/>
                <a:cs typeface="Menlo Regular"/>
                <a:sym typeface="Menlo Regular"/>
              </a:defRPr>
            </a:pPr>
            <a:r>
              <a:t>}</a:t>
            </a:r>
          </a:p>
        </p:txBody>
      </p:sp>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8" name="- processData() reads like a story – no comments needed at that level…"/>
          <p:cNvSpPr txBox="1"/>
          <p:nvPr>
            <p:ph type="body" idx="1"/>
          </p:nvPr>
        </p:nvSpPr>
        <p:spPr>
          <a:xfrm>
            <a:off x="1688592" y="3069576"/>
            <a:ext cx="21824355" cy="9296401"/>
          </a:xfrm>
          <a:prstGeom prst="rect">
            <a:avLst/>
          </a:prstGeom>
        </p:spPr>
        <p:txBody>
          <a:bodyPr/>
          <a:lstStyle/>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r>
              <a:t>- processData() reads like a story – no comments needed at that level</a:t>
            </a:r>
          </a:p>
          <a:p>
            <a:pPr>
              <a:lnSpc>
                <a:spcPct val="120000"/>
              </a:lnSpc>
            </a:pPr>
            <a:r>
              <a:t>- The what is in the function name: waitForNextTransmissionWindow()</a:t>
            </a:r>
          </a:p>
          <a:p>
            <a:pPr>
              <a:lnSpc>
                <a:spcPct val="120000"/>
              </a:lnSpc>
            </a:pPr>
            <a:r>
              <a:t>- The why is documented once, where the implementation lives</a:t>
            </a:r>
          </a:p>
          <a:p>
            <a:pPr>
              <a:lnSpc>
                <a:spcPct val="120000"/>
              </a:lnSpc>
            </a:pPr>
            <a:r>
              <a:t>- A curious developer can drill down; a casual reader doesn't need to</a:t>
            </a:r>
          </a:p>
          <a:p>
            <a:pPr>
              <a:lnSpc>
                <a:spcPct val="120000"/>
              </a:lnSpc>
            </a:pPr>
          </a:p>
          <a:p>
            <a:pPr>
              <a:lnSpc>
                <a:spcPct val="120000"/>
              </a:lnSpc>
            </a:pPr>
            <a:r>
              <a:t>"Hiding complexity" done right.</a:t>
            </a:r>
          </a:p>
        </p:txBody>
      </p:sp>
      <p:sp>
        <p:nvSpPr>
          <p:cNvPr id="239" name="The Commenting Paradox: Keeping Martin and Ousterhout happy…"/>
          <p:cNvSpPr txBox="1"/>
          <p:nvPr>
            <p:ph type="title"/>
          </p:nvPr>
        </p:nvSpPr>
        <p:spPr>
          <a:prstGeom prst="rect">
            <a:avLst/>
          </a:prstGeom>
        </p:spPr>
        <p:txBody>
          <a:bodyPr/>
          <a:lstStyle/>
          <a:p>
            <a:pPr/>
            <a:r>
              <a:t>The Commenting Paradox: Keeping Martin and Ousterhout happy…</a:t>
            </a:r>
          </a:p>
        </p:txBody>
      </p:sp>
      <p:graphicFrame>
        <p:nvGraphicFramePr>
          <p:cNvPr id="240" name="Tabel 1"/>
          <p:cNvGraphicFramePr/>
          <p:nvPr/>
        </p:nvGraphicFramePr>
        <p:xfrm>
          <a:off x="1943482" y="3832227"/>
          <a:ext cx="21319020" cy="3243952"/>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7104858"/>
                <a:gridCol w="7104858"/>
                <a:gridCol w="7104858"/>
              </a:tblGrid>
              <a:tr h="581433">
                <a:tc>
                  <a:txBody>
                    <a:bodyPr/>
                    <a:lstStyle/>
                    <a:p>
                      <a:pPr algn="l" defTabSz="457200">
                        <a:defRPr b="0" sz="1800">
                          <a:solidFill>
                            <a:srgbClr val="000000"/>
                          </a:solidFill>
                        </a:defRPr>
                      </a:pPr>
                      <a:r>
                        <a:rPr b="1" sz="3100">
                          <a:latin typeface="Arial"/>
                          <a:ea typeface="Arial"/>
                          <a:cs typeface="Arial"/>
                          <a:sym typeface="Arial"/>
                        </a:rPr>
                        <a:t>Level</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a:solidFill>
                        <a:srgbClr val="000000"/>
                      </a:solidFill>
                      <a:miter lim="400000"/>
                    </a:lnB>
                    <a:solidFill>
                      <a:srgbClr val="BEC0BF"/>
                    </a:solidFill>
                  </a:tcPr>
                </a:tc>
                <a:tc>
                  <a:txBody>
                    <a:bodyPr/>
                    <a:lstStyle/>
                    <a:p>
                      <a:pPr algn="l" defTabSz="457200">
                        <a:defRPr b="0" sz="1800">
                          <a:solidFill>
                            <a:srgbClr val="000000"/>
                          </a:solidFill>
                        </a:defRPr>
                      </a:pPr>
                      <a:r>
                        <a:rPr b="1" sz="3100">
                          <a:latin typeface="Arial"/>
                          <a:ea typeface="Arial"/>
                          <a:cs typeface="Arial"/>
                          <a:sym typeface="Arial"/>
                        </a:rPr>
                        <a:t>What you see</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a:solidFill>
                        <a:srgbClr val="000000"/>
                      </a:solidFill>
                      <a:miter lim="400000"/>
                    </a:lnB>
                    <a:solidFill>
                      <a:srgbClr val="BEC0BF"/>
                    </a:solidFill>
                  </a:tcPr>
                </a:tc>
                <a:tc>
                  <a:txBody>
                    <a:bodyPr/>
                    <a:lstStyle/>
                    <a:p>
                      <a:pPr algn="l" defTabSz="457200">
                        <a:defRPr b="0" sz="1800">
                          <a:solidFill>
                            <a:srgbClr val="000000"/>
                          </a:solidFill>
                        </a:defRPr>
                      </a:pPr>
                      <a:r>
                        <a:rPr b="1" sz="3100">
                          <a:latin typeface="Arial"/>
                          <a:ea typeface="Arial"/>
                          <a:cs typeface="Arial"/>
                          <a:sym typeface="Arial"/>
                        </a:rPr>
                        <a:t>What you need</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a:solidFill>
                        <a:srgbClr val="000000"/>
                      </a:solidFill>
                      <a:miter lim="400000"/>
                    </a:lnB>
                    <a:solidFill>
                      <a:srgbClr val="BEC0BF"/>
                    </a:solidFill>
                  </a:tcPr>
                </a:tc>
              </a:tr>
              <a:tr h="552905">
                <a:tc>
                  <a:txBody>
                    <a:bodyPr/>
                    <a:lstStyle/>
                    <a:p>
                      <a:pPr algn="l" defTabSz="457200">
                        <a:defRPr sz="1800"/>
                      </a:pPr>
                      <a:r>
                        <a:rPr sz="3100">
                          <a:latin typeface="Arial"/>
                          <a:ea typeface="Arial"/>
                          <a:cs typeface="Arial"/>
                          <a:sym typeface="Arial"/>
                        </a:rPr>
                        <a:t>High (caller)</a:t>
                      </a:r>
                    </a:p>
                  </a:txBody>
                  <a:tcPr marL="50800" marR="50800" marT="50800" marB="50800" anchor="t" anchorCtr="0" horzOverflow="overflow">
                    <a:lnL w="4445">
                      <a:solidFill>
                        <a:srgbClr val="000000"/>
                      </a:solidFill>
                      <a:miter lim="400000"/>
                    </a:lnL>
                    <a:lnR w="4445">
                      <a:solidFill>
                        <a:srgbClr val="000000"/>
                      </a:solidFill>
                      <a:miter lim="400000"/>
                    </a:lnR>
                    <a:lnT>
                      <a:solidFill>
                        <a:srgbClr val="000000"/>
                      </a:solidFill>
                      <a:miter lim="400000"/>
                    </a:lnT>
                    <a:lnB w="4445">
                      <a:solidFill>
                        <a:srgbClr val="000000"/>
                      </a:solidFill>
                      <a:miter lim="400000"/>
                    </a:lnB>
                    <a:noFill/>
                  </a:tcPr>
                </a:tc>
                <a:tc>
                  <a:txBody>
                    <a:bodyPr/>
                    <a:lstStyle/>
                    <a:p>
                      <a:pPr algn="l" defTabSz="457200">
                        <a:defRPr sz="1800"/>
                      </a:pPr>
                      <a:r>
                        <a:rPr sz="3100">
                          <a:latin typeface="Arial"/>
                          <a:ea typeface="Arial"/>
                          <a:cs typeface="Arial"/>
                          <a:sym typeface="Arial"/>
                        </a:rPr>
                        <a:t>waitForNextTransmissionWindow()</a:t>
                      </a:r>
                    </a:p>
                  </a:txBody>
                  <a:tcPr marL="50800" marR="50800" marT="50800" marB="50800" anchor="t" anchorCtr="0" horzOverflow="overflow">
                    <a:lnL w="4445">
                      <a:solidFill>
                        <a:srgbClr val="000000"/>
                      </a:solidFill>
                      <a:miter lim="400000"/>
                    </a:lnL>
                    <a:lnR w="4445">
                      <a:solidFill>
                        <a:srgbClr val="000000"/>
                      </a:solidFill>
                      <a:miter lim="400000"/>
                    </a:lnR>
                    <a:lnT>
                      <a:solidFill>
                        <a:srgbClr val="000000"/>
                      </a:solidFill>
                      <a:miter lim="400000"/>
                    </a:lnT>
                    <a:lnB w="4445">
                      <a:solidFill>
                        <a:srgbClr val="000000"/>
                      </a:solidFill>
                      <a:miter lim="400000"/>
                    </a:lnB>
                    <a:noFill/>
                  </a:tcPr>
                </a:tc>
                <a:tc>
                  <a:txBody>
                    <a:bodyPr/>
                    <a:lstStyle/>
                    <a:p>
                      <a:pPr algn="l" defTabSz="457200">
                        <a:defRPr sz="1800"/>
                      </a:pPr>
                      <a:r>
                        <a:rPr sz="3100">
                          <a:latin typeface="Arial"/>
                          <a:ea typeface="Arial"/>
                          <a:cs typeface="Arial"/>
                          <a:sym typeface="Arial"/>
                        </a:rPr>
                        <a:t>Just the name</a:t>
                      </a:r>
                    </a:p>
                  </a:txBody>
                  <a:tcPr marL="50800" marR="50800" marT="50800" marB="50800" anchor="t" anchorCtr="0" horzOverflow="overflow">
                    <a:lnL w="4445">
                      <a:solidFill>
                        <a:srgbClr val="000000"/>
                      </a:solidFill>
                      <a:miter lim="400000"/>
                    </a:lnL>
                    <a:lnR w="4445">
                      <a:solidFill>
                        <a:srgbClr val="000000"/>
                      </a:solidFill>
                      <a:miter lim="400000"/>
                    </a:lnR>
                    <a:lnT>
                      <a:solidFill>
                        <a:srgbClr val="000000"/>
                      </a:solidFill>
                      <a:miter lim="400000"/>
                    </a:lnT>
                    <a:lnB w="4445">
                      <a:solidFill>
                        <a:srgbClr val="000000"/>
                      </a:solidFill>
                      <a:miter lim="400000"/>
                    </a:lnB>
                    <a:noFill/>
                  </a:tcPr>
                </a:tc>
              </a:tr>
              <a:tr h="550365">
                <a:tc>
                  <a:txBody>
                    <a:bodyPr/>
                    <a:lstStyle/>
                    <a:p>
                      <a:pPr algn="l" defTabSz="457200">
                        <a:defRPr sz="1800"/>
                      </a:pPr>
                      <a:r>
                        <a:rPr sz="3100">
                          <a:latin typeface="Arial"/>
                          <a:ea typeface="Arial"/>
                          <a:cs typeface="Arial"/>
                          <a:sym typeface="Arial"/>
                        </a:rPr>
                        <a:t>Low (implementation)</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3100">
                          <a:latin typeface="Arial"/>
                          <a:ea typeface="Arial"/>
                          <a:cs typeface="Arial"/>
                          <a:sym typeface="Arial"/>
                        </a:rPr>
                        <a:t>The delay, the constants, the comment</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3100">
                          <a:latin typeface="Arial"/>
                          <a:ea typeface="Arial"/>
                          <a:cs typeface="Arial"/>
                          <a:sym typeface="Arial"/>
                        </a:rPr>
                        <a:t>The full story</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bl>
          </a:graphicData>
        </a:graphic>
      </p:graphicFrame>
    </p:spTree>
  </p:cSld>
  <p:clrMapOvr>
    <a:masterClrMapping/>
  </p:clrMapOvr>
  <p:transition xmlns:p14="http://schemas.microsoft.com/office/powerpoint/2010/main" spd="med" advClick="1"/>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4" name="The Commenting Paradox"/>
          <p:cNvSpPr txBox="1"/>
          <p:nvPr>
            <p:ph type="title"/>
          </p:nvPr>
        </p:nvSpPr>
        <p:spPr>
          <a:prstGeom prst="rect">
            <a:avLst/>
          </a:prstGeom>
        </p:spPr>
        <p:txBody>
          <a:bodyPr/>
          <a:lstStyle/>
          <a:p>
            <a:pPr/>
            <a:r>
              <a:t>The Commenting Paradox</a:t>
            </a:r>
          </a:p>
        </p:txBody>
      </p:sp>
      <p:sp>
        <p:nvSpPr>
          <p:cNvPr id="245" name="The code can say:…"/>
          <p:cNvSpPr txBox="1"/>
          <p:nvPr>
            <p:ph type="body" idx="1"/>
          </p:nvPr>
        </p:nvSpPr>
        <p:spPr>
          <a:xfrm>
            <a:off x="1688592" y="3069576"/>
            <a:ext cx="21824355" cy="9296401"/>
          </a:xfrm>
          <a:prstGeom prst="rect">
            <a:avLst/>
          </a:prstGeom>
        </p:spPr>
        <p:txBody>
          <a:bodyPr/>
          <a:lstStyle/>
          <a:p>
            <a:pPr>
              <a:lnSpc>
                <a:spcPct val="120000"/>
              </a:lnSpc>
            </a:pPr>
            <a:r>
              <a:t>The code </a:t>
            </a:r>
            <a:r>
              <a:rPr i="1"/>
              <a:t>can</a:t>
            </a:r>
            <a:r>
              <a:t> say:</a:t>
            </a:r>
          </a:p>
          <a:p>
            <a:pPr>
              <a:lnSpc>
                <a:spcPct val="120000"/>
              </a:lnSpc>
            </a:pPr>
            <a:r>
              <a:t>- waitForNextTransmissionWindow() – what we're doing</a:t>
            </a:r>
          </a:p>
          <a:p>
            <a:pPr>
              <a:lnSpc>
                <a:spcPct val="120000"/>
              </a:lnSpc>
            </a:pPr>
            <a:r>
              <a:t>- WATCHDOG_TIMEOUT_MS = 120 – what the value is</a:t>
            </a:r>
          </a:p>
          <a:p>
            <a:pPr>
              <a:lnSpc>
                <a:spcPct val="120000"/>
              </a:lnSpc>
            </a:pPr>
            <a:r>
              <a:t>- TRANSMISSION_INTERVAL_MS = WATCHDOG_TIMEOUT_MS - SAFETY_MARGIN_MS – how it's calculated</a:t>
            </a:r>
          </a:p>
          <a:p>
            <a:pPr>
              <a:lnSpc>
                <a:spcPct val="120000"/>
              </a:lnSpc>
            </a:pPr>
          </a:p>
          <a:p>
            <a:pPr>
              <a:lnSpc>
                <a:spcPct val="120000"/>
              </a:lnSpc>
            </a:pPr>
            <a:r>
              <a:t>The code </a:t>
            </a:r>
            <a:r>
              <a:rPr i="1"/>
              <a:t>cannot</a:t>
            </a:r>
            <a:r>
              <a:t> say:</a:t>
            </a:r>
          </a:p>
          <a:p>
            <a:pPr>
              <a:lnSpc>
                <a:spcPct val="120000"/>
              </a:lnSpc>
            </a:pPr>
            <a:r>
              <a:t>- Why the watchdog is set to 120ms (hardware/safety decision)</a:t>
            </a:r>
          </a:p>
          <a:p>
            <a:pPr>
              <a:lnSpc>
                <a:spcPct val="120000"/>
              </a:lnSpc>
            </a:pPr>
            <a:r>
              <a:t>- Where that requirement comes from (SEC-2024-0042)</a:t>
            </a:r>
          </a:p>
          <a:p>
            <a:pPr>
              <a:lnSpc>
                <a:spcPct val="120000"/>
              </a:lnSpc>
            </a:pPr>
            <a:r>
              <a:t>- What happens if you violate it (MCU reset)</a:t>
            </a:r>
          </a:p>
          <a:p>
            <a:pPr>
              <a:lnSpc>
                <a:spcPct val="120000"/>
              </a:lnSpc>
            </a:pPr>
            <a:r>
              <a:t>- Why this matters (safety certification)</a:t>
            </a:r>
          </a:p>
        </p:txBody>
      </p:sp>
    </p:spTree>
  </p:cSld>
  <p:clrMapOvr>
    <a:masterClrMapping/>
  </p:clrMapOvr>
  <p:transition xmlns:p14="http://schemas.microsoft.com/office/powerpoint/2010/main" spd="med" advClick="1"/>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7" name="The Commenting Paradox"/>
          <p:cNvSpPr txBox="1"/>
          <p:nvPr>
            <p:ph type="title"/>
          </p:nvPr>
        </p:nvSpPr>
        <p:spPr>
          <a:prstGeom prst="rect">
            <a:avLst/>
          </a:prstGeom>
        </p:spPr>
        <p:txBody>
          <a:bodyPr/>
          <a:lstStyle/>
          <a:p>
            <a:pPr/>
            <a:r>
              <a:t>The Commenting Paradox</a:t>
            </a:r>
          </a:p>
        </p:txBody>
      </p:sp>
      <p:sp>
        <p:nvSpPr>
          <p:cNvPr id="248" name="Before you write a comment, ask: “Could I express this in a better variable name, function name, or code structure?”…"/>
          <p:cNvSpPr txBox="1"/>
          <p:nvPr>
            <p:ph type="body" idx="1"/>
          </p:nvPr>
        </p:nvSpPr>
        <p:spPr>
          <a:xfrm>
            <a:off x="1688592" y="3069576"/>
            <a:ext cx="21824355" cy="9296401"/>
          </a:xfrm>
          <a:prstGeom prst="rect">
            <a:avLst/>
          </a:prstGeom>
        </p:spPr>
        <p:txBody>
          <a:bodyPr/>
          <a:lstStyle/>
          <a:p>
            <a:pPr>
              <a:lnSpc>
                <a:spcPct val="120000"/>
              </a:lnSpc>
            </a:pPr>
            <a:r>
              <a:t>Before you write a comment, ask: “Could I express this in a better variable name, function name, or code structure?”</a:t>
            </a:r>
          </a:p>
          <a:p>
            <a:pPr>
              <a:lnSpc>
                <a:spcPct val="120000"/>
              </a:lnSpc>
            </a:pPr>
          </a:p>
          <a:p>
            <a:pPr>
              <a:lnSpc>
                <a:spcPct val="120000"/>
              </a:lnSpc>
            </a:pPr>
            <a:r>
              <a:t>If </a:t>
            </a:r>
            <a:r>
              <a:rPr i="1"/>
              <a:t>yes</a:t>
            </a:r>
            <a:r>
              <a:t> → </a:t>
            </a:r>
            <a:r>
              <a:rPr i="1"/>
              <a:t>refactor the code</a:t>
            </a:r>
            <a:r>
              <a:t>, </a:t>
            </a:r>
            <a:r>
              <a:rPr i="1"/>
              <a:t>delete the comment</a:t>
            </a:r>
            <a:r>
              <a:t>.</a:t>
            </a:r>
          </a:p>
          <a:p>
            <a:pPr>
              <a:lnSpc>
                <a:spcPct val="120000"/>
              </a:lnSpc>
            </a:pPr>
            <a:r>
              <a:t>If </a:t>
            </a:r>
            <a:r>
              <a:rPr i="1"/>
              <a:t>no</a:t>
            </a:r>
            <a:r>
              <a:t> → </a:t>
            </a:r>
            <a:r>
              <a:rPr i="1"/>
              <a:t>write the comment</a:t>
            </a:r>
            <a:r>
              <a:t>. No guilt. No grimace.</a:t>
            </a:r>
          </a:p>
        </p:txBody>
      </p:sp>
    </p:spTree>
  </p:cSld>
  <p:clrMapOvr>
    <a:masterClrMapping/>
  </p:clrMapOvr>
  <p:transition xmlns:p14="http://schemas.microsoft.com/office/powerpoint/2010/main" spd="med" advClick="1"/>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0" name="The Commenting Paradox"/>
          <p:cNvSpPr txBox="1"/>
          <p:nvPr>
            <p:ph type="title"/>
          </p:nvPr>
        </p:nvSpPr>
        <p:spPr>
          <a:prstGeom prst="rect">
            <a:avLst/>
          </a:prstGeom>
        </p:spPr>
        <p:txBody>
          <a:bodyPr/>
          <a:lstStyle/>
          <a:p>
            <a:pPr/>
            <a:r>
              <a:t>The Commenting Paradox</a:t>
            </a:r>
          </a:p>
        </p:txBody>
      </p:sp>
      <p:sp>
        <p:nvSpPr>
          <p:cNvPr id="251" name="Things that are never obvious from code:…"/>
          <p:cNvSpPr txBox="1"/>
          <p:nvPr>
            <p:ph type="body" idx="1"/>
          </p:nvPr>
        </p:nvSpPr>
        <p:spPr>
          <a:xfrm>
            <a:off x="1688592" y="3069576"/>
            <a:ext cx="21824355" cy="9296401"/>
          </a:xfrm>
          <a:prstGeom prst="rect">
            <a:avLst/>
          </a:prstGeom>
        </p:spPr>
        <p:txBody>
          <a:bodyPr/>
          <a:lstStyle/>
          <a:p>
            <a:pPr>
              <a:lnSpc>
                <a:spcPct val="120000"/>
              </a:lnSpc>
            </a:pPr>
            <a:r>
              <a:t>Things that are never obvious from code:</a:t>
            </a:r>
          </a:p>
          <a:p>
            <a:pPr>
              <a:lnSpc>
                <a:spcPct val="120000"/>
              </a:lnSpc>
            </a:pPr>
            <a:r>
              <a:t>- Why this value and not another (datasheet, protocol, clinical validation)</a:t>
            </a:r>
          </a:p>
          <a:p>
            <a:pPr>
              <a:lnSpc>
                <a:spcPct val="120000"/>
              </a:lnSpc>
            </a:pPr>
            <a:r>
              <a:t>- Why this sequence matters (hardware errata, race conditions)</a:t>
            </a:r>
          </a:p>
          <a:p>
            <a:pPr>
              <a:lnSpc>
                <a:spcPct val="120000"/>
              </a:lnSpc>
            </a:pPr>
            <a:r>
              <a:t>- Why this code exists at all (business rule, safety requirement, bug workaround)</a:t>
            </a:r>
          </a:p>
          <a:p>
            <a:pPr>
              <a:lnSpc>
                <a:spcPct val="120000"/>
              </a:lnSpc>
            </a:pPr>
            <a:r>
              <a:t>- Where to find more information (document references, ticket numbers)</a:t>
            </a:r>
          </a:p>
          <a:p>
            <a:pPr>
              <a:lnSpc>
                <a:spcPct val="120000"/>
              </a:lnSpc>
            </a:pPr>
            <a:r>
              <a:t>- What happens if you change it (consequences, warnings)</a:t>
            </a:r>
          </a:p>
          <a:p>
            <a:pPr>
              <a:lnSpc>
                <a:spcPct val="120000"/>
              </a:lnSpc>
            </a:pPr>
            <a:r>
              <a:t>- Who approved it (regulatory traceability)</a:t>
            </a:r>
          </a:p>
        </p:txBody>
      </p:sp>
    </p:spTree>
  </p:cSld>
  <p:clrMapOvr>
    <a:masterClrMapping/>
  </p:clrMapOvr>
  <p:transition xmlns:p14="http://schemas.microsoft.com/office/powerpoint/2010/main" spd="med" advClick="1"/>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3" name="The Commenting Paradox"/>
          <p:cNvSpPr txBox="1"/>
          <p:nvPr>
            <p:ph type="title"/>
          </p:nvPr>
        </p:nvSpPr>
        <p:spPr>
          <a:prstGeom prst="rect">
            <a:avLst/>
          </a:prstGeom>
        </p:spPr>
        <p:txBody>
          <a:bodyPr/>
          <a:lstStyle/>
          <a:p>
            <a:pPr/>
            <a:r>
              <a:t>The Commenting Paradox</a:t>
            </a:r>
          </a:p>
        </p:txBody>
      </p:sp>
      <p:sp>
        <p:nvSpPr>
          <p:cNvPr id="254" name="Code tells you what and how.…"/>
          <p:cNvSpPr txBox="1"/>
          <p:nvPr>
            <p:ph type="body" idx="1"/>
          </p:nvPr>
        </p:nvSpPr>
        <p:spPr>
          <a:xfrm>
            <a:off x="1688592" y="3069576"/>
            <a:ext cx="21824355" cy="9296401"/>
          </a:xfrm>
          <a:prstGeom prst="rect">
            <a:avLst/>
          </a:prstGeom>
        </p:spPr>
        <p:txBody>
          <a:bodyPr/>
          <a:lstStyle/>
          <a:p>
            <a:pPr>
              <a:lnSpc>
                <a:spcPct val="120000"/>
              </a:lnSpc>
            </a:pPr>
            <a:r>
              <a:t>Code tells you </a:t>
            </a:r>
            <a:r>
              <a:rPr i="1"/>
              <a:t>what</a:t>
            </a:r>
            <a:r>
              <a:t> and </a:t>
            </a:r>
            <a:r>
              <a:rPr i="1"/>
              <a:t>how</a:t>
            </a:r>
            <a:r>
              <a:t>.</a:t>
            </a:r>
          </a:p>
          <a:p>
            <a:pPr>
              <a:lnSpc>
                <a:spcPct val="120000"/>
              </a:lnSpc>
            </a:pPr>
            <a:r>
              <a:t>Comments tell you </a:t>
            </a:r>
            <a:r>
              <a:rPr i="1"/>
              <a:t>why</a:t>
            </a:r>
            <a:r>
              <a:t> and </a:t>
            </a:r>
            <a:r>
              <a:rPr i="1"/>
              <a:t>where</a:t>
            </a:r>
            <a:r>
              <a:t> to find more.</a:t>
            </a:r>
          </a:p>
        </p:txBody>
      </p:sp>
    </p:spTree>
  </p:cSld>
  <p:clrMapOvr>
    <a:masterClrMapping/>
  </p:clrMapOvr>
  <p:transition xmlns:p14="http://schemas.microsoft.com/office/powerpoint/2010/main" spd="med" advClick="1"/>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6" name="Exercise 1: Strip and suffer"/>
          <p:cNvSpPr txBox="1"/>
          <p:nvPr>
            <p:ph type="title"/>
          </p:nvPr>
        </p:nvSpPr>
        <p:spPr>
          <a:prstGeom prst="rect">
            <a:avLst/>
          </a:prstGeom>
        </p:spPr>
        <p:txBody>
          <a:bodyPr/>
          <a:lstStyle/>
          <a:p>
            <a:pPr/>
            <a:r>
              <a:t>Exercise 1: Strip and suffer</a:t>
            </a:r>
          </a:p>
        </p:txBody>
      </p:sp>
      <p:sp>
        <p:nvSpPr>
          <p:cNvPr id="257" name="&quot;What does this code do? What are these values?&quot;"/>
          <p:cNvSpPr txBox="1"/>
          <p:nvPr>
            <p:ph type="body" idx="1"/>
          </p:nvPr>
        </p:nvSpPr>
        <p:spPr>
          <a:xfrm>
            <a:off x="1688592" y="3069576"/>
            <a:ext cx="21824355" cy="9296401"/>
          </a:xfrm>
          <a:prstGeom prst="rect">
            <a:avLst/>
          </a:prstGeom>
        </p:spPr>
        <p:txBody>
          <a:bodyPr/>
          <a:lstStyle>
            <a:lvl1pPr>
              <a:lnSpc>
                <a:spcPct val="120000"/>
              </a:lnSpc>
            </a:lvl1pPr>
          </a:lstStyle>
          <a:p>
            <a:pPr/>
            <a:r>
              <a:t>"What does this code do? What are these values?"</a:t>
            </a:r>
          </a:p>
        </p:txBody>
      </p:sp>
    </p:spTree>
  </p:cSld>
  <p:clrMapOvr>
    <a:masterClrMapping/>
  </p:clrMapOvr>
  <p:transition xmlns:p14="http://schemas.microsoft.com/office/powerpoint/2010/main" spd="med" advClick="1"/>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9" name="Reasons why we don’t comment"/>
          <p:cNvSpPr txBox="1"/>
          <p:nvPr>
            <p:ph type="title"/>
          </p:nvPr>
        </p:nvSpPr>
        <p:spPr>
          <a:prstGeom prst="rect">
            <a:avLst/>
          </a:prstGeom>
        </p:spPr>
        <p:txBody>
          <a:bodyPr/>
          <a:lstStyle/>
          <a:p>
            <a:pPr/>
            <a:r>
              <a:t>Reasons why we don’t comment</a:t>
            </a:r>
          </a:p>
        </p:txBody>
      </p:sp>
      <p:sp>
        <p:nvSpPr>
          <p:cNvPr id="260" name="Levels of documentation: Inline → function → module → architectural"/>
          <p:cNvSpPr txBox="1"/>
          <p:nvPr>
            <p:ph type="body" idx="1"/>
          </p:nvPr>
        </p:nvSpPr>
        <p:spPr>
          <a:xfrm>
            <a:off x="1688592" y="3069576"/>
            <a:ext cx="21824355" cy="9296401"/>
          </a:xfrm>
          <a:prstGeom prst="rect">
            <a:avLst/>
          </a:prstGeom>
        </p:spPr>
        <p:txBody>
          <a:bodyPr/>
          <a:lstStyle>
            <a:lvl1pPr>
              <a:lnSpc>
                <a:spcPct val="120000"/>
              </a:lnSpc>
              <a:defRPr b="1"/>
            </a:lvl1pPr>
          </a:lstStyle>
          <a:p>
            <a:pPr>
              <a:defRPr b="0"/>
            </a:pPr>
            <a:r>
              <a:rPr b="1"/>
              <a:t>Levels of documentation: Inline → function → module → architectural</a:t>
            </a:r>
          </a:p>
        </p:txBody>
      </p:sp>
    </p:spTree>
  </p:cSld>
  <p:clrMapOvr>
    <a:masterClrMapping/>
  </p:clrMapOvr>
  <p:transition xmlns:p14="http://schemas.microsoft.com/office/powerpoint/2010/main" spd="med" advClick="1"/>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4" name="Clean code, clear comments"/>
          <p:cNvSpPr txBox="1"/>
          <p:nvPr>
            <p:ph type="title"/>
          </p:nvPr>
        </p:nvSpPr>
        <p:spPr>
          <a:prstGeom prst="rect">
            <a:avLst/>
          </a:prstGeom>
        </p:spPr>
        <p:txBody>
          <a:bodyPr/>
          <a:lstStyle/>
          <a:p>
            <a:pPr/>
            <a:r>
              <a:t>Clean code, clear comments</a:t>
            </a:r>
          </a:p>
        </p:txBody>
      </p:sp>
      <p:sp>
        <p:nvSpPr>
          <p:cNvPr id="265" name="Levels of documentation: Inline → function → module → architectural"/>
          <p:cNvSpPr txBox="1"/>
          <p:nvPr>
            <p:ph type="body" idx="1"/>
          </p:nvPr>
        </p:nvSpPr>
        <p:spPr>
          <a:xfrm>
            <a:off x="1688592" y="3069576"/>
            <a:ext cx="21824355" cy="9296401"/>
          </a:xfrm>
          <a:prstGeom prst="rect">
            <a:avLst/>
          </a:prstGeom>
        </p:spPr>
        <p:txBody>
          <a:bodyPr/>
          <a:lstStyle/>
          <a:p>
            <a:pPr>
              <a:lnSpc>
                <a:spcPct val="120000"/>
              </a:lnSpc>
            </a:pPr>
            <a:r>
              <a:t>Levels of documentation: </a:t>
            </a:r>
            <a:r>
              <a:rPr b="1"/>
              <a:t>Inline</a:t>
            </a:r>
            <a:r>
              <a:t> → function → module → architectural</a:t>
            </a:r>
          </a:p>
        </p:txBody>
      </p:sp>
      <p:sp>
        <p:nvSpPr>
          <p:cNvPr id="266" name="Rechthoek"/>
          <p:cNvSpPr/>
          <p:nvPr/>
        </p:nvSpPr>
        <p:spPr>
          <a:xfrm>
            <a:off x="1625640" y="5047595"/>
            <a:ext cx="18886873" cy="5161439"/>
          </a:xfrm>
          <a:prstGeom prst="rect">
            <a:avLst/>
          </a:prstGeom>
          <a:solidFill>
            <a:srgbClr val="1E1E1E"/>
          </a:solidFill>
          <a:ln w="12700">
            <a:solidFill>
              <a:schemeClr val="accent1"/>
            </a:solidFill>
            <a:miter/>
          </a:ln>
        </p:spPr>
        <p:txBody>
          <a:bodyPr lIns="45719" rIns="45719" anchor="ctr"/>
          <a:lstStyle/>
          <a:p>
            <a:pPr/>
          </a:p>
        </p:txBody>
      </p:sp>
      <p:sp>
        <p:nvSpPr>
          <p:cNvPr id="267" name="delay(15);"/>
          <p:cNvSpPr txBox="1"/>
          <p:nvPr/>
        </p:nvSpPr>
        <p:spPr>
          <a:xfrm>
            <a:off x="1688592" y="5101576"/>
            <a:ext cx="21824355" cy="505347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defTabSz="457200">
              <a:defRPr sz="3000">
                <a:solidFill>
                  <a:srgbClr val="DCDCAA"/>
                </a:solidFill>
                <a:latin typeface="Menlo Regular"/>
                <a:ea typeface="Menlo Regular"/>
                <a:cs typeface="Menlo Regular"/>
                <a:sym typeface="Menlo Regular"/>
              </a:defRPr>
            </a:pPr>
            <a:r>
              <a:t>delay</a:t>
            </a:r>
            <a:r>
              <a:rPr>
                <a:solidFill>
                  <a:srgbClr val="D4D4D4"/>
                </a:solidFill>
              </a:rPr>
              <a:t>(</a:t>
            </a:r>
            <a:r>
              <a:rPr>
                <a:solidFill>
                  <a:srgbClr val="B5CEA8"/>
                </a:solidFill>
              </a:rPr>
              <a:t>15</a:t>
            </a:r>
            <a:r>
              <a:rPr>
                <a:solidFill>
                  <a:srgbClr val="D4D4D4"/>
                </a:solidFill>
              </a:rPr>
              <a:t>);</a:t>
            </a:r>
          </a:p>
        </p:txBody>
      </p:sp>
    </p:spTree>
  </p:cSld>
  <p:clrMapOvr>
    <a:masterClrMapping/>
  </p:clrMapOvr>
  <p:transition xmlns:p14="http://schemas.microsoft.com/office/powerpoint/2010/main" spd="med" advClick="1"/>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1" name="Clean code, clear comments"/>
          <p:cNvSpPr txBox="1"/>
          <p:nvPr>
            <p:ph type="title"/>
          </p:nvPr>
        </p:nvSpPr>
        <p:spPr>
          <a:prstGeom prst="rect">
            <a:avLst/>
          </a:prstGeom>
        </p:spPr>
        <p:txBody>
          <a:bodyPr/>
          <a:lstStyle/>
          <a:p>
            <a:pPr/>
            <a:r>
              <a:t>Clean code, clear comments</a:t>
            </a:r>
          </a:p>
        </p:txBody>
      </p:sp>
      <p:sp>
        <p:nvSpPr>
          <p:cNvPr id="272" name="Levels of documentation: Inline → function → module → architectural"/>
          <p:cNvSpPr txBox="1"/>
          <p:nvPr>
            <p:ph type="body" idx="1"/>
          </p:nvPr>
        </p:nvSpPr>
        <p:spPr>
          <a:xfrm>
            <a:off x="1688592" y="3069576"/>
            <a:ext cx="21824355" cy="9296401"/>
          </a:xfrm>
          <a:prstGeom prst="rect">
            <a:avLst/>
          </a:prstGeom>
        </p:spPr>
        <p:txBody>
          <a:bodyPr/>
          <a:lstStyle/>
          <a:p>
            <a:pPr>
              <a:lnSpc>
                <a:spcPct val="120000"/>
              </a:lnSpc>
            </a:pPr>
            <a:r>
              <a:t>Levels of documentation: </a:t>
            </a:r>
            <a:r>
              <a:rPr b="1"/>
              <a:t>Inline</a:t>
            </a:r>
            <a:r>
              <a:t> → function → module → architectural</a:t>
            </a:r>
          </a:p>
        </p:txBody>
      </p:sp>
      <p:sp>
        <p:nvSpPr>
          <p:cNvPr id="273" name="Rechthoek"/>
          <p:cNvSpPr/>
          <p:nvPr/>
        </p:nvSpPr>
        <p:spPr>
          <a:xfrm>
            <a:off x="1625640" y="5047595"/>
            <a:ext cx="18886873" cy="5161439"/>
          </a:xfrm>
          <a:prstGeom prst="rect">
            <a:avLst/>
          </a:prstGeom>
          <a:solidFill>
            <a:srgbClr val="1E1E1E"/>
          </a:solidFill>
          <a:ln w="12700">
            <a:solidFill>
              <a:schemeClr val="accent1"/>
            </a:solidFill>
            <a:miter/>
          </a:ln>
        </p:spPr>
        <p:txBody>
          <a:bodyPr lIns="45719" rIns="45719" anchor="ctr"/>
          <a:lstStyle/>
          <a:p>
            <a:pPr/>
          </a:p>
        </p:txBody>
      </p:sp>
      <p:sp>
        <p:nvSpPr>
          <p:cNvPr id="274" name="const uint8_t SHT31_HIGH_REPEATABILITY_DELAY_MS = 15;  // Datasheet Table 4…"/>
          <p:cNvSpPr txBox="1"/>
          <p:nvPr/>
        </p:nvSpPr>
        <p:spPr>
          <a:xfrm>
            <a:off x="1688592" y="5101576"/>
            <a:ext cx="21824355" cy="505347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defTabSz="457200">
              <a:defRPr sz="3000">
                <a:solidFill>
                  <a:srgbClr val="D4D4D4"/>
                </a:solidFill>
                <a:latin typeface="Menlo Regular"/>
                <a:ea typeface="Menlo Regular"/>
                <a:cs typeface="Menlo Regular"/>
                <a:sym typeface="Menlo Regular"/>
              </a:defRPr>
            </a:pPr>
            <a:r>
              <a:rPr>
                <a:solidFill>
                  <a:srgbClr val="569CD6"/>
                </a:solidFill>
              </a:rPr>
              <a:t>const</a:t>
            </a:r>
            <a:r>
              <a:t> </a:t>
            </a:r>
            <a:r>
              <a:rPr>
                <a:solidFill>
                  <a:srgbClr val="569CD6"/>
                </a:solidFill>
              </a:rPr>
              <a:t>uint8_t</a:t>
            </a:r>
            <a:r>
              <a:t> SHT31_HIGH_REPEATABILITY_DELAY_MS = </a:t>
            </a:r>
            <a:r>
              <a:rPr>
                <a:solidFill>
                  <a:srgbClr val="B5CEA8"/>
                </a:solidFill>
              </a:rPr>
              <a:t>15</a:t>
            </a:r>
            <a:r>
              <a:t>;</a:t>
            </a:r>
            <a:r>
              <a:rPr>
                <a:solidFill>
                  <a:srgbClr val="6A9955"/>
                </a:solidFill>
              </a:rPr>
              <a:t>  // Datasheet Table 4</a:t>
            </a:r>
          </a:p>
          <a:p>
            <a:pPr defTabSz="457200">
              <a:defRPr sz="3000">
                <a:solidFill>
                  <a:srgbClr val="D4D4D4"/>
                </a:solidFill>
                <a:latin typeface="Menlo Regular"/>
                <a:ea typeface="Menlo Regular"/>
                <a:cs typeface="Menlo Regular"/>
                <a:sym typeface="Menlo Regular"/>
              </a:defRPr>
            </a:pPr>
          </a:p>
          <a:p>
            <a:pPr defTabSz="457200">
              <a:defRPr sz="3000">
                <a:solidFill>
                  <a:srgbClr val="D4D4D4"/>
                </a:solidFill>
                <a:latin typeface="Menlo Regular"/>
                <a:ea typeface="Menlo Regular"/>
                <a:cs typeface="Menlo Regular"/>
                <a:sym typeface="Menlo Regular"/>
              </a:defRPr>
            </a:pPr>
            <a:r>
              <a:rPr>
                <a:solidFill>
                  <a:srgbClr val="DCDCAA"/>
                </a:solidFill>
              </a:rPr>
              <a:t>delay</a:t>
            </a:r>
            <a:r>
              <a:t>(SHT31_HIGH_REPEATABILITY_DELAY_MS);</a:t>
            </a:r>
          </a:p>
        </p:txBody>
      </p:sp>
    </p:spTree>
  </p:cSld>
  <p:clrMapOvr>
    <a:masterClrMapping/>
  </p:clrMapOvr>
  <p:transition xmlns:p14="http://schemas.microsoft.com/office/powerpoint/2010/main" spd="med" advClick="1"/>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8" name="Clean code, clear comments"/>
          <p:cNvSpPr txBox="1"/>
          <p:nvPr>
            <p:ph type="title"/>
          </p:nvPr>
        </p:nvSpPr>
        <p:spPr>
          <a:prstGeom prst="rect">
            <a:avLst/>
          </a:prstGeom>
        </p:spPr>
        <p:txBody>
          <a:bodyPr/>
          <a:lstStyle/>
          <a:p>
            <a:pPr/>
            <a:r>
              <a:t>Clean code, clear comments</a:t>
            </a:r>
          </a:p>
        </p:txBody>
      </p:sp>
      <p:sp>
        <p:nvSpPr>
          <p:cNvPr id="279" name="Levels of documentation: Inline → function → module → architectural"/>
          <p:cNvSpPr txBox="1"/>
          <p:nvPr>
            <p:ph type="body" idx="1"/>
          </p:nvPr>
        </p:nvSpPr>
        <p:spPr>
          <a:xfrm>
            <a:off x="1688592" y="3069576"/>
            <a:ext cx="21824355" cy="9296401"/>
          </a:xfrm>
          <a:prstGeom prst="rect">
            <a:avLst/>
          </a:prstGeom>
        </p:spPr>
        <p:txBody>
          <a:bodyPr/>
          <a:lstStyle/>
          <a:p>
            <a:pPr>
              <a:lnSpc>
                <a:spcPct val="120000"/>
              </a:lnSpc>
            </a:pPr>
            <a:r>
              <a:t>Levels of documentation: </a:t>
            </a:r>
            <a:r>
              <a:rPr b="1"/>
              <a:t>Inline</a:t>
            </a:r>
            <a:r>
              <a:t> → function → module → architectural</a:t>
            </a:r>
          </a:p>
        </p:txBody>
      </p:sp>
      <p:sp>
        <p:nvSpPr>
          <p:cNvPr id="280" name="Rechthoek"/>
          <p:cNvSpPr/>
          <p:nvPr/>
        </p:nvSpPr>
        <p:spPr>
          <a:xfrm>
            <a:off x="1625640" y="5047595"/>
            <a:ext cx="18886873" cy="5161439"/>
          </a:xfrm>
          <a:prstGeom prst="rect">
            <a:avLst/>
          </a:prstGeom>
          <a:solidFill>
            <a:srgbClr val="1E1E1E"/>
          </a:solidFill>
          <a:ln w="12700">
            <a:solidFill>
              <a:schemeClr val="accent1"/>
            </a:solidFill>
            <a:miter/>
          </a:ln>
        </p:spPr>
        <p:txBody>
          <a:bodyPr lIns="45719" rIns="45719" anchor="ctr"/>
          <a:lstStyle/>
          <a:p>
            <a:pPr/>
          </a:p>
        </p:txBody>
      </p:sp>
      <p:sp>
        <p:nvSpPr>
          <p:cNvPr id="281" name="const uint8_t SHT31_DATASHEET_TABLE4_HIGH_REPEATABILITY_MAX_MS = 15;…"/>
          <p:cNvSpPr txBox="1"/>
          <p:nvPr/>
        </p:nvSpPr>
        <p:spPr>
          <a:xfrm>
            <a:off x="1688592" y="5101576"/>
            <a:ext cx="21824355" cy="505347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defTabSz="457200">
              <a:defRPr sz="3000">
                <a:solidFill>
                  <a:srgbClr val="D4D4D4"/>
                </a:solidFill>
                <a:latin typeface="Menlo Regular"/>
                <a:ea typeface="Menlo Regular"/>
                <a:cs typeface="Menlo Regular"/>
                <a:sym typeface="Menlo Regular"/>
              </a:defRPr>
            </a:pPr>
            <a:r>
              <a:rPr>
                <a:solidFill>
                  <a:srgbClr val="569CD6"/>
                </a:solidFill>
              </a:rPr>
              <a:t>const</a:t>
            </a:r>
            <a:r>
              <a:t> </a:t>
            </a:r>
            <a:r>
              <a:rPr>
                <a:solidFill>
                  <a:srgbClr val="569CD6"/>
                </a:solidFill>
              </a:rPr>
              <a:t>uint8_t</a:t>
            </a:r>
            <a:r>
              <a:t> SHT31_DATASHEET_TABLE4_HIGH_REPEATABILITY_MAX_MS = </a:t>
            </a:r>
            <a:r>
              <a:rPr>
                <a:solidFill>
                  <a:srgbClr val="B5CEA8"/>
                </a:solidFill>
              </a:rPr>
              <a:t>15</a:t>
            </a:r>
            <a:r>
              <a:t>;</a:t>
            </a:r>
          </a:p>
          <a:p>
            <a:pPr defTabSz="457200">
              <a:defRPr sz="3000">
                <a:solidFill>
                  <a:srgbClr val="D4D4D4"/>
                </a:solidFill>
                <a:latin typeface="Menlo Regular"/>
                <a:ea typeface="Menlo Regular"/>
                <a:cs typeface="Menlo Regular"/>
                <a:sym typeface="Menlo Regular"/>
              </a:defRPr>
            </a:pPr>
          </a:p>
          <a:p>
            <a:pPr defTabSz="457200">
              <a:defRPr sz="3000">
                <a:solidFill>
                  <a:srgbClr val="D4D4D4"/>
                </a:solidFill>
                <a:latin typeface="Menlo Regular"/>
                <a:ea typeface="Menlo Regular"/>
                <a:cs typeface="Menlo Regular"/>
                <a:sym typeface="Menlo Regular"/>
              </a:defRPr>
            </a:pPr>
            <a:r>
              <a:rPr>
                <a:solidFill>
                  <a:srgbClr val="DCDCAA"/>
                </a:solidFill>
              </a:rPr>
              <a:t>delay</a:t>
            </a:r>
            <a:r>
              <a:t>(SHT31_DATASHEET_TABLE4_HIGH_REPEATABILITY_MAX_MS);</a:t>
            </a:r>
          </a:p>
        </p:txBody>
      </p:sp>
    </p:spTree>
  </p:cSld>
  <p:clrMapOvr>
    <a:masterClrMapping/>
  </p:clrMapOvr>
  <p:transition xmlns:p14="http://schemas.microsoft.com/office/powerpoint/2010/main" spd="med" advClick="1"/>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5" name="Clean code, clear comments"/>
          <p:cNvSpPr txBox="1"/>
          <p:nvPr>
            <p:ph type="title"/>
          </p:nvPr>
        </p:nvSpPr>
        <p:spPr>
          <a:prstGeom prst="rect">
            <a:avLst/>
          </a:prstGeom>
        </p:spPr>
        <p:txBody>
          <a:bodyPr/>
          <a:lstStyle/>
          <a:p>
            <a:pPr/>
            <a:r>
              <a:t>Clean code, clear comments</a:t>
            </a:r>
          </a:p>
        </p:txBody>
      </p:sp>
      <p:sp>
        <p:nvSpPr>
          <p:cNvPr id="286" name="Levels of documentation: Inline → function → module → architectural"/>
          <p:cNvSpPr txBox="1"/>
          <p:nvPr>
            <p:ph type="body" idx="1"/>
          </p:nvPr>
        </p:nvSpPr>
        <p:spPr>
          <a:xfrm>
            <a:off x="1688592" y="3069576"/>
            <a:ext cx="21824355" cy="9296401"/>
          </a:xfrm>
          <a:prstGeom prst="rect">
            <a:avLst/>
          </a:prstGeom>
        </p:spPr>
        <p:txBody>
          <a:bodyPr/>
          <a:lstStyle/>
          <a:p>
            <a:pPr>
              <a:lnSpc>
                <a:spcPct val="120000"/>
              </a:lnSpc>
            </a:pPr>
            <a:r>
              <a:t>Levels of documentation: </a:t>
            </a:r>
            <a:r>
              <a:rPr b="1"/>
              <a:t>Inline</a:t>
            </a:r>
            <a:r>
              <a:t> → function → module → architectural</a:t>
            </a:r>
          </a:p>
        </p:txBody>
      </p:sp>
      <p:sp>
        <p:nvSpPr>
          <p:cNvPr id="287" name="Rechthoek"/>
          <p:cNvSpPr/>
          <p:nvPr/>
        </p:nvSpPr>
        <p:spPr>
          <a:xfrm>
            <a:off x="1625640" y="5047595"/>
            <a:ext cx="18886873" cy="5161439"/>
          </a:xfrm>
          <a:prstGeom prst="rect">
            <a:avLst/>
          </a:prstGeom>
          <a:solidFill>
            <a:srgbClr val="1E1E1E"/>
          </a:solidFill>
          <a:ln w="12700">
            <a:solidFill>
              <a:schemeClr val="accent1"/>
            </a:solidFill>
            <a:miter/>
          </a:ln>
        </p:spPr>
        <p:txBody>
          <a:bodyPr lIns="45719" rIns="45719" anchor="ctr"/>
          <a:lstStyle/>
          <a:p>
            <a:pPr/>
          </a:p>
        </p:txBody>
      </p:sp>
      <p:sp>
        <p:nvSpPr>
          <p:cNvPr id="288" name="// SHT31 Datasheet Table 4: Measurement duration (max)…"/>
          <p:cNvSpPr txBox="1"/>
          <p:nvPr/>
        </p:nvSpPr>
        <p:spPr>
          <a:xfrm>
            <a:off x="1688592" y="5101576"/>
            <a:ext cx="21824355" cy="505347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defTabSz="457200">
              <a:defRPr sz="3000">
                <a:solidFill>
                  <a:srgbClr val="6A9955"/>
                </a:solidFill>
                <a:latin typeface="Menlo Regular"/>
                <a:ea typeface="Menlo Regular"/>
                <a:cs typeface="Menlo Regular"/>
                <a:sym typeface="Menlo Regular"/>
              </a:defRPr>
            </a:pPr>
            <a:r>
              <a:t>// SHT31 Datasheet Table 4: Measurement duration (max)</a:t>
            </a:r>
            <a:endParaRPr>
              <a:solidFill>
                <a:srgbClr val="D4D4D4"/>
              </a:solidFill>
            </a:endParaRPr>
          </a:p>
          <a:p>
            <a:pPr defTabSz="457200">
              <a:defRPr sz="3000">
                <a:solidFill>
                  <a:srgbClr val="D4D4D4"/>
                </a:solidFill>
                <a:latin typeface="Menlo Regular"/>
                <a:ea typeface="Menlo Regular"/>
                <a:cs typeface="Menlo Regular"/>
                <a:sym typeface="Menlo Regular"/>
              </a:defRPr>
            </a:pPr>
            <a:r>
              <a:rPr>
                <a:solidFill>
                  <a:srgbClr val="569CD6"/>
                </a:solidFill>
              </a:rPr>
              <a:t>const</a:t>
            </a:r>
            <a:r>
              <a:t> </a:t>
            </a:r>
            <a:r>
              <a:rPr>
                <a:solidFill>
                  <a:srgbClr val="569CD6"/>
                </a:solidFill>
              </a:rPr>
              <a:t>uint8_t</a:t>
            </a:r>
            <a:r>
              <a:t> SHT31_MEASUREMENT_DURATION_MS = </a:t>
            </a:r>
            <a:r>
              <a:rPr>
                <a:solidFill>
                  <a:srgbClr val="B5CEA8"/>
                </a:solidFill>
              </a:rPr>
              <a:t>15</a:t>
            </a:r>
            <a:r>
              <a:t>;</a:t>
            </a:r>
          </a:p>
          <a:p>
            <a:pPr defTabSz="457200">
              <a:defRPr sz="3000">
                <a:solidFill>
                  <a:srgbClr val="D4D4D4"/>
                </a:solidFill>
                <a:latin typeface="Menlo Regular"/>
                <a:ea typeface="Menlo Regular"/>
                <a:cs typeface="Menlo Regular"/>
                <a:sym typeface="Menlo Regular"/>
              </a:defRPr>
            </a:pPr>
          </a:p>
          <a:p>
            <a:pPr defTabSz="457200">
              <a:defRPr sz="3000">
                <a:solidFill>
                  <a:srgbClr val="D4D4D4"/>
                </a:solidFill>
                <a:latin typeface="Menlo Regular"/>
                <a:ea typeface="Menlo Regular"/>
                <a:cs typeface="Menlo Regular"/>
                <a:sym typeface="Menlo Regular"/>
              </a:defRPr>
            </a:pPr>
            <a:r>
              <a:rPr>
                <a:solidFill>
                  <a:srgbClr val="DCDCAA"/>
                </a:solidFill>
              </a:rPr>
              <a:t>delay</a:t>
            </a:r>
            <a:r>
              <a:t>(SHT31_MEASUREMENT_DURATION_MS);</a:t>
            </a:r>
          </a:p>
        </p:txBody>
      </p:sp>
    </p:spTree>
  </p:cSld>
  <p:clrMapOvr>
    <a:masterClrMapping/>
  </p:clrMapOvr>
  <p:transition xmlns:p14="http://schemas.microsoft.com/office/powerpoint/2010/main" spd="med" advClick="1"/>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2" name="Clean code, clear comments"/>
          <p:cNvSpPr txBox="1"/>
          <p:nvPr>
            <p:ph type="title"/>
          </p:nvPr>
        </p:nvSpPr>
        <p:spPr>
          <a:prstGeom prst="rect">
            <a:avLst/>
          </a:prstGeom>
        </p:spPr>
        <p:txBody>
          <a:bodyPr/>
          <a:lstStyle/>
          <a:p>
            <a:pPr/>
            <a:r>
              <a:t>Clean code, clear comments</a:t>
            </a:r>
          </a:p>
        </p:txBody>
      </p:sp>
      <p:sp>
        <p:nvSpPr>
          <p:cNvPr id="293" name="Levels of documentation: Inline → function → module → architectural…"/>
          <p:cNvSpPr txBox="1"/>
          <p:nvPr>
            <p:ph type="body" idx="1"/>
          </p:nvPr>
        </p:nvSpPr>
        <p:spPr>
          <a:xfrm>
            <a:off x="1688592" y="3069576"/>
            <a:ext cx="21824355" cy="9296401"/>
          </a:xfrm>
          <a:prstGeom prst="rect">
            <a:avLst/>
          </a:prstGeom>
        </p:spPr>
        <p:txBody>
          <a:bodyPr/>
          <a:lstStyle/>
          <a:p>
            <a:pPr>
              <a:lnSpc>
                <a:spcPct val="120000"/>
              </a:lnSpc>
            </a:pPr>
            <a:r>
              <a:t>Levels of documentation: Inline → </a:t>
            </a:r>
            <a:r>
              <a:rPr b="1"/>
              <a:t>function</a:t>
            </a:r>
            <a:r>
              <a:t> → module → architectural</a:t>
            </a:r>
          </a:p>
          <a:p>
            <a:pPr>
              <a:lnSpc>
                <a:spcPct val="120000"/>
              </a:lnSpc>
            </a:pPr>
          </a:p>
          <a:p>
            <a:pPr>
              <a:lnSpc>
                <a:spcPct val="120000"/>
              </a:lnSpc>
            </a:pPr>
          </a:p>
          <a:p>
            <a:pPr>
              <a:lnSpc>
                <a:spcPct val="120000"/>
              </a:lnSpc>
              <a:defRPr b="1"/>
            </a:pPr>
            <a:r>
              <a:t>Function documentation</a:t>
            </a:r>
          </a:p>
          <a:p>
            <a:pPr>
              <a:lnSpc>
                <a:spcPct val="120000"/>
              </a:lnSpc>
            </a:pPr>
            <a:r>
              <a:t>Audience: Developer using the function – not reading the implementation</a:t>
            </a:r>
          </a:p>
          <a:p>
            <a:pPr>
              <a:lnSpc>
                <a:spcPct val="120000"/>
              </a:lnSpc>
            </a:pPr>
            <a:r>
              <a:t>Purpose: The contract – what it </a:t>
            </a:r>
            <a:r>
              <a:rPr i="1"/>
              <a:t>does</a:t>
            </a:r>
            <a:r>
              <a:t>, what it </a:t>
            </a:r>
            <a:r>
              <a:rPr i="1"/>
              <a:t>needs</a:t>
            </a:r>
            <a:r>
              <a:t>, what it </a:t>
            </a:r>
            <a:r>
              <a:rPr i="1"/>
              <a:t>returns</a:t>
            </a:r>
            <a:r>
              <a:t>, what </a:t>
            </a:r>
            <a:r>
              <a:rPr i="1"/>
              <a:t>can go wrong</a:t>
            </a:r>
            <a:endParaRPr i="1"/>
          </a:p>
        </p:txBody>
      </p:sp>
    </p:spTree>
  </p:cSld>
  <p:clrMapOvr>
    <a:masterClrMapping/>
  </p:clrMapOvr>
  <p:transition xmlns:p14="http://schemas.microsoft.com/office/powerpoint/2010/main" spd="med" advClick="1"/>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5" name="Clean code, clear comments"/>
          <p:cNvSpPr txBox="1"/>
          <p:nvPr>
            <p:ph type="title"/>
          </p:nvPr>
        </p:nvSpPr>
        <p:spPr>
          <a:prstGeom prst="rect">
            <a:avLst/>
          </a:prstGeom>
        </p:spPr>
        <p:txBody>
          <a:bodyPr/>
          <a:lstStyle/>
          <a:p>
            <a:pPr/>
            <a:r>
              <a:t>Clean code, clear comments</a:t>
            </a:r>
          </a:p>
        </p:txBody>
      </p:sp>
      <p:sp>
        <p:nvSpPr>
          <p:cNvPr id="296" name="Levels of documentation: Inline → function → module → architectural"/>
          <p:cNvSpPr txBox="1"/>
          <p:nvPr>
            <p:ph type="body" idx="1"/>
          </p:nvPr>
        </p:nvSpPr>
        <p:spPr>
          <a:xfrm>
            <a:off x="1688592" y="3069576"/>
            <a:ext cx="21824355" cy="9296401"/>
          </a:xfrm>
          <a:prstGeom prst="rect">
            <a:avLst/>
          </a:prstGeom>
        </p:spPr>
        <p:txBody>
          <a:bodyPr/>
          <a:lstStyle/>
          <a:p>
            <a:pPr>
              <a:lnSpc>
                <a:spcPct val="120000"/>
              </a:lnSpc>
            </a:pPr>
            <a:r>
              <a:t>Levels of documentation: Inline → </a:t>
            </a:r>
            <a:r>
              <a:rPr b="1"/>
              <a:t>function</a:t>
            </a:r>
            <a:r>
              <a:t> → module → architectural</a:t>
            </a:r>
          </a:p>
        </p:txBody>
      </p:sp>
      <p:sp>
        <p:nvSpPr>
          <p:cNvPr id="297" name="Rechthoek"/>
          <p:cNvSpPr/>
          <p:nvPr/>
        </p:nvSpPr>
        <p:spPr>
          <a:xfrm>
            <a:off x="1625640" y="5047595"/>
            <a:ext cx="18886873" cy="5161439"/>
          </a:xfrm>
          <a:prstGeom prst="rect">
            <a:avLst/>
          </a:prstGeom>
          <a:solidFill>
            <a:srgbClr val="1E1E1E"/>
          </a:solidFill>
          <a:ln w="12700">
            <a:solidFill>
              <a:schemeClr val="accent1"/>
            </a:solidFill>
            <a:miter/>
          </a:ln>
        </p:spPr>
        <p:txBody>
          <a:bodyPr lIns="45719" rIns="45719" anchor="ctr"/>
          <a:lstStyle/>
          <a:p>
            <a:pPr/>
          </a:p>
        </p:txBody>
      </p:sp>
      <p:sp>
        <p:nvSpPr>
          <p:cNvPr id="298" name="/**…"/>
          <p:cNvSpPr txBox="1"/>
          <p:nvPr/>
        </p:nvSpPr>
        <p:spPr>
          <a:xfrm>
            <a:off x="1688592" y="5101576"/>
            <a:ext cx="21824355" cy="505347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defTabSz="416052">
              <a:defRPr sz="2730">
                <a:solidFill>
                  <a:srgbClr val="6A9955"/>
                </a:solidFill>
                <a:latin typeface="Menlo Regular"/>
                <a:ea typeface="Menlo Regular"/>
                <a:cs typeface="Menlo Regular"/>
                <a:sym typeface="Menlo Regular"/>
              </a:defRPr>
            </a:pPr>
            <a:r>
              <a:t>/**</a:t>
            </a:r>
            <a:endParaRPr>
              <a:solidFill>
                <a:srgbClr val="D4D4D4"/>
              </a:solidFill>
            </a:endParaRPr>
          </a:p>
          <a:p>
            <a:pPr defTabSz="416052">
              <a:defRPr sz="2730">
                <a:solidFill>
                  <a:srgbClr val="6A9955"/>
                </a:solidFill>
                <a:latin typeface="Menlo Regular"/>
                <a:ea typeface="Menlo Regular"/>
                <a:cs typeface="Menlo Regular"/>
                <a:sym typeface="Menlo Regular"/>
              </a:defRPr>
            </a:pPr>
            <a:r>
              <a:t> * </a:t>
            </a:r>
            <a:r>
              <a:rPr>
                <a:solidFill>
                  <a:srgbClr val="569CD6"/>
                </a:solidFill>
              </a:rPr>
              <a:t>@brief</a:t>
            </a:r>
            <a:r>
              <a:t> Validates chest compression depth for neonatal CPResuscitation training.</a:t>
            </a:r>
            <a:endParaRPr>
              <a:solidFill>
                <a:srgbClr val="D4D4D4"/>
              </a:solidFill>
            </a:endParaRPr>
          </a:p>
          <a:p>
            <a:pPr defTabSz="416052">
              <a:defRPr sz="2730">
                <a:solidFill>
                  <a:srgbClr val="6A9955"/>
                </a:solidFill>
                <a:latin typeface="Menlo Regular"/>
                <a:ea typeface="Menlo Regular"/>
                <a:cs typeface="Menlo Regular"/>
                <a:sym typeface="Menlo Regular"/>
              </a:defRPr>
            </a:pPr>
            <a:r>
              <a:t> * </a:t>
            </a:r>
            <a:endParaRPr>
              <a:solidFill>
                <a:srgbClr val="D4D4D4"/>
              </a:solidFill>
            </a:endParaRPr>
          </a:p>
          <a:p>
            <a:pPr defTabSz="416052">
              <a:defRPr sz="2730">
                <a:solidFill>
                  <a:srgbClr val="6A9955"/>
                </a:solidFill>
                <a:latin typeface="Menlo Regular"/>
                <a:ea typeface="Menlo Regular"/>
                <a:cs typeface="Menlo Regular"/>
                <a:sym typeface="Menlo Regular"/>
              </a:defRPr>
            </a:pPr>
            <a:r>
              <a:t> * </a:t>
            </a:r>
            <a:r>
              <a:rPr>
                <a:solidFill>
                  <a:srgbClr val="569CD6"/>
                </a:solidFill>
              </a:rPr>
              <a:t>@param</a:t>
            </a:r>
            <a:r>
              <a:t> </a:t>
            </a:r>
            <a:r>
              <a:rPr>
                <a:solidFill>
                  <a:srgbClr val="9CDCFE"/>
                </a:solidFill>
              </a:rPr>
              <a:t>depth_mm</a:t>
            </a:r>
            <a:r>
              <a:t>  Measured compression depth in millimetres</a:t>
            </a:r>
            <a:endParaRPr>
              <a:solidFill>
                <a:srgbClr val="D4D4D4"/>
              </a:solidFill>
            </a:endParaRPr>
          </a:p>
          <a:p>
            <a:pPr defTabSz="416052">
              <a:defRPr sz="2730">
                <a:solidFill>
                  <a:srgbClr val="6A9955"/>
                </a:solidFill>
                <a:latin typeface="Menlo Regular"/>
                <a:ea typeface="Menlo Regular"/>
                <a:cs typeface="Menlo Regular"/>
                <a:sym typeface="Menlo Regular"/>
              </a:defRPr>
            </a:pPr>
            <a:r>
              <a:t> * </a:t>
            </a:r>
            <a:r>
              <a:rPr>
                <a:solidFill>
                  <a:srgbClr val="569CD6"/>
                </a:solidFill>
              </a:rPr>
              <a:t>@return</a:t>
            </a:r>
            <a:r>
              <a:t> true if depth within protocol limits</a:t>
            </a:r>
            <a:endParaRPr>
              <a:solidFill>
                <a:srgbClr val="D4D4D4"/>
              </a:solidFill>
            </a:endParaRPr>
          </a:p>
          <a:p>
            <a:pPr defTabSz="416052">
              <a:defRPr sz="2730">
                <a:solidFill>
                  <a:srgbClr val="6A9955"/>
                </a:solidFill>
                <a:latin typeface="Menlo Regular"/>
                <a:ea typeface="Menlo Regular"/>
                <a:cs typeface="Menlo Regular"/>
                <a:sym typeface="Menlo Regular"/>
              </a:defRPr>
            </a:pPr>
            <a:r>
              <a:t> * </a:t>
            </a:r>
            <a:endParaRPr>
              <a:solidFill>
                <a:srgbClr val="D4D4D4"/>
              </a:solidFill>
            </a:endParaRPr>
          </a:p>
          <a:p>
            <a:pPr defTabSz="416052">
              <a:defRPr sz="2730">
                <a:solidFill>
                  <a:srgbClr val="6A9955"/>
                </a:solidFill>
                <a:latin typeface="Menlo Regular"/>
                <a:ea typeface="Menlo Regular"/>
                <a:cs typeface="Menlo Regular"/>
                <a:sym typeface="Menlo Regular"/>
              </a:defRPr>
            </a:pPr>
            <a:r>
              <a:t> * </a:t>
            </a:r>
            <a:r>
              <a:rPr>
                <a:solidFill>
                  <a:srgbClr val="569CD6"/>
                </a:solidFill>
              </a:rPr>
              <a:t>@pre</a:t>
            </a:r>
            <a:r>
              <a:t> Sensor must be calibrated (call calibrateSensor() first)</a:t>
            </a:r>
            <a:endParaRPr>
              <a:solidFill>
                <a:srgbClr val="D4D4D4"/>
              </a:solidFill>
            </a:endParaRPr>
          </a:p>
          <a:p>
            <a:pPr defTabSz="416052">
              <a:defRPr sz="2730">
                <a:solidFill>
                  <a:srgbClr val="6A9955"/>
                </a:solidFill>
                <a:latin typeface="Menlo Regular"/>
                <a:ea typeface="Menlo Regular"/>
                <a:cs typeface="Menlo Regular"/>
                <a:sym typeface="Menlo Regular"/>
              </a:defRPr>
            </a:pPr>
            <a:r>
              <a:t> * </a:t>
            </a:r>
            <a:r>
              <a:rPr>
                <a:solidFill>
                  <a:srgbClr val="569CD6"/>
                </a:solidFill>
              </a:rPr>
              <a:t>@note</a:t>
            </a:r>
            <a:r>
              <a:t> Thresholds per ERC protocol (2025), Section 4.2</a:t>
            </a:r>
            <a:endParaRPr>
              <a:solidFill>
                <a:srgbClr val="D4D4D4"/>
              </a:solidFill>
            </a:endParaRPr>
          </a:p>
          <a:p>
            <a:pPr defTabSz="416052">
              <a:defRPr sz="2730">
                <a:solidFill>
                  <a:srgbClr val="6A9955"/>
                </a:solidFill>
                <a:latin typeface="Menlo Regular"/>
                <a:ea typeface="Menlo Regular"/>
                <a:cs typeface="Menlo Regular"/>
                <a:sym typeface="Menlo Regular"/>
              </a:defRPr>
            </a:pPr>
            <a:r>
              <a:t> * </a:t>
            </a:r>
            <a:r>
              <a:rPr>
                <a:solidFill>
                  <a:srgbClr val="569CD6"/>
                </a:solidFill>
              </a:rPr>
              <a:t>@see</a:t>
            </a:r>
            <a:r>
              <a:t> Validation report HCL-VAL-2024-017</a:t>
            </a:r>
            <a:endParaRPr>
              <a:solidFill>
                <a:srgbClr val="D4D4D4"/>
              </a:solidFill>
            </a:endParaRPr>
          </a:p>
          <a:p>
            <a:pPr defTabSz="416052">
              <a:defRPr sz="2730">
                <a:solidFill>
                  <a:srgbClr val="6A9955"/>
                </a:solidFill>
                <a:latin typeface="Menlo Regular"/>
                <a:ea typeface="Menlo Regular"/>
                <a:cs typeface="Menlo Regular"/>
                <a:sym typeface="Menlo Regular"/>
              </a:defRPr>
            </a:pPr>
            <a:r>
              <a:t> */</a:t>
            </a:r>
            <a:endParaRPr>
              <a:solidFill>
                <a:srgbClr val="D4D4D4"/>
              </a:solidFill>
            </a:endParaRPr>
          </a:p>
          <a:p>
            <a:pPr defTabSz="416052">
              <a:defRPr sz="2730">
                <a:solidFill>
                  <a:srgbClr val="DCDCAA"/>
                </a:solidFill>
                <a:latin typeface="Menlo Regular"/>
                <a:ea typeface="Menlo Regular"/>
                <a:cs typeface="Menlo Regular"/>
                <a:sym typeface="Menlo Regular"/>
              </a:defRPr>
            </a:pPr>
            <a:r>
              <a:rPr>
                <a:solidFill>
                  <a:srgbClr val="569CD6"/>
                </a:solidFill>
              </a:rPr>
              <a:t>bool</a:t>
            </a:r>
            <a:r>
              <a:rPr>
                <a:solidFill>
                  <a:srgbClr val="D4D4D4"/>
                </a:solidFill>
              </a:rPr>
              <a:t> </a:t>
            </a:r>
            <a:r>
              <a:t>isCompressionDepthValid</a:t>
            </a:r>
            <a:r>
              <a:rPr>
                <a:solidFill>
                  <a:srgbClr val="D4D4D4"/>
                </a:solidFill>
              </a:rPr>
              <a:t>(</a:t>
            </a:r>
            <a:r>
              <a:rPr>
                <a:solidFill>
                  <a:srgbClr val="569CD6"/>
                </a:solidFill>
              </a:rPr>
              <a:t>float</a:t>
            </a:r>
            <a:r>
              <a:rPr>
                <a:solidFill>
                  <a:srgbClr val="D4D4D4"/>
                </a:solidFill>
              </a:rPr>
              <a:t> </a:t>
            </a:r>
            <a:r>
              <a:rPr>
                <a:solidFill>
                  <a:srgbClr val="9CDCFE"/>
                </a:solidFill>
              </a:rPr>
              <a:t>depth_mm</a:t>
            </a:r>
            <a:r>
              <a:rPr>
                <a:solidFill>
                  <a:srgbClr val="D4D4D4"/>
                </a:solidFill>
              </a:rPr>
              <a:t>);</a:t>
            </a:r>
            <a:endParaRPr>
              <a:solidFill>
                <a:srgbClr val="D4D4D4"/>
              </a:solidFill>
            </a:endParaRPr>
          </a:p>
        </p:txBody>
      </p:sp>
    </p:spTree>
  </p:cSld>
  <p:clrMapOvr>
    <a:masterClrMapping/>
  </p:clrMapOvr>
  <p:transition xmlns:p14="http://schemas.microsoft.com/office/powerpoint/2010/main" spd="med" advClick="1"/>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2" name="Clean code, clear comments"/>
          <p:cNvSpPr txBox="1"/>
          <p:nvPr>
            <p:ph type="title"/>
          </p:nvPr>
        </p:nvSpPr>
        <p:spPr>
          <a:prstGeom prst="rect">
            <a:avLst/>
          </a:prstGeom>
        </p:spPr>
        <p:txBody>
          <a:bodyPr/>
          <a:lstStyle/>
          <a:p>
            <a:pPr/>
            <a:r>
              <a:t>Clean code, clear comments</a:t>
            </a:r>
          </a:p>
        </p:txBody>
      </p:sp>
      <p:sp>
        <p:nvSpPr>
          <p:cNvPr id="303" name="The key insight: you document the declaration, not the implementation.…"/>
          <p:cNvSpPr txBox="1"/>
          <p:nvPr>
            <p:ph type="body" idx="1"/>
          </p:nvPr>
        </p:nvSpPr>
        <p:spPr>
          <a:xfrm>
            <a:off x="1688592" y="3069576"/>
            <a:ext cx="21824355" cy="9296401"/>
          </a:xfrm>
          <a:prstGeom prst="rect">
            <a:avLst/>
          </a:prstGeom>
        </p:spPr>
        <p:txBody>
          <a:bodyPr/>
          <a:lstStyle/>
          <a:p>
            <a:pPr>
              <a:lnSpc>
                <a:spcPct val="120000"/>
              </a:lnSpc>
            </a:pPr>
            <a:r>
              <a:t>The key insight: you document the declaration, not the implementation.</a:t>
            </a:r>
          </a:p>
          <a:p>
            <a:pPr>
              <a:lnSpc>
                <a:spcPct val="120000"/>
              </a:lnSpc>
            </a:pPr>
            <a:r>
              <a:t>This goes in the .h/hpp) file, not the .c/cpp file. </a:t>
            </a:r>
          </a:p>
          <a:p>
            <a:pPr>
              <a:lnSpc>
                <a:spcPct val="120000"/>
              </a:lnSpc>
            </a:pPr>
          </a:p>
          <a:p>
            <a:pPr>
              <a:lnSpc>
                <a:spcPct val="120000"/>
              </a:lnSpc>
            </a:pPr>
            <a:r>
              <a:t>Rationale:</a:t>
            </a:r>
          </a:p>
          <a:p>
            <a:pPr>
              <a:lnSpc>
                <a:spcPct val="120000"/>
              </a:lnSpc>
            </a:pPr>
            <a:r>
              <a:t>The user of your function:</a:t>
            </a:r>
          </a:p>
          <a:p>
            <a:pPr>
              <a:lnSpc>
                <a:spcPct val="120000"/>
              </a:lnSpc>
            </a:pPr>
            <a:r>
              <a:t>- Sees the header</a:t>
            </a:r>
          </a:p>
          <a:p>
            <a:pPr>
              <a:lnSpc>
                <a:spcPct val="120000"/>
              </a:lnSpc>
            </a:pPr>
            <a:r>
              <a:t>- Doesn’t (and shouldn't need to) read the implementation</a:t>
            </a:r>
          </a:p>
          <a:p>
            <a:pPr>
              <a:lnSpc>
                <a:spcPct val="120000"/>
              </a:lnSpc>
            </a:pPr>
            <a:r>
              <a:t>Needs to know </a:t>
            </a:r>
            <a:r>
              <a:rPr i="1"/>
              <a:t>what it does</a:t>
            </a:r>
            <a:r>
              <a:t>, </a:t>
            </a:r>
            <a:r>
              <a:rPr b="1"/>
              <a:t>not</a:t>
            </a:r>
            <a:r>
              <a:t> </a:t>
            </a:r>
            <a:r>
              <a:rPr i="1"/>
              <a:t>how it does it.</a:t>
            </a:r>
          </a:p>
        </p:txBody>
      </p:sp>
    </p:spTree>
  </p:cSld>
  <p:clrMapOvr>
    <a:masterClrMapping/>
  </p:clrMapOvr>
  <p:transition xmlns:p14="http://schemas.microsoft.com/office/powerpoint/2010/main" spd="med" advClick="1"/>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5" name="Clean code, clear comments"/>
          <p:cNvSpPr txBox="1"/>
          <p:nvPr>
            <p:ph type="title"/>
          </p:nvPr>
        </p:nvSpPr>
        <p:spPr>
          <a:prstGeom prst="rect">
            <a:avLst/>
          </a:prstGeom>
        </p:spPr>
        <p:txBody>
          <a:bodyPr/>
          <a:lstStyle/>
          <a:p>
            <a:pPr/>
            <a:r>
              <a:t>Clean code, clear comments</a:t>
            </a:r>
          </a:p>
        </p:txBody>
      </p:sp>
      <p:sp>
        <p:nvSpPr>
          <p:cNvPr id="306" name="Levels of documentation: Inline → function → module → architectural…"/>
          <p:cNvSpPr txBox="1"/>
          <p:nvPr>
            <p:ph type="body" idx="1"/>
          </p:nvPr>
        </p:nvSpPr>
        <p:spPr>
          <a:xfrm>
            <a:off x="1688592" y="3069576"/>
            <a:ext cx="21824355" cy="9296401"/>
          </a:xfrm>
          <a:prstGeom prst="rect">
            <a:avLst/>
          </a:prstGeom>
        </p:spPr>
        <p:txBody>
          <a:bodyPr/>
          <a:lstStyle/>
          <a:p>
            <a:pPr>
              <a:lnSpc>
                <a:spcPct val="120000"/>
              </a:lnSpc>
            </a:pPr>
            <a:r>
              <a:t>Levels of documentation: Inline → </a:t>
            </a:r>
            <a:r>
              <a:rPr b="1"/>
              <a:t>function</a:t>
            </a:r>
            <a:r>
              <a:t> → module → architectural</a:t>
            </a:r>
          </a:p>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r>
              <a:t>- What about this comment?</a:t>
            </a:r>
          </a:p>
        </p:txBody>
      </p:sp>
      <p:sp>
        <p:nvSpPr>
          <p:cNvPr id="307" name="Rechthoek"/>
          <p:cNvSpPr/>
          <p:nvPr/>
        </p:nvSpPr>
        <p:spPr>
          <a:xfrm>
            <a:off x="1625640" y="5047595"/>
            <a:ext cx="18886873" cy="5161439"/>
          </a:xfrm>
          <a:prstGeom prst="rect">
            <a:avLst/>
          </a:prstGeom>
          <a:solidFill>
            <a:srgbClr val="1E1E1E"/>
          </a:solidFill>
          <a:ln w="12700">
            <a:solidFill>
              <a:schemeClr val="accent1"/>
            </a:solidFill>
            <a:miter/>
          </a:ln>
        </p:spPr>
        <p:txBody>
          <a:bodyPr lIns="45719" rIns="45719" anchor="ctr"/>
          <a:lstStyle/>
          <a:p>
            <a:pPr/>
          </a:p>
        </p:txBody>
      </p:sp>
      <p:sp>
        <p:nvSpPr>
          <p:cNvPr id="308" name="/**…"/>
          <p:cNvSpPr txBox="1"/>
          <p:nvPr/>
        </p:nvSpPr>
        <p:spPr>
          <a:xfrm>
            <a:off x="1688592" y="5101576"/>
            <a:ext cx="21824355" cy="505347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defTabSz="457200">
              <a:defRPr sz="3000">
                <a:solidFill>
                  <a:srgbClr val="6A9955"/>
                </a:solidFill>
                <a:latin typeface="Menlo Regular"/>
                <a:ea typeface="Menlo Regular"/>
                <a:cs typeface="Menlo Regular"/>
                <a:sym typeface="Menlo Regular"/>
              </a:defRPr>
            </a:pPr>
            <a:r>
              <a:t>/**</a:t>
            </a:r>
            <a:endParaRPr>
              <a:solidFill>
                <a:srgbClr val="D4D4D4"/>
              </a:solidFill>
            </a:endParaRPr>
          </a:p>
          <a:p>
            <a:pPr defTabSz="457200">
              <a:defRPr sz="3000">
                <a:solidFill>
                  <a:srgbClr val="6A9955"/>
                </a:solidFill>
                <a:latin typeface="Menlo Regular"/>
                <a:ea typeface="Menlo Regular"/>
                <a:cs typeface="Menlo Regular"/>
                <a:sym typeface="Menlo Regular"/>
              </a:defRPr>
            </a:pPr>
            <a:r>
              <a:t> * This function checks the compression depth.</a:t>
            </a:r>
            <a:endParaRPr>
              <a:solidFill>
                <a:srgbClr val="D4D4D4"/>
              </a:solidFill>
            </a:endParaRPr>
          </a:p>
          <a:p>
            <a:pPr defTabSz="457200">
              <a:defRPr sz="3000">
                <a:solidFill>
                  <a:srgbClr val="6A9955"/>
                </a:solidFill>
                <a:latin typeface="Menlo Regular"/>
                <a:ea typeface="Menlo Regular"/>
                <a:cs typeface="Menlo Regular"/>
                <a:sym typeface="Menlo Regular"/>
              </a:defRPr>
            </a:pPr>
            <a:r>
              <a:t> */</a:t>
            </a:r>
            <a:endParaRPr>
              <a:solidFill>
                <a:srgbClr val="D4D4D4"/>
              </a:solidFill>
            </a:endParaRPr>
          </a:p>
          <a:p>
            <a:pPr defTabSz="457200">
              <a:defRPr sz="3000">
                <a:solidFill>
                  <a:srgbClr val="DCDCAA"/>
                </a:solidFill>
                <a:latin typeface="Menlo Regular"/>
                <a:ea typeface="Menlo Regular"/>
                <a:cs typeface="Menlo Regular"/>
                <a:sym typeface="Menlo Regular"/>
              </a:defRPr>
            </a:pPr>
            <a:r>
              <a:rPr>
                <a:solidFill>
                  <a:srgbClr val="569CD6"/>
                </a:solidFill>
              </a:rPr>
              <a:t>bool</a:t>
            </a:r>
            <a:r>
              <a:rPr>
                <a:solidFill>
                  <a:srgbClr val="D4D4D4"/>
                </a:solidFill>
              </a:rPr>
              <a:t> </a:t>
            </a:r>
            <a:r>
              <a:t>isCompressionDepthValid</a:t>
            </a:r>
            <a:r>
              <a:rPr>
                <a:solidFill>
                  <a:srgbClr val="D4D4D4"/>
                </a:solidFill>
              </a:rPr>
              <a:t>(</a:t>
            </a:r>
            <a:r>
              <a:rPr>
                <a:solidFill>
                  <a:srgbClr val="569CD6"/>
                </a:solidFill>
              </a:rPr>
              <a:t>float</a:t>
            </a:r>
            <a:r>
              <a:rPr>
                <a:solidFill>
                  <a:srgbClr val="D4D4D4"/>
                </a:solidFill>
              </a:rPr>
              <a:t> </a:t>
            </a:r>
            <a:r>
              <a:rPr>
                <a:solidFill>
                  <a:srgbClr val="9CDCFE"/>
                </a:solidFill>
              </a:rPr>
              <a:t>depth_mm</a:t>
            </a:r>
            <a:r>
              <a:rPr>
                <a:solidFill>
                  <a:srgbClr val="D4D4D4"/>
                </a:solidFill>
              </a:rPr>
              <a:t>);</a:t>
            </a:r>
            <a:endParaRPr>
              <a:solidFill>
                <a:srgbClr val="D4D4D4"/>
              </a:solidFill>
            </a:endParaRPr>
          </a:p>
        </p:txBody>
      </p:sp>
    </p:spTree>
  </p:cSld>
  <p:clrMapOvr>
    <a:masterClrMapping/>
  </p:clrMapOvr>
  <p:transition xmlns:p14="http://schemas.microsoft.com/office/powerpoint/2010/main" spd="med" advClick="1"/>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2" name="Clean code, clear comments"/>
          <p:cNvSpPr txBox="1"/>
          <p:nvPr>
            <p:ph type="title"/>
          </p:nvPr>
        </p:nvSpPr>
        <p:spPr>
          <a:prstGeom prst="rect">
            <a:avLst/>
          </a:prstGeom>
        </p:spPr>
        <p:txBody>
          <a:bodyPr/>
          <a:lstStyle/>
          <a:p>
            <a:pPr/>
            <a:r>
              <a:t>Clean code, clear comments</a:t>
            </a:r>
          </a:p>
        </p:txBody>
      </p:sp>
      <p:sp>
        <p:nvSpPr>
          <p:cNvPr id="313" name="Levels of documentation: Inline → function → module → architectural"/>
          <p:cNvSpPr txBox="1"/>
          <p:nvPr>
            <p:ph type="body" idx="1"/>
          </p:nvPr>
        </p:nvSpPr>
        <p:spPr>
          <a:xfrm>
            <a:off x="1688592" y="3069576"/>
            <a:ext cx="21824355" cy="9296401"/>
          </a:xfrm>
          <a:prstGeom prst="rect">
            <a:avLst/>
          </a:prstGeom>
        </p:spPr>
        <p:txBody>
          <a:bodyPr/>
          <a:lstStyle/>
          <a:p>
            <a:pPr>
              <a:lnSpc>
                <a:spcPct val="120000"/>
              </a:lnSpc>
            </a:pPr>
            <a:r>
              <a:t>Levels of documentation: Inline → </a:t>
            </a:r>
            <a:r>
              <a:rPr b="1"/>
              <a:t>function</a:t>
            </a:r>
            <a:r>
              <a:t> → module → architectural</a:t>
            </a:r>
          </a:p>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p>
        </p:txBody>
      </p:sp>
      <p:graphicFrame>
        <p:nvGraphicFramePr>
          <p:cNvPr id="314" name="Tabel 1"/>
          <p:cNvGraphicFramePr/>
          <p:nvPr/>
        </p:nvGraphicFramePr>
        <p:xfrm>
          <a:off x="2305029" y="4418171"/>
          <a:ext cx="11631167" cy="6963931"/>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2718686"/>
                <a:gridCol w="8908035"/>
              </a:tblGrid>
              <a:tr h="747791">
                <a:tc>
                  <a:txBody>
                    <a:bodyPr/>
                    <a:lstStyle/>
                    <a:p>
                      <a:pPr algn="l" defTabSz="457200">
                        <a:defRPr b="0" sz="1800">
                          <a:solidFill>
                            <a:srgbClr val="000000"/>
                          </a:solidFill>
                        </a:defRPr>
                      </a:pPr>
                      <a:r>
                        <a:rPr b="1" sz="3600">
                          <a:latin typeface="Arial"/>
                          <a:ea typeface="Arial"/>
                          <a:cs typeface="Arial"/>
                          <a:sym typeface="Arial"/>
                        </a:rPr>
                        <a:t>Tag</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a:solidFill>
                        <a:srgbClr val="000000"/>
                      </a:solidFill>
                      <a:miter lim="400000"/>
                    </a:lnB>
                    <a:solidFill>
                      <a:srgbClr val="BEC0BF"/>
                    </a:solidFill>
                  </a:tcPr>
                </a:tc>
                <a:tc>
                  <a:txBody>
                    <a:bodyPr/>
                    <a:lstStyle/>
                    <a:p>
                      <a:pPr algn="l" defTabSz="457200">
                        <a:defRPr b="0" sz="1800">
                          <a:solidFill>
                            <a:srgbClr val="000000"/>
                          </a:solidFill>
                        </a:defRPr>
                      </a:pPr>
                      <a:r>
                        <a:rPr b="1" sz="3600">
                          <a:latin typeface="Arial"/>
                          <a:ea typeface="Arial"/>
                          <a:cs typeface="Arial"/>
                          <a:sym typeface="Arial"/>
                        </a:rPr>
                        <a:t>Purpose</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a:solidFill>
                        <a:srgbClr val="000000"/>
                      </a:solidFill>
                      <a:miter lim="400000"/>
                    </a:lnB>
                    <a:solidFill>
                      <a:srgbClr val="BEC0BF"/>
                    </a:solidFill>
                  </a:tcPr>
                </a:tc>
              </a:tr>
              <a:tr h="747791">
                <a:tc>
                  <a:txBody>
                    <a:bodyPr/>
                    <a:lstStyle/>
                    <a:p>
                      <a:pPr algn="l" defTabSz="457200">
                        <a:defRPr sz="1800"/>
                      </a:pPr>
                      <a:r>
                        <a:rPr sz="3600">
                          <a:latin typeface="Arial"/>
                          <a:ea typeface="Arial"/>
                          <a:cs typeface="Arial"/>
                          <a:sym typeface="Arial"/>
                        </a:rPr>
                        <a:t>@brief</a:t>
                      </a:r>
                    </a:p>
                  </a:txBody>
                  <a:tcPr marL="50800" marR="50800" marT="50800" marB="50800" anchor="t" anchorCtr="0" horzOverflow="overflow">
                    <a:lnL w="4445">
                      <a:solidFill>
                        <a:srgbClr val="000000"/>
                      </a:solidFill>
                      <a:miter lim="400000"/>
                    </a:lnL>
                    <a:lnR w="4445">
                      <a:solidFill>
                        <a:srgbClr val="000000"/>
                      </a:solidFill>
                      <a:miter lim="400000"/>
                    </a:lnR>
                    <a:lnT>
                      <a:solidFill>
                        <a:srgbClr val="000000"/>
                      </a:solidFill>
                      <a:miter lim="400000"/>
                    </a:lnT>
                    <a:lnB w="4445">
                      <a:solidFill>
                        <a:srgbClr val="000000"/>
                      </a:solidFill>
                      <a:miter lim="400000"/>
                    </a:lnB>
                    <a:noFill/>
                  </a:tcPr>
                </a:tc>
                <a:tc>
                  <a:txBody>
                    <a:bodyPr/>
                    <a:lstStyle/>
                    <a:p>
                      <a:pPr algn="l" defTabSz="457200">
                        <a:defRPr sz="1800"/>
                      </a:pPr>
                      <a:r>
                        <a:rPr sz="3600">
                          <a:latin typeface="Arial"/>
                          <a:ea typeface="Arial"/>
                          <a:cs typeface="Arial"/>
                          <a:sym typeface="Arial"/>
                        </a:rPr>
                        <a:t>One line – what does it do?</a:t>
                      </a:r>
                    </a:p>
                  </a:txBody>
                  <a:tcPr marL="50800" marR="50800" marT="50800" marB="50800" anchor="t" anchorCtr="0" horzOverflow="overflow">
                    <a:lnL w="4445">
                      <a:solidFill>
                        <a:srgbClr val="000000"/>
                      </a:solidFill>
                      <a:miter lim="400000"/>
                    </a:lnL>
                    <a:lnR w="4445">
                      <a:solidFill>
                        <a:srgbClr val="000000"/>
                      </a:solidFill>
                      <a:miter lim="400000"/>
                    </a:lnR>
                    <a:lnT>
                      <a:solidFill>
                        <a:srgbClr val="000000"/>
                      </a:solidFill>
                      <a:miter lim="400000"/>
                    </a:lnT>
                    <a:lnB w="4445">
                      <a:solidFill>
                        <a:srgbClr val="000000"/>
                      </a:solidFill>
                      <a:miter lim="400000"/>
                    </a:lnB>
                    <a:noFill/>
                  </a:tcPr>
                </a:tc>
              </a:tr>
              <a:tr h="741041">
                <a:tc>
                  <a:txBody>
                    <a:bodyPr/>
                    <a:lstStyle/>
                    <a:p>
                      <a:pPr algn="l" defTabSz="457200">
                        <a:defRPr sz="1800"/>
                      </a:pPr>
                      <a:r>
                        <a:rPr sz="3600">
                          <a:latin typeface="Arial"/>
                          <a:ea typeface="Arial"/>
                          <a:cs typeface="Arial"/>
                          <a:sym typeface="Arial"/>
                        </a:rPr>
                        <a:t>@param</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3600">
                          <a:latin typeface="Arial"/>
                          <a:ea typeface="Arial"/>
                          <a:cs typeface="Arial"/>
                          <a:sym typeface="Arial"/>
                        </a:rPr>
                        <a:t>What goes in? (units! constraints!)</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r h="741041">
                <a:tc>
                  <a:txBody>
                    <a:bodyPr/>
                    <a:lstStyle/>
                    <a:p>
                      <a:pPr algn="l" defTabSz="457200">
                        <a:defRPr sz="1800"/>
                      </a:pPr>
                      <a:r>
                        <a:rPr sz="3600">
                          <a:latin typeface="Arial"/>
                          <a:ea typeface="Arial"/>
                          <a:cs typeface="Arial"/>
                          <a:sym typeface="Arial"/>
                        </a:rPr>
                        <a:t>@return</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3600">
                          <a:latin typeface="Arial"/>
                          <a:ea typeface="Arial"/>
                          <a:cs typeface="Arial"/>
                          <a:sym typeface="Arial"/>
                        </a:rPr>
                        <a:t>What comes out? (units! ranges!)</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r h="741041">
                <a:tc>
                  <a:txBody>
                    <a:bodyPr/>
                    <a:lstStyle/>
                    <a:p>
                      <a:pPr algn="l" defTabSz="457200">
                        <a:defRPr sz="1800"/>
                      </a:pPr>
                      <a:r>
                        <a:rPr sz="3600">
                          <a:latin typeface="Arial"/>
                          <a:ea typeface="Arial"/>
                          <a:cs typeface="Arial"/>
                          <a:sym typeface="Arial"/>
                        </a:rPr>
                        <a:t>@pre</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3600">
                          <a:latin typeface="Arial"/>
                          <a:ea typeface="Arial"/>
                          <a:cs typeface="Arial"/>
                          <a:sym typeface="Arial"/>
                        </a:defRPr>
                      </a:pPr>
                      <a:r>
                        <a:rPr i="1"/>
                        <a:t>What must be true before calling?</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r h="741041">
                <a:tc>
                  <a:txBody>
                    <a:bodyPr/>
                    <a:lstStyle/>
                    <a:p>
                      <a:pPr algn="l" defTabSz="457200">
                        <a:defRPr sz="1800"/>
                      </a:pPr>
                      <a:r>
                        <a:rPr sz="3600">
                          <a:latin typeface="Arial"/>
                          <a:ea typeface="Arial"/>
                          <a:cs typeface="Arial"/>
                          <a:sym typeface="Arial"/>
                        </a:rPr>
                        <a:t>@post</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3600">
                          <a:latin typeface="Arial"/>
                          <a:ea typeface="Arial"/>
                          <a:cs typeface="Arial"/>
                          <a:sym typeface="Arial"/>
                        </a:rPr>
                        <a:t>What will be true after calling?</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r h="741041">
                <a:tc>
                  <a:txBody>
                    <a:bodyPr/>
                    <a:lstStyle/>
                    <a:p>
                      <a:pPr algn="l" defTabSz="457200">
                        <a:defRPr sz="1800"/>
                      </a:pPr>
                      <a:r>
                        <a:rPr sz="3600">
                          <a:latin typeface="Arial"/>
                          <a:ea typeface="Arial"/>
                          <a:cs typeface="Arial"/>
                          <a:sym typeface="Arial"/>
                        </a:rPr>
                        <a:t>@note</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3600">
                          <a:latin typeface="Arial"/>
                          <a:ea typeface="Arial"/>
                          <a:cs typeface="Arial"/>
                          <a:sym typeface="Arial"/>
                        </a:rPr>
                        <a:t>Important things to know</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r h="741041">
                <a:tc>
                  <a:txBody>
                    <a:bodyPr/>
                    <a:lstStyle/>
                    <a:p>
                      <a:pPr algn="l" defTabSz="457200">
                        <a:defRPr sz="1800"/>
                      </a:pPr>
                      <a:r>
                        <a:rPr sz="3600">
                          <a:latin typeface="Arial"/>
                          <a:ea typeface="Arial"/>
                          <a:cs typeface="Arial"/>
                          <a:sym typeface="Arial"/>
                        </a:rPr>
                        <a:t>@warning</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3600">
                          <a:latin typeface="Arial"/>
                          <a:ea typeface="Arial"/>
                          <a:cs typeface="Arial"/>
                          <a:sym typeface="Arial"/>
                        </a:rPr>
                        <a:t>Things that can go wrong</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r h="741041">
                <a:tc>
                  <a:txBody>
                    <a:bodyPr/>
                    <a:lstStyle/>
                    <a:p>
                      <a:pPr algn="l" defTabSz="457200">
                        <a:defRPr sz="1800"/>
                      </a:pPr>
                      <a:r>
                        <a:rPr sz="3600">
                          <a:latin typeface="Arial"/>
                          <a:ea typeface="Arial"/>
                          <a:cs typeface="Arial"/>
                          <a:sym typeface="Arial"/>
                        </a:rPr>
                        <a:t>@see</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3600">
                          <a:latin typeface="Arial"/>
                          <a:ea typeface="Arial"/>
                          <a:cs typeface="Arial"/>
                          <a:sym typeface="Arial"/>
                        </a:rPr>
                        <a:t>Related functions, documents, references</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bl>
          </a:graphicData>
        </a:graphic>
      </p:graphicFrame>
    </p:spTree>
  </p:cSld>
  <p:clrMapOvr>
    <a:masterClrMapping/>
  </p:clrMapOvr>
  <p:transition xmlns:p14="http://schemas.microsoft.com/office/powerpoint/2010/main" spd="med" advClick="1"/>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6" name="Clean code, clear comments"/>
          <p:cNvSpPr txBox="1"/>
          <p:nvPr>
            <p:ph type="title"/>
          </p:nvPr>
        </p:nvSpPr>
        <p:spPr>
          <a:prstGeom prst="rect">
            <a:avLst/>
          </a:prstGeom>
        </p:spPr>
        <p:txBody>
          <a:bodyPr/>
          <a:lstStyle/>
          <a:p>
            <a:pPr/>
            <a:r>
              <a:t>Clean code, clear comments</a:t>
            </a:r>
          </a:p>
        </p:txBody>
      </p:sp>
      <p:sp>
        <p:nvSpPr>
          <p:cNvPr id="317" name="Levels of documentation: Inline → function → module → architectural…"/>
          <p:cNvSpPr txBox="1"/>
          <p:nvPr>
            <p:ph type="body" idx="1"/>
          </p:nvPr>
        </p:nvSpPr>
        <p:spPr>
          <a:xfrm>
            <a:off x="1688592" y="3069576"/>
            <a:ext cx="21824355" cy="9296401"/>
          </a:xfrm>
          <a:prstGeom prst="rect">
            <a:avLst/>
          </a:prstGeom>
        </p:spPr>
        <p:txBody>
          <a:bodyPr/>
          <a:lstStyle/>
          <a:p>
            <a:pPr>
              <a:lnSpc>
                <a:spcPct val="120000"/>
              </a:lnSpc>
            </a:pPr>
            <a:r>
              <a:t>Levels of documentation: Inline → function → </a:t>
            </a:r>
            <a:r>
              <a:rPr b="1"/>
              <a:t>module</a:t>
            </a:r>
            <a:r>
              <a:t> → architectural</a:t>
            </a:r>
          </a:p>
          <a:p>
            <a:pPr>
              <a:lnSpc>
                <a:spcPct val="120000"/>
              </a:lnSpc>
            </a:pPr>
          </a:p>
          <a:p>
            <a:pPr>
              <a:lnSpc>
                <a:spcPct val="120000"/>
              </a:lnSpc>
            </a:pPr>
          </a:p>
          <a:p>
            <a:pPr>
              <a:lnSpc>
                <a:spcPct val="120000"/>
              </a:lnSpc>
              <a:defRPr b="1"/>
            </a:pPr>
            <a:r>
              <a:t>Module documentation</a:t>
            </a:r>
          </a:p>
          <a:p>
            <a:pPr>
              <a:lnSpc>
                <a:spcPct val="120000"/>
              </a:lnSpc>
            </a:pPr>
            <a:r>
              <a:t>Audience: Developer working on, integrating, or maintaining this module</a:t>
            </a:r>
          </a:p>
          <a:p>
            <a:pPr>
              <a:lnSpc>
                <a:spcPct val="120000"/>
              </a:lnSpc>
            </a:pPr>
            <a:r>
              <a:t>Purpose: What this module </a:t>
            </a:r>
            <a:r>
              <a:rPr i="1"/>
              <a:t>is</a:t>
            </a:r>
            <a:r>
              <a:t>, what it's responsible for, what it's </a:t>
            </a:r>
            <a:r>
              <a:rPr i="1"/>
              <a:t>not</a:t>
            </a:r>
            <a:r>
              <a:t> responsible for, and how it fits into the system</a:t>
            </a:r>
            <a:endParaRPr i="1"/>
          </a:p>
        </p:txBody>
      </p:sp>
    </p:spTree>
  </p:cSld>
  <p:clrMapOvr>
    <a:masterClrMapping/>
  </p:clrMapOvr>
  <p:transition xmlns:p14="http://schemas.microsoft.com/office/powerpoint/2010/main" spd="med" advClick="1"/>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1" name="Exercise 2: Comment this"/>
          <p:cNvSpPr txBox="1"/>
          <p:nvPr>
            <p:ph type="title"/>
          </p:nvPr>
        </p:nvSpPr>
        <p:spPr>
          <a:prstGeom prst="rect">
            <a:avLst/>
          </a:prstGeom>
        </p:spPr>
        <p:txBody>
          <a:bodyPr/>
          <a:lstStyle/>
          <a:p>
            <a:pPr/>
            <a:r>
              <a:t>Exercise 2: Comment this</a:t>
            </a:r>
          </a:p>
        </p:txBody>
      </p:sp>
      <p:sp>
        <p:nvSpPr>
          <p:cNvPr id="322" name="Where did 40.0 come from?…"/>
          <p:cNvSpPr txBox="1"/>
          <p:nvPr>
            <p:ph type="body" idx="1"/>
          </p:nvPr>
        </p:nvSpPr>
        <p:spPr>
          <a:xfrm>
            <a:off x="1688592" y="3069576"/>
            <a:ext cx="21824355" cy="9296401"/>
          </a:xfrm>
          <a:prstGeom prst="rect">
            <a:avLst/>
          </a:prstGeom>
        </p:spPr>
        <p:txBody>
          <a:bodyPr/>
          <a:lstStyle/>
          <a:p>
            <a:pPr>
              <a:lnSpc>
                <a:spcPct val="120000"/>
              </a:lnSpc>
            </a:pPr>
            <a:r>
              <a:t>Where did 40.0 come from? </a:t>
            </a:r>
          </a:p>
          <a:p>
            <a:pPr>
              <a:lnSpc>
                <a:spcPct val="120000"/>
              </a:lnSpc>
            </a:pPr>
            <a:r>
              <a:t>Where did 0.0625 come from?</a:t>
            </a:r>
          </a:p>
        </p:txBody>
      </p:sp>
    </p:spTree>
  </p:cSld>
  <p:clrMapOvr>
    <a:masterClrMapping/>
  </p:clrMapOvr>
  <p:transition xmlns:p14="http://schemas.microsoft.com/office/powerpoint/2010/main" spd="med" advClick="1"/>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6" name="Exercise 3: Good vs bad (5 min)"/>
          <p:cNvSpPr txBox="1"/>
          <p:nvPr>
            <p:ph type="title"/>
          </p:nvPr>
        </p:nvSpPr>
        <p:spPr>
          <a:prstGeom prst="rect">
            <a:avLst/>
          </a:prstGeom>
        </p:spPr>
        <p:txBody>
          <a:bodyPr/>
          <a:lstStyle/>
          <a:p>
            <a:pPr/>
            <a:r>
              <a:t>Exercise 3: Good vs bad (5 min)</a:t>
            </a:r>
          </a:p>
        </p:txBody>
      </p:sp>
      <p:sp>
        <p:nvSpPr>
          <p:cNvPr id="327" name="Which comment is useful (A, B, C or D)? Why?"/>
          <p:cNvSpPr txBox="1"/>
          <p:nvPr>
            <p:ph type="body" idx="1"/>
          </p:nvPr>
        </p:nvSpPr>
        <p:spPr>
          <a:xfrm>
            <a:off x="1688592" y="3069576"/>
            <a:ext cx="21824355" cy="9296401"/>
          </a:xfrm>
          <a:prstGeom prst="rect">
            <a:avLst/>
          </a:prstGeom>
        </p:spPr>
        <p:txBody>
          <a:bodyPr/>
          <a:lstStyle>
            <a:lvl1pPr>
              <a:lnSpc>
                <a:spcPct val="120000"/>
              </a:lnSpc>
            </a:lvl1pPr>
          </a:lstStyle>
          <a:p>
            <a:pPr/>
            <a:r>
              <a:t>Which comment is useful (A, B, C or D)? Why?</a:t>
            </a:r>
          </a:p>
        </p:txBody>
      </p:sp>
    </p:spTree>
  </p:cSld>
  <p:clrMapOvr>
    <a:masterClrMapping/>
  </p:clrMapOvr>
  <p:transition xmlns:p14="http://schemas.microsoft.com/office/powerpoint/2010/main" spd="med" advClick="1"/>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1" name="Clean code, clear comments - Modules"/>
          <p:cNvSpPr txBox="1"/>
          <p:nvPr>
            <p:ph type="title"/>
          </p:nvPr>
        </p:nvSpPr>
        <p:spPr>
          <a:prstGeom prst="rect">
            <a:avLst/>
          </a:prstGeom>
        </p:spPr>
        <p:txBody>
          <a:bodyPr/>
          <a:lstStyle/>
          <a:p>
            <a:pPr/>
            <a:r>
              <a:t>Clean code, clear comments - Modules</a:t>
            </a:r>
          </a:p>
        </p:txBody>
      </p:sp>
      <p:sp>
        <p:nvSpPr>
          <p:cNvPr id="332" name="/**…"/>
          <p:cNvSpPr txBox="1"/>
          <p:nvPr>
            <p:ph type="body" idx="1"/>
          </p:nvPr>
        </p:nvSpPr>
        <p:spPr>
          <a:xfrm>
            <a:off x="1688592" y="3069576"/>
            <a:ext cx="21824355" cy="9296401"/>
          </a:xfrm>
          <a:prstGeom prst="rect">
            <a:avLst/>
          </a:prstGeom>
          <a:solidFill>
            <a:srgbClr val="1E1E1E"/>
          </a:solidFill>
        </p:spPr>
        <p:txBody>
          <a:bodyPr/>
          <a:lstStyle/>
          <a:p>
            <a:pPr defTabSz="278892">
              <a:lnSpc>
                <a:spcPct val="100000"/>
              </a:lnSpc>
              <a:spcBef>
                <a:spcPts val="0"/>
              </a:spcBef>
              <a:defRPr sz="1830">
                <a:solidFill>
                  <a:srgbClr val="6A9955"/>
                </a:solidFill>
                <a:latin typeface="Menlo Regular"/>
                <a:ea typeface="Menlo Regular"/>
                <a:cs typeface="Menlo Regular"/>
                <a:sym typeface="Menlo Regular"/>
              </a:defRPr>
            </a:pPr>
            <a:r>
              <a:t>/**</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a:t>
            </a:r>
            <a:r>
              <a:rPr>
                <a:solidFill>
                  <a:srgbClr val="569CD6"/>
                </a:solidFill>
              </a:rPr>
              <a:t>@file</a:t>
            </a:r>
            <a:r>
              <a:t> compression_sensor.hpp</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a:t>
            </a:r>
            <a:r>
              <a:rPr>
                <a:solidFill>
                  <a:srgbClr val="569CD6"/>
                </a:solidFill>
              </a:rPr>
              <a:t>@brief</a:t>
            </a:r>
            <a:r>
              <a:t> Chest compression depth measurement for neonatal CPR trainer</a:t>
            </a:r>
            <a:endParaRPr>
              <a:solidFill>
                <a:srgbClr val="D4D4D4"/>
              </a:solidFill>
            </a:endParaRPr>
          </a:p>
          <a:p>
            <a:pPr defTabSz="278892">
              <a:lnSpc>
                <a:spcPct val="100000"/>
              </a:lnSpc>
              <a:spcBef>
                <a:spcPts val="0"/>
              </a:spcBef>
              <a:defRPr sz="1830">
                <a:solidFill>
                  <a:srgbClr val="569CD6"/>
                </a:solidFill>
                <a:latin typeface="Menlo Regular"/>
                <a:ea typeface="Menlo Regular"/>
                <a:cs typeface="Menlo Regular"/>
                <a:sym typeface="Menlo Regular"/>
              </a:defRPr>
            </a:pPr>
            <a:r>
              <a:rPr>
                <a:solidFill>
                  <a:srgbClr val="6A9955"/>
                </a:solidFill>
              </a:rPr>
              <a:t> * </a:t>
            </a:r>
            <a:r>
              <a:t>@version</a:t>
            </a:r>
            <a:r>
              <a:rPr>
                <a:solidFill>
                  <a:srgbClr val="6A9955"/>
                </a:solidFill>
              </a:rPr>
              <a:t> 2.1.0</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a:t>
            </a:r>
            <a:r>
              <a:rPr>
                <a:solidFill>
                  <a:srgbClr val="569CD6"/>
                </a:solidFill>
              </a:rPr>
              <a:t>@date</a:t>
            </a:r>
            <a:r>
              <a:t> 2024-03</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a:t>
            </a:r>
            <a:r>
              <a:rPr>
                <a:solidFill>
                  <a:srgbClr val="569CD6"/>
                </a:solidFill>
              </a:rPr>
              <a:t>@author</a:t>
            </a:r>
            <a:r>
              <a:t> J. Korten</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This module handles all interaction with the VL6180X time-of-flight</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sensor used to measure chest compression depth during training.</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Responsibilities:</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 Sensor initialization and calibration</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 Raw measurement acquisition</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 Conversion to millimetres</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 Validation against clinical thresholds</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NOT responsible for:</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 Feedback to user (see feedback_controller.h)</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 Data logging (see session_logger.h)</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 Communication with host (see can_interface.h)</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Hardware: VL6180X on I2C1 (address 0x29)</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a:t>
            </a:r>
            <a:r>
              <a:rPr>
                <a:solidFill>
                  <a:srgbClr val="569CD6"/>
                </a:solidFill>
              </a:rPr>
              <a:t>@see</a:t>
            </a:r>
            <a:r>
              <a:t> ERC Neonatal Resuscitation Protocol (2025)</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a:t>
            </a:r>
            <a:r>
              <a:rPr>
                <a:solidFill>
                  <a:srgbClr val="569CD6"/>
                </a:solidFill>
              </a:rPr>
              <a:t>@see</a:t>
            </a:r>
            <a:r>
              <a:t> Hardware schematic SCH-2024-017</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a:t>
            </a:r>
            <a:r>
              <a:rPr>
                <a:solidFill>
                  <a:srgbClr val="569CD6"/>
                </a:solidFill>
              </a:rPr>
              <a:t>@see</a:t>
            </a:r>
            <a:r>
              <a:t> Calibration procedure HCL-CAL-2024-003</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Version history:</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- 2.1.0: Added ex-phantoma calibration support</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- 2.0.0: Changed to VL6180X (was GP2Y0A21YK)</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- 1.1.0: Added ERC protocol validation</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- 1.0.0: Initial release</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a:t>
            </a:r>
            <a:endParaRPr>
              <a:solidFill>
                <a:srgbClr val="D4D4D4"/>
              </a:solidFill>
            </a:endParaRPr>
          </a:p>
        </p:txBody>
      </p:sp>
    </p:spTree>
  </p:cSld>
  <p:clrMapOvr>
    <a:masterClrMapping/>
  </p:clrMapOvr>
  <p:transition xmlns:p14="http://schemas.microsoft.com/office/powerpoint/2010/main" spd="med" advClick="1"/>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6" name="Clean code, clear comments - Modules"/>
          <p:cNvSpPr txBox="1"/>
          <p:nvPr>
            <p:ph type="title"/>
          </p:nvPr>
        </p:nvSpPr>
        <p:spPr>
          <a:prstGeom prst="rect">
            <a:avLst/>
          </a:prstGeom>
        </p:spPr>
        <p:txBody>
          <a:bodyPr/>
          <a:lstStyle/>
          <a:p>
            <a:pPr/>
            <a:r>
              <a:t>Clean code, clear comments - Modules</a:t>
            </a:r>
          </a:p>
        </p:txBody>
      </p:sp>
      <p:sp>
        <p:nvSpPr>
          <p:cNvPr id="337" name="Levels of documentation: Inline → function → module → architectural"/>
          <p:cNvSpPr txBox="1"/>
          <p:nvPr>
            <p:ph type="body" idx="1"/>
          </p:nvPr>
        </p:nvSpPr>
        <p:spPr>
          <a:xfrm>
            <a:off x="1688592" y="3069576"/>
            <a:ext cx="21824355" cy="9296401"/>
          </a:xfrm>
          <a:prstGeom prst="rect">
            <a:avLst/>
          </a:prstGeom>
        </p:spPr>
        <p:txBody>
          <a:bodyPr/>
          <a:lstStyle/>
          <a:p>
            <a:pPr>
              <a:lnSpc>
                <a:spcPct val="120000"/>
              </a:lnSpc>
            </a:pPr>
            <a:r>
              <a:t>Levels of documentation: Inline → function → </a:t>
            </a:r>
            <a:r>
              <a:rPr b="1"/>
              <a:t>module</a:t>
            </a:r>
            <a:r>
              <a:t> → architectural</a:t>
            </a:r>
          </a:p>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p>
        </p:txBody>
      </p:sp>
      <p:graphicFrame>
        <p:nvGraphicFramePr>
          <p:cNvPr id="338" name="Tabel 1"/>
          <p:cNvGraphicFramePr/>
          <p:nvPr/>
        </p:nvGraphicFramePr>
        <p:xfrm>
          <a:off x="2324351" y="4031736"/>
          <a:ext cx="18248476" cy="7521015"/>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4643298"/>
                <a:gridCol w="13600733"/>
              </a:tblGrid>
              <a:tr h="429644">
                <a:tc>
                  <a:txBody>
                    <a:bodyPr/>
                    <a:lstStyle/>
                    <a:p>
                      <a:pPr algn="l" defTabSz="457200">
                        <a:defRPr b="0" sz="1800">
                          <a:solidFill>
                            <a:srgbClr val="000000"/>
                          </a:solidFill>
                        </a:defRPr>
                      </a:pPr>
                      <a:r>
                        <a:rPr b="1" sz="3300">
                          <a:latin typeface="Arial"/>
                          <a:ea typeface="Arial"/>
                          <a:cs typeface="Arial"/>
                          <a:sym typeface="Arial"/>
                        </a:rPr>
                        <a:t>Tag</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a:solidFill>
                        <a:srgbClr val="000000"/>
                      </a:solidFill>
                      <a:miter lim="400000"/>
                    </a:lnB>
                    <a:solidFill>
                      <a:srgbClr val="BEC0BF"/>
                    </a:solidFill>
                  </a:tcPr>
                </a:tc>
                <a:tc>
                  <a:txBody>
                    <a:bodyPr/>
                    <a:lstStyle/>
                    <a:p>
                      <a:pPr algn="l" defTabSz="457200">
                        <a:defRPr b="0" sz="1800">
                          <a:solidFill>
                            <a:srgbClr val="000000"/>
                          </a:solidFill>
                        </a:defRPr>
                      </a:pPr>
                      <a:r>
                        <a:rPr b="1" sz="3300">
                          <a:latin typeface="Arial"/>
                          <a:ea typeface="Arial"/>
                          <a:cs typeface="Arial"/>
                          <a:sym typeface="Arial"/>
                        </a:rPr>
                        <a:t>Purpose</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a:solidFill>
                        <a:srgbClr val="000000"/>
                      </a:solidFill>
                      <a:miter lim="400000"/>
                    </a:lnB>
                    <a:solidFill>
                      <a:srgbClr val="BEC0BF"/>
                    </a:solidFill>
                  </a:tcPr>
                </a:tc>
              </a:tr>
              <a:tr h="429644">
                <a:tc>
                  <a:txBody>
                    <a:bodyPr/>
                    <a:lstStyle/>
                    <a:p>
                      <a:pPr algn="l" defTabSz="457200">
                        <a:defRPr sz="1800"/>
                      </a:pPr>
                      <a:r>
                        <a:rPr sz="3300">
                          <a:latin typeface="Arial"/>
                          <a:ea typeface="Arial"/>
                          <a:cs typeface="Arial"/>
                          <a:sym typeface="Arial"/>
                        </a:rPr>
                        <a:t>@file</a:t>
                      </a:r>
                    </a:p>
                  </a:txBody>
                  <a:tcPr marL="50800" marR="50800" marT="50800" marB="50800" anchor="t" anchorCtr="0" horzOverflow="overflow">
                    <a:lnL w="4445">
                      <a:solidFill>
                        <a:srgbClr val="000000"/>
                      </a:solidFill>
                      <a:miter lim="400000"/>
                    </a:lnL>
                    <a:lnR w="4445">
                      <a:solidFill>
                        <a:srgbClr val="000000"/>
                      </a:solidFill>
                      <a:miter lim="400000"/>
                    </a:lnR>
                    <a:lnT>
                      <a:solidFill>
                        <a:srgbClr val="000000"/>
                      </a:solidFill>
                      <a:miter lim="400000"/>
                    </a:lnT>
                    <a:lnB w="4445">
                      <a:solidFill>
                        <a:srgbClr val="000000"/>
                      </a:solidFill>
                      <a:miter lim="400000"/>
                    </a:lnB>
                    <a:noFill/>
                  </a:tcPr>
                </a:tc>
                <a:tc>
                  <a:txBody>
                    <a:bodyPr/>
                    <a:lstStyle/>
                    <a:p>
                      <a:pPr algn="l" defTabSz="457200">
                        <a:defRPr sz="1800"/>
                      </a:pPr>
                      <a:r>
                        <a:rPr sz="3300">
                          <a:latin typeface="Arial"/>
                          <a:ea typeface="Arial"/>
                          <a:cs typeface="Arial"/>
                          <a:sym typeface="Arial"/>
                        </a:rPr>
                        <a:t>File name</a:t>
                      </a:r>
                    </a:p>
                  </a:txBody>
                  <a:tcPr marL="50800" marR="50800" marT="50800" marB="50800" anchor="t" anchorCtr="0" horzOverflow="overflow">
                    <a:lnL w="4445">
                      <a:solidFill>
                        <a:srgbClr val="000000"/>
                      </a:solidFill>
                      <a:miter lim="400000"/>
                    </a:lnL>
                    <a:lnR w="4445">
                      <a:solidFill>
                        <a:srgbClr val="000000"/>
                      </a:solidFill>
                      <a:miter lim="400000"/>
                    </a:lnR>
                    <a:lnT>
                      <a:solidFill>
                        <a:srgbClr val="000000"/>
                      </a:solidFill>
                      <a:miter lim="400000"/>
                    </a:lnT>
                    <a:lnB w="4445">
                      <a:solidFill>
                        <a:srgbClr val="000000"/>
                      </a:solidFill>
                      <a:miter lim="400000"/>
                    </a:lnB>
                    <a:noFill/>
                  </a:tcPr>
                </a:tc>
              </a:tr>
              <a:tr h="427104">
                <a:tc>
                  <a:txBody>
                    <a:bodyPr/>
                    <a:lstStyle/>
                    <a:p>
                      <a:pPr algn="l" defTabSz="457200">
                        <a:defRPr sz="1800"/>
                      </a:pPr>
                      <a:r>
                        <a:rPr sz="3300">
                          <a:latin typeface="Arial"/>
                          <a:ea typeface="Arial"/>
                          <a:cs typeface="Arial"/>
                          <a:sym typeface="Arial"/>
                        </a:rPr>
                        <a:t>@brief</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3300">
                          <a:latin typeface="Arial"/>
                          <a:ea typeface="Arial"/>
                          <a:cs typeface="Arial"/>
                          <a:sym typeface="Arial"/>
                        </a:rPr>
                        <a:t>One line – what is this module?</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r h="427104">
                <a:tc>
                  <a:txBody>
                    <a:bodyPr/>
                    <a:lstStyle/>
                    <a:p>
                      <a:pPr algn="l" defTabSz="457200">
                        <a:defRPr sz="1800"/>
                      </a:pPr>
                      <a:r>
                        <a:rPr sz="3300">
                          <a:latin typeface="Arial"/>
                          <a:ea typeface="Arial"/>
                          <a:cs typeface="Arial"/>
                          <a:sym typeface="Arial"/>
                        </a:rPr>
                        <a:t>@version</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3300">
                          <a:latin typeface="Arial"/>
                          <a:ea typeface="Arial"/>
                          <a:cs typeface="Arial"/>
                          <a:sym typeface="Arial"/>
                        </a:rPr>
                        <a:t>Version info</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r h="427104">
                <a:tc>
                  <a:txBody>
                    <a:bodyPr/>
                    <a:lstStyle/>
                    <a:p>
                      <a:pPr algn="l" defTabSz="457200">
                        <a:defRPr sz="1800"/>
                      </a:pPr>
                      <a:r>
                        <a:rPr sz="3300">
                          <a:latin typeface="Arial"/>
                          <a:ea typeface="Arial"/>
                          <a:cs typeface="Arial"/>
                          <a:sym typeface="Arial"/>
                        </a:rPr>
                        <a:t>@author/date</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3300">
                          <a:latin typeface="Arial"/>
                          <a:ea typeface="Arial"/>
                          <a:cs typeface="Arial"/>
                          <a:sym typeface="Arial"/>
                        </a:rPr>
                        <a:t>Who to ask</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r h="427104">
                <a:tc>
                  <a:txBody>
                    <a:bodyPr/>
                    <a:lstStyle/>
                    <a:p>
                      <a:pPr algn="l" defTabSz="457200">
                        <a:defRPr sz="1800"/>
                      </a:pPr>
                      <a:r>
                        <a:rPr sz="3300">
                          <a:latin typeface="Arial"/>
                          <a:ea typeface="Arial"/>
                          <a:cs typeface="Arial"/>
                          <a:sym typeface="Arial"/>
                        </a:rPr>
                        <a:t>@author/date</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3300">
                          <a:latin typeface="Arial"/>
                          <a:ea typeface="Arial"/>
                          <a:cs typeface="Arial"/>
                          <a:sym typeface="Arial"/>
                        </a:rPr>
                        <a:t>When it was written</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r h="427104">
                <a:tc>
                  <a:txBody>
                    <a:bodyPr/>
                    <a:lstStyle/>
                    <a:p>
                      <a:pPr algn="l" defTabSz="457200">
                        <a:defRPr sz="1800"/>
                      </a:pPr>
                      <a:r>
                        <a:rPr sz="3300">
                          <a:latin typeface="Arial"/>
                          <a:ea typeface="Arial"/>
                          <a:cs typeface="Arial"/>
                          <a:sym typeface="Arial"/>
                        </a:rPr>
                        <a:t>@description</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3300">
                          <a:latin typeface="Arial"/>
                          <a:ea typeface="Arial"/>
                          <a:cs typeface="Arial"/>
                          <a:sym typeface="Arial"/>
                        </a:rPr>
                        <a:t>What problem does it solve?</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r h="427104">
                <a:tc>
                  <a:txBody>
                    <a:bodyPr/>
                    <a:lstStyle/>
                    <a:p>
                      <a:pPr algn="l" defTabSz="457200">
                        <a:defRPr sz="1800"/>
                      </a:pPr>
                      <a:r>
                        <a:rPr sz="3300">
                          <a:latin typeface="Arial"/>
                          <a:ea typeface="Arial"/>
                          <a:cs typeface="Arial"/>
                          <a:sym typeface="Arial"/>
                        </a:rPr>
                        <a:t>Responsibilities</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3300">
                          <a:latin typeface="Arial"/>
                          <a:ea typeface="Arial"/>
                          <a:cs typeface="Arial"/>
                          <a:sym typeface="Arial"/>
                        </a:defRPr>
                      </a:pPr>
                      <a:r>
                        <a:t>What it </a:t>
                      </a:r>
                      <a:r>
                        <a:rPr i="1"/>
                        <a:t>does</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r h="427104">
                <a:tc>
                  <a:txBody>
                    <a:bodyPr/>
                    <a:lstStyle/>
                    <a:p>
                      <a:pPr algn="l" defTabSz="457200">
                        <a:defRPr sz="1800"/>
                      </a:pPr>
                      <a:r>
                        <a:rPr sz="3300">
                          <a:latin typeface="Arial"/>
                          <a:ea typeface="Arial"/>
                          <a:cs typeface="Arial"/>
                          <a:sym typeface="Arial"/>
                        </a:rPr>
                        <a:t>NOT responsible</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3300">
                          <a:latin typeface="Arial"/>
                          <a:ea typeface="Arial"/>
                          <a:cs typeface="Arial"/>
                          <a:sym typeface="Arial"/>
                        </a:defRPr>
                      </a:pPr>
                      <a:r>
                        <a:t>What it </a:t>
                      </a:r>
                      <a:r>
                        <a:rPr i="1"/>
                        <a:t>doesn't do</a:t>
                      </a:r>
                      <a:r>
                        <a:t> (boundaries)</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r h="427104">
                <a:tc>
                  <a:txBody>
                    <a:bodyPr/>
                    <a:lstStyle/>
                    <a:p>
                      <a:pPr algn="l" defTabSz="457200">
                        <a:defRPr sz="1800"/>
                      </a:pPr>
                      <a:r>
                        <a:rPr sz="3300">
                          <a:latin typeface="Arial"/>
                          <a:ea typeface="Arial"/>
                          <a:cs typeface="Arial"/>
                          <a:sym typeface="Arial"/>
                        </a:rPr>
                        <a:t>Hardware</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3300">
                          <a:latin typeface="Arial"/>
                          <a:ea typeface="Arial"/>
                          <a:cs typeface="Arial"/>
                          <a:sym typeface="Arial"/>
                        </a:rPr>
                        <a:t>Physical dependencies</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r h="427104">
                <a:tc>
                  <a:txBody>
                    <a:bodyPr/>
                    <a:lstStyle/>
                    <a:p>
                      <a:pPr algn="l" defTabSz="457200">
                        <a:defRPr sz="1800"/>
                      </a:pPr>
                      <a:r>
                        <a:rPr sz="3300">
                          <a:latin typeface="Arial"/>
                          <a:ea typeface="Arial"/>
                          <a:cs typeface="Arial"/>
                          <a:sym typeface="Arial"/>
                        </a:rPr>
                        <a:t>Dependencies</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3300">
                          <a:latin typeface="Arial"/>
                          <a:ea typeface="Arial"/>
                          <a:cs typeface="Arial"/>
                          <a:sym typeface="Arial"/>
                        </a:rPr>
                        <a:t>Dependencies / Other modules it relies on</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r h="427104">
                <a:tc>
                  <a:txBody>
                    <a:bodyPr/>
                    <a:lstStyle/>
                    <a:p>
                      <a:pPr algn="l" defTabSz="457200">
                        <a:defRPr sz="1800"/>
                      </a:pPr>
                      <a:r>
                        <a:rPr sz="3300">
                          <a:latin typeface="Arial"/>
                          <a:ea typeface="Arial"/>
                          <a:cs typeface="Arial"/>
                          <a:sym typeface="Arial"/>
                        </a:rPr>
                        <a:t>@see</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3300">
                          <a:latin typeface="Arial"/>
                          <a:ea typeface="Arial"/>
                          <a:cs typeface="Arial"/>
                          <a:sym typeface="Arial"/>
                        </a:rPr>
                        <a:t>References: Datasheets, protocols, design docs</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r h="427104">
                <a:tc>
                  <a:txBody>
                    <a:bodyPr/>
                    <a:lstStyle/>
                    <a:p>
                      <a:pPr algn="l" defTabSz="457200">
                        <a:defRPr sz="1800"/>
                      </a:pPr>
                      <a:r>
                        <a:rPr sz="3300">
                          <a:latin typeface="Arial"/>
                          <a:ea typeface="Arial"/>
                          <a:cs typeface="Arial"/>
                          <a:sym typeface="Arial"/>
                        </a:rPr>
                        <a:t>Version history</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3300">
                          <a:latin typeface="Arial"/>
                          <a:ea typeface="Arial"/>
                          <a:cs typeface="Arial"/>
                          <a:sym typeface="Arial"/>
                        </a:rPr>
                        <a:t>Who to ask, when it was written</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bl>
          </a:graphicData>
        </a:graphic>
      </p:graphicFrame>
      <p:sp>
        <p:nvSpPr>
          <p:cNvPr id="339" name="Note: For medical devices / safety-critical systems, @version isn't just nice to have – it's often required for traceability."/>
          <p:cNvSpPr txBox="1"/>
          <p:nvPr/>
        </p:nvSpPr>
        <p:spPr>
          <a:xfrm>
            <a:off x="2189409" y="11802455"/>
            <a:ext cx="18513915" cy="102002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spcBef>
                <a:spcPts val="1200"/>
              </a:spcBef>
              <a:defRPr sz="2700">
                <a:latin typeface="Arial"/>
                <a:ea typeface="Arial"/>
                <a:cs typeface="Arial"/>
                <a:sym typeface="Arial"/>
              </a:defRPr>
            </a:pPr>
            <a:r>
              <a:t>Note: For medical devices / safety-critical systems, @version isn't just nice to have – it's often </a:t>
            </a:r>
            <a:r>
              <a:rPr b="1"/>
              <a:t>required for traceability</a:t>
            </a:r>
            <a:r>
              <a:t>.</a:t>
            </a:r>
          </a:p>
        </p:txBody>
      </p:sp>
    </p:spTree>
  </p:cSld>
  <p:clrMapOvr>
    <a:masterClrMapping/>
  </p:clrMapOvr>
  <p:transition xmlns:p14="http://schemas.microsoft.com/office/powerpoint/2010/main" spd="med" advClick="1"/>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1" name="Clean code, clear comments"/>
          <p:cNvSpPr txBox="1"/>
          <p:nvPr>
            <p:ph type="title"/>
          </p:nvPr>
        </p:nvSpPr>
        <p:spPr>
          <a:prstGeom prst="rect">
            <a:avLst/>
          </a:prstGeom>
        </p:spPr>
        <p:txBody>
          <a:bodyPr/>
          <a:lstStyle/>
          <a:p>
            <a:pPr/>
            <a:r>
              <a:t>Clean code, clear comments</a:t>
            </a:r>
          </a:p>
        </p:txBody>
      </p:sp>
      <p:sp>
        <p:nvSpPr>
          <p:cNvPr id="342" name="Levels of documentation: Inline → function → module → architectural…"/>
          <p:cNvSpPr txBox="1"/>
          <p:nvPr>
            <p:ph type="body" idx="1"/>
          </p:nvPr>
        </p:nvSpPr>
        <p:spPr>
          <a:xfrm>
            <a:off x="1688592" y="3069576"/>
            <a:ext cx="21824355" cy="9296401"/>
          </a:xfrm>
          <a:prstGeom prst="rect">
            <a:avLst/>
          </a:prstGeom>
        </p:spPr>
        <p:txBody>
          <a:bodyPr/>
          <a:lstStyle/>
          <a:p>
            <a:pPr>
              <a:lnSpc>
                <a:spcPct val="120000"/>
              </a:lnSpc>
            </a:pPr>
            <a:r>
              <a:t>Levels of documentation: Inline → function → module → </a:t>
            </a:r>
            <a:r>
              <a:rPr b="1"/>
              <a:t>architectural</a:t>
            </a:r>
          </a:p>
          <a:p>
            <a:pPr>
              <a:lnSpc>
                <a:spcPct val="120000"/>
              </a:lnSpc>
            </a:pPr>
          </a:p>
          <a:p>
            <a:pPr>
              <a:lnSpc>
                <a:spcPct val="120000"/>
              </a:lnSpc>
            </a:pPr>
          </a:p>
          <a:p>
            <a:pPr>
              <a:lnSpc>
                <a:spcPct val="120000"/>
              </a:lnSpc>
              <a:defRPr b="1"/>
            </a:pPr>
            <a:r>
              <a:t>Architectural documentation</a:t>
            </a:r>
          </a:p>
          <a:p>
            <a:pPr>
              <a:lnSpc>
                <a:spcPct val="120000"/>
              </a:lnSpc>
            </a:pPr>
            <a:r>
              <a:t>Audience: New team member, future maintainer, external auditor, your future self (e.g. in 2 years)</a:t>
            </a:r>
          </a:p>
          <a:p>
            <a:pPr>
              <a:lnSpc>
                <a:spcPct val="120000"/>
              </a:lnSpc>
            </a:pPr>
            <a:r>
              <a:t>Purpose: The big picture – why this system exists, how the parts relate, what decisions were made and why</a:t>
            </a:r>
          </a:p>
          <a:p>
            <a:pPr>
              <a:lnSpc>
                <a:spcPct val="120000"/>
              </a:lnSpc>
            </a:pPr>
            <a:endParaRPr i="1"/>
          </a:p>
        </p:txBody>
      </p:sp>
    </p:spTree>
  </p:cSld>
  <p:clrMapOvr>
    <a:masterClrMapping/>
  </p:clrMapOvr>
  <p:transition xmlns:p14="http://schemas.microsoft.com/office/powerpoint/2010/main" spd="med" advClick="1"/>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6" name="Clean code, clear comments"/>
          <p:cNvSpPr txBox="1"/>
          <p:nvPr>
            <p:ph type="title"/>
          </p:nvPr>
        </p:nvSpPr>
        <p:spPr>
          <a:prstGeom prst="rect">
            <a:avLst/>
          </a:prstGeom>
        </p:spPr>
        <p:txBody>
          <a:bodyPr/>
          <a:lstStyle/>
          <a:p>
            <a:pPr/>
            <a:r>
              <a:t>Clean code, clear comments</a:t>
            </a:r>
          </a:p>
        </p:txBody>
      </p:sp>
      <p:sp>
        <p:nvSpPr>
          <p:cNvPr id="347" name="Levels of documentation: Inline → function → module → architectural…"/>
          <p:cNvSpPr txBox="1"/>
          <p:nvPr>
            <p:ph type="body" idx="1"/>
          </p:nvPr>
        </p:nvSpPr>
        <p:spPr>
          <a:xfrm>
            <a:off x="1688592" y="3069576"/>
            <a:ext cx="21824355" cy="9296401"/>
          </a:xfrm>
          <a:prstGeom prst="rect">
            <a:avLst/>
          </a:prstGeom>
        </p:spPr>
        <p:txBody>
          <a:bodyPr/>
          <a:lstStyle/>
          <a:p>
            <a:pPr>
              <a:lnSpc>
                <a:spcPct val="120000"/>
              </a:lnSpc>
            </a:pPr>
            <a:r>
              <a:t>Levels of documentation: Inline → function → module → </a:t>
            </a:r>
            <a:r>
              <a:rPr b="1"/>
              <a:t>architectural</a:t>
            </a:r>
          </a:p>
          <a:p>
            <a:pPr>
              <a:lnSpc>
                <a:spcPct val="120000"/>
              </a:lnSpc>
            </a:pPr>
          </a:p>
          <a:p>
            <a:pPr>
              <a:lnSpc>
                <a:spcPct val="120000"/>
              </a:lnSpc>
            </a:pPr>
          </a:p>
          <a:p>
            <a:pPr>
              <a:lnSpc>
                <a:spcPct val="120000"/>
              </a:lnSpc>
              <a:defRPr b="1"/>
            </a:pPr>
            <a:r>
              <a:t>Architectural documentation</a:t>
            </a:r>
          </a:p>
          <a:p>
            <a:pPr>
              <a:lnSpc>
                <a:spcPct val="120000"/>
              </a:lnSpc>
            </a:pPr>
            <a:r>
              <a:t>Audience: New team member, future maintainer, external auditor, your future self (e.g. in 2 years)</a:t>
            </a:r>
          </a:p>
          <a:p>
            <a:pPr>
              <a:lnSpc>
                <a:spcPct val="120000"/>
              </a:lnSpc>
            </a:pPr>
            <a:r>
              <a:t>Purpose: The big picture – why this system exists, how the parts relate, what decisions were made and why</a:t>
            </a:r>
          </a:p>
          <a:p>
            <a:pPr>
              <a:lnSpc>
                <a:spcPct val="120000"/>
              </a:lnSpc>
            </a:pPr>
            <a:endParaRPr i="1"/>
          </a:p>
        </p:txBody>
      </p:sp>
    </p:spTree>
  </p:cSld>
  <p:clrMapOvr>
    <a:masterClrMapping/>
  </p:clrMapOvr>
  <p:transition xmlns:p14="http://schemas.microsoft.com/office/powerpoint/2010/main" spd="med" advClick="1"/>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1" name="Clean code, clear comments"/>
          <p:cNvSpPr txBox="1"/>
          <p:nvPr>
            <p:ph type="title"/>
          </p:nvPr>
        </p:nvSpPr>
        <p:spPr>
          <a:prstGeom prst="rect">
            <a:avLst/>
          </a:prstGeom>
        </p:spPr>
        <p:txBody>
          <a:bodyPr/>
          <a:lstStyle/>
          <a:p>
            <a:pPr/>
            <a:r>
              <a:t>Clean code, clear comments</a:t>
            </a:r>
          </a:p>
        </p:txBody>
      </p:sp>
      <p:sp>
        <p:nvSpPr>
          <p:cNvPr id="352" name="Levels of documentation: Inline → function → module → architectural…"/>
          <p:cNvSpPr txBox="1"/>
          <p:nvPr>
            <p:ph type="body" idx="1"/>
          </p:nvPr>
        </p:nvSpPr>
        <p:spPr>
          <a:xfrm>
            <a:off x="1688592" y="3069576"/>
            <a:ext cx="21824355" cy="9296401"/>
          </a:xfrm>
          <a:prstGeom prst="rect">
            <a:avLst/>
          </a:prstGeom>
        </p:spPr>
        <p:txBody>
          <a:bodyPr/>
          <a:lstStyle/>
          <a:p>
            <a:pPr>
              <a:lnSpc>
                <a:spcPct val="120000"/>
              </a:lnSpc>
            </a:pPr>
            <a:r>
              <a:t>Levels of documentation: Inline → function → module → </a:t>
            </a:r>
            <a:r>
              <a:rPr b="1"/>
              <a:t>architectural</a:t>
            </a:r>
          </a:p>
          <a:p>
            <a:pPr>
              <a:lnSpc>
                <a:spcPct val="120000"/>
              </a:lnSpc>
            </a:pPr>
          </a:p>
          <a:p>
            <a:pPr>
              <a:lnSpc>
                <a:spcPct val="120000"/>
              </a:lnSpc>
            </a:pPr>
          </a:p>
          <a:p>
            <a:pPr>
              <a:lnSpc>
                <a:spcPct val="120000"/>
              </a:lnSpc>
            </a:pPr>
            <a:r>
              <a:t>This lives outside the code:</a:t>
            </a:r>
          </a:p>
          <a:p>
            <a:pPr>
              <a:lnSpc>
                <a:spcPct val="120000"/>
              </a:lnSpc>
            </a:pPr>
            <a:r>
              <a:t>- README.md</a:t>
            </a:r>
          </a:p>
          <a:p>
            <a:pPr>
              <a:lnSpc>
                <a:spcPct val="120000"/>
              </a:lnSpc>
            </a:pPr>
            <a:r>
              <a:t>- ARCHITECTURE.md</a:t>
            </a:r>
          </a:p>
          <a:p>
            <a:pPr>
              <a:lnSpc>
                <a:spcPct val="120000"/>
              </a:lnSpc>
            </a:pPr>
            <a:r>
              <a:t>- Architecture Decision Records (ADRs)</a:t>
            </a:r>
          </a:p>
          <a:p>
            <a:pPr>
              <a:lnSpc>
                <a:spcPct val="120000"/>
              </a:lnSpc>
            </a:pPr>
            <a:r>
              <a:t>- System diagrams (block diagrams, class diagrams, sequence diagrams, etc)</a:t>
            </a:r>
          </a:p>
          <a:p>
            <a:pPr>
              <a:lnSpc>
                <a:spcPct val="120000"/>
              </a:lnSpc>
            </a:pPr>
            <a:r>
              <a:t>- Design rationale documents</a:t>
            </a:r>
          </a:p>
          <a:p>
            <a:pPr>
              <a:lnSpc>
                <a:spcPct val="120000"/>
              </a:lnSpc>
            </a:pPr>
          </a:p>
          <a:p>
            <a:pPr>
              <a:lnSpc>
                <a:spcPct val="120000"/>
              </a:lnSpc>
            </a:pPr>
            <a:endParaRPr i="1"/>
          </a:p>
        </p:txBody>
      </p:sp>
    </p:spTree>
  </p:cSld>
  <p:clrMapOvr>
    <a:masterClrMapping/>
  </p:clrMapOvr>
  <p:transition xmlns:p14="http://schemas.microsoft.com/office/powerpoint/2010/main" spd="med" advClick="1"/>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6" name="Clean code, clear comments - Modules"/>
          <p:cNvSpPr txBox="1"/>
          <p:nvPr>
            <p:ph type="title"/>
          </p:nvPr>
        </p:nvSpPr>
        <p:spPr>
          <a:prstGeom prst="rect">
            <a:avLst/>
          </a:prstGeom>
        </p:spPr>
        <p:txBody>
          <a:bodyPr/>
          <a:lstStyle/>
          <a:p>
            <a:pPr/>
            <a:r>
              <a:t>Clean code, clear comments - Modules</a:t>
            </a:r>
          </a:p>
        </p:txBody>
      </p:sp>
      <p:sp>
        <p:nvSpPr>
          <p:cNvPr id="357" name="# Neonatal CPR Training Manikin - Firmware…"/>
          <p:cNvSpPr txBox="1"/>
          <p:nvPr>
            <p:ph type="body" idx="1"/>
          </p:nvPr>
        </p:nvSpPr>
        <p:spPr>
          <a:xfrm>
            <a:off x="1688592" y="3069576"/>
            <a:ext cx="21824355" cy="9296401"/>
          </a:xfrm>
          <a:prstGeom prst="rect">
            <a:avLst/>
          </a:prstGeom>
          <a:solidFill>
            <a:srgbClr val="1E1E1E"/>
          </a:solidFill>
        </p:spPr>
        <p:txBody>
          <a:bodyPr/>
          <a:lstStyle/>
          <a:p>
            <a:pPr lvl="1" marL="0" indent="134873" defTabSz="269747">
              <a:lnSpc>
                <a:spcPct val="100000"/>
              </a:lnSpc>
              <a:spcBef>
                <a:spcPts val="0"/>
              </a:spcBef>
              <a:buSzTx/>
              <a:buNone/>
              <a:defRPr b="1" sz="1769">
                <a:solidFill>
                  <a:srgbClr val="569CD6"/>
                </a:solidFill>
                <a:latin typeface="Menlo Regular"/>
                <a:ea typeface="Menlo Regular"/>
                <a:cs typeface="Menlo Regular"/>
                <a:sym typeface="Menlo Regular"/>
              </a:defRPr>
            </a:pPr>
          </a:p>
          <a:p>
            <a:pPr lvl="1" marL="0" indent="134873" defTabSz="269747">
              <a:lnSpc>
                <a:spcPct val="100000"/>
              </a:lnSpc>
              <a:spcBef>
                <a:spcPts val="0"/>
              </a:spcBef>
              <a:buSzTx/>
              <a:buNone/>
              <a:defRPr b="1" sz="1769">
                <a:solidFill>
                  <a:srgbClr val="569CD6"/>
                </a:solidFill>
                <a:latin typeface="Menlo Regular"/>
                <a:ea typeface="Menlo Regular"/>
                <a:cs typeface="Menlo Regular"/>
                <a:sym typeface="Menlo Regular"/>
              </a:defRPr>
            </a:pPr>
            <a:r>
              <a:t># Neonatal CPR Training Manikin - Firmware</a:t>
            </a:r>
            <a:endParaRPr b="0">
              <a:solidFill>
                <a:srgbClr val="D4D4D4"/>
              </a:solidFill>
            </a:endParaRP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r>
              <a:t>Embedded firmware for the HCL infant resuscitation trainer, </a:t>
            </a: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r>
              <a:t>developed in collaboration with Wilhelmina Children's Hospital.</a:t>
            </a: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p>
          <a:p>
            <a:pPr lvl="1" marL="0" indent="134873" defTabSz="269747">
              <a:lnSpc>
                <a:spcPct val="100000"/>
              </a:lnSpc>
              <a:spcBef>
                <a:spcPts val="0"/>
              </a:spcBef>
              <a:buSzTx/>
              <a:buNone/>
              <a:defRPr b="1" sz="1769">
                <a:solidFill>
                  <a:srgbClr val="569CD6"/>
                </a:solidFill>
                <a:latin typeface="Menlo Regular"/>
                <a:ea typeface="Menlo Regular"/>
                <a:cs typeface="Menlo Regular"/>
                <a:sym typeface="Menlo Regular"/>
              </a:defRPr>
            </a:pPr>
            <a:r>
              <a:t>## What is this?</a:t>
            </a:r>
            <a:endParaRPr b="0">
              <a:solidFill>
                <a:srgbClr val="D4D4D4"/>
              </a:solidFill>
            </a:endParaRP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r>
              <a:t>A training device that provides real-time feedback on chest </a:t>
            </a: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r>
              <a:t>compression depth, rate, and hand positioning for neonatal CPR.</a:t>
            </a: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p>
          <a:p>
            <a:pPr lvl="1" marL="0" indent="134873" defTabSz="269747">
              <a:lnSpc>
                <a:spcPct val="100000"/>
              </a:lnSpc>
              <a:spcBef>
                <a:spcPts val="0"/>
              </a:spcBef>
              <a:buSzTx/>
              <a:buNone/>
              <a:defRPr b="1" sz="1769">
                <a:solidFill>
                  <a:srgbClr val="569CD6"/>
                </a:solidFill>
                <a:latin typeface="Menlo Regular"/>
                <a:ea typeface="Menlo Regular"/>
                <a:cs typeface="Menlo Regular"/>
                <a:sym typeface="Menlo Regular"/>
              </a:defRPr>
            </a:pPr>
            <a:r>
              <a:t>## Hardware</a:t>
            </a:r>
            <a:endParaRPr b="0">
              <a:solidFill>
                <a:srgbClr val="D4D4D4"/>
              </a:solidFill>
            </a:endParaRP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r>
              <a:rPr>
                <a:solidFill>
                  <a:srgbClr val="6796E6"/>
                </a:solidFill>
              </a:rPr>
              <a:t>-</a:t>
            </a:r>
            <a:r>
              <a:t> MCU: STM32F103C8T6</a:t>
            </a: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r>
              <a:rPr>
                <a:solidFill>
                  <a:srgbClr val="6796E6"/>
                </a:solidFill>
              </a:rPr>
              <a:t>-</a:t>
            </a:r>
            <a:r>
              <a:t> Compression sensor: VL6180X (I2C)</a:t>
            </a: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r>
              <a:rPr>
                <a:solidFill>
                  <a:srgbClr val="6796E6"/>
                </a:solidFill>
              </a:rPr>
              <a:t>-</a:t>
            </a:r>
            <a:r>
              <a:t> Communication: MCP2515 CAN bus</a:t>
            </a: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r>
              <a:rPr>
                <a:solidFill>
                  <a:srgbClr val="6796E6"/>
                </a:solidFill>
              </a:rPr>
              <a:t>-</a:t>
            </a:r>
            <a:r>
              <a:t> Feedback: WS2812B LED ring + piezo buzzer</a:t>
            </a: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p>
          <a:p>
            <a:pPr lvl="1" marL="0" indent="134873" defTabSz="269747">
              <a:lnSpc>
                <a:spcPct val="100000"/>
              </a:lnSpc>
              <a:spcBef>
                <a:spcPts val="0"/>
              </a:spcBef>
              <a:buSzTx/>
              <a:buNone/>
              <a:defRPr b="1" sz="1769">
                <a:solidFill>
                  <a:srgbClr val="569CD6"/>
                </a:solidFill>
                <a:latin typeface="Menlo Regular"/>
                <a:ea typeface="Menlo Regular"/>
                <a:cs typeface="Menlo Regular"/>
                <a:sym typeface="Menlo Regular"/>
              </a:defRPr>
            </a:pPr>
            <a:r>
              <a:t>## Building</a:t>
            </a:r>
            <a:endParaRPr b="0">
              <a:solidFill>
                <a:srgbClr val="D4D4D4"/>
              </a:solidFill>
            </a:endParaRP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r>
              <a:t>    mkdir build &amp;&amp; cd build</a:t>
            </a: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r>
              <a:t>    cmake ..</a:t>
            </a: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r>
              <a:t>    make</a:t>
            </a: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p>
          <a:p>
            <a:pPr lvl="1" marL="0" indent="134873" defTabSz="269747">
              <a:lnSpc>
                <a:spcPct val="100000"/>
              </a:lnSpc>
              <a:spcBef>
                <a:spcPts val="0"/>
              </a:spcBef>
              <a:buSzTx/>
              <a:buNone/>
              <a:defRPr b="1" sz="1769">
                <a:solidFill>
                  <a:srgbClr val="569CD6"/>
                </a:solidFill>
                <a:latin typeface="Menlo Regular"/>
                <a:ea typeface="Menlo Regular"/>
                <a:cs typeface="Menlo Regular"/>
                <a:sym typeface="Menlo Regular"/>
              </a:defRPr>
            </a:pPr>
            <a:r>
              <a:t>## Architecture</a:t>
            </a:r>
            <a:endParaRPr b="0">
              <a:solidFill>
                <a:srgbClr val="D4D4D4"/>
              </a:solidFill>
            </a:endParaRP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r>
              <a:t>See [</a:t>
            </a:r>
            <a:r>
              <a:rPr>
                <a:solidFill>
                  <a:srgbClr val="CE9178"/>
                </a:solidFill>
              </a:rPr>
              <a:t>ARCHITECTURE.md</a:t>
            </a:r>
            <a:r>
              <a:t>](</a:t>
            </a:r>
            <a:r>
              <a:rPr u="sng"/>
              <a:t>docs/ARCHITECTURE.md</a:t>
            </a:r>
            <a:r>
              <a:t>)</a:t>
            </a: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p>
          <a:p>
            <a:pPr lvl="1" marL="0" indent="134873" defTabSz="269747">
              <a:lnSpc>
                <a:spcPct val="100000"/>
              </a:lnSpc>
              <a:spcBef>
                <a:spcPts val="0"/>
              </a:spcBef>
              <a:buSzTx/>
              <a:buNone/>
              <a:defRPr b="1" sz="1769">
                <a:solidFill>
                  <a:srgbClr val="569CD6"/>
                </a:solidFill>
                <a:latin typeface="Menlo Regular"/>
                <a:ea typeface="Menlo Regular"/>
                <a:cs typeface="Menlo Regular"/>
                <a:sym typeface="Menlo Regular"/>
              </a:defRPr>
            </a:pPr>
            <a:r>
              <a:t>## Documentation</a:t>
            </a:r>
            <a:endParaRPr b="0">
              <a:solidFill>
                <a:srgbClr val="D4D4D4"/>
              </a:solidFill>
            </a:endParaRP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r>
              <a:rPr>
                <a:solidFill>
                  <a:srgbClr val="6796E6"/>
                </a:solidFill>
              </a:rPr>
              <a:t>-</a:t>
            </a:r>
            <a:r>
              <a:t> [</a:t>
            </a:r>
            <a:r>
              <a:rPr>
                <a:solidFill>
                  <a:srgbClr val="CE9178"/>
                </a:solidFill>
              </a:rPr>
              <a:t>Hardware schematic</a:t>
            </a:r>
            <a:r>
              <a:t>](</a:t>
            </a:r>
            <a:r>
              <a:rPr u="sng"/>
              <a:t>docs/SCH-2024-017.pdf</a:t>
            </a:r>
            <a:r>
              <a:t>)</a:t>
            </a:r>
          </a:p>
          <a:p>
            <a:pPr lvl="1" marL="0" indent="134873" defTabSz="269747">
              <a:lnSpc>
                <a:spcPct val="100000"/>
              </a:lnSpc>
              <a:spcBef>
                <a:spcPts val="0"/>
              </a:spcBef>
              <a:buSzTx/>
              <a:buNone/>
              <a:defRPr sz="1769" u="sng">
                <a:solidFill>
                  <a:srgbClr val="D4D4D4"/>
                </a:solidFill>
                <a:latin typeface="Menlo Regular"/>
                <a:ea typeface="Menlo Regular"/>
                <a:cs typeface="Menlo Regular"/>
                <a:sym typeface="Menlo Regular"/>
              </a:defRPr>
            </a:pPr>
            <a:r>
              <a:rPr u="none">
                <a:solidFill>
                  <a:srgbClr val="6796E6"/>
                </a:solidFill>
              </a:rPr>
              <a:t>-</a:t>
            </a:r>
            <a:r>
              <a:rPr u="none"/>
              <a:t> [</a:t>
            </a:r>
            <a:r>
              <a:rPr u="none">
                <a:solidFill>
                  <a:srgbClr val="CE9178"/>
                </a:solidFill>
              </a:rPr>
              <a:t>CAN Protocol</a:t>
            </a:r>
            <a:r>
              <a:rPr u="none"/>
              <a:t>](</a:t>
            </a:r>
            <a:r>
              <a:t>docs/HCL-CAN-Protocol-v2.1.pdf</a:t>
            </a:r>
            <a:r>
              <a:rPr u="none"/>
              <a:t>)</a:t>
            </a:r>
            <a:endParaRPr u="none"/>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r>
              <a:rPr>
                <a:solidFill>
                  <a:srgbClr val="6796E6"/>
                </a:solidFill>
              </a:rPr>
              <a:t>-</a:t>
            </a:r>
            <a:r>
              <a:t> [</a:t>
            </a:r>
            <a:r>
              <a:rPr>
                <a:solidFill>
                  <a:srgbClr val="CE9178"/>
                </a:solidFill>
              </a:rPr>
              <a:t>Calibration procedure</a:t>
            </a:r>
            <a:r>
              <a:t>](</a:t>
            </a:r>
            <a:r>
              <a:rPr u="sng"/>
              <a:t>docs/HCL-CAL-2024-003.pdf</a:t>
            </a:r>
            <a:r>
              <a:t>)</a:t>
            </a:r>
          </a:p>
          <a:p>
            <a:pPr lvl="1" marL="0" indent="134873" defTabSz="269747">
              <a:lnSpc>
                <a:spcPct val="100000"/>
              </a:lnSpc>
              <a:spcBef>
                <a:spcPts val="0"/>
              </a:spcBef>
              <a:buSzTx/>
              <a:buNone/>
              <a:defRPr sz="1769" u="sng">
                <a:solidFill>
                  <a:srgbClr val="D4D4D4"/>
                </a:solidFill>
                <a:latin typeface="Menlo Regular"/>
                <a:ea typeface="Menlo Regular"/>
                <a:cs typeface="Menlo Regular"/>
                <a:sym typeface="Menlo Regular"/>
              </a:defRPr>
            </a:pPr>
            <a:r>
              <a:rPr u="none">
                <a:solidFill>
                  <a:srgbClr val="6796E6"/>
                </a:solidFill>
              </a:rPr>
              <a:t>-</a:t>
            </a:r>
            <a:r>
              <a:rPr u="none"/>
              <a:t> [</a:t>
            </a:r>
            <a:r>
              <a:rPr u="none">
                <a:solidFill>
                  <a:srgbClr val="CE9178"/>
                </a:solidFill>
              </a:rPr>
              <a:t>Validation report</a:t>
            </a:r>
            <a:r>
              <a:rPr u="none"/>
              <a:t>](</a:t>
            </a:r>
            <a:r>
              <a:t>docs/HCL-VAL-2024-017.pdf</a:t>
            </a:r>
            <a:r>
              <a:rPr u="none"/>
              <a:t>)</a:t>
            </a:r>
            <a:endParaRPr u="none"/>
          </a:p>
        </p:txBody>
      </p:sp>
    </p:spTree>
  </p:cSld>
  <p:clrMapOvr>
    <a:masterClrMapping/>
  </p:clrMapOvr>
  <p:transition xmlns:p14="http://schemas.microsoft.com/office/powerpoint/2010/main" spd="med" advClick="1"/>
</p:sld>
</file>

<file path=ppt/slides/slide5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9" name="Clean code, clear comments - Modules"/>
          <p:cNvSpPr txBox="1"/>
          <p:nvPr>
            <p:ph type="title"/>
          </p:nvPr>
        </p:nvSpPr>
        <p:spPr>
          <a:prstGeom prst="rect">
            <a:avLst/>
          </a:prstGeom>
        </p:spPr>
        <p:txBody>
          <a:bodyPr/>
          <a:lstStyle/>
          <a:p>
            <a:pPr/>
            <a:r>
              <a:t>Clean code, clear comments - Modules</a:t>
            </a:r>
          </a:p>
        </p:txBody>
      </p:sp>
      <p:sp>
        <p:nvSpPr>
          <p:cNvPr id="360" name="# System Architecture…"/>
          <p:cNvSpPr txBox="1"/>
          <p:nvPr>
            <p:ph type="body" idx="1"/>
          </p:nvPr>
        </p:nvSpPr>
        <p:spPr>
          <a:xfrm>
            <a:off x="1688592" y="3069576"/>
            <a:ext cx="21824355" cy="9296401"/>
          </a:xfrm>
          <a:prstGeom prst="rect">
            <a:avLst/>
          </a:prstGeom>
          <a:solidFill>
            <a:srgbClr val="1E1E1E"/>
          </a:solidFill>
        </p:spPr>
        <p:txBody>
          <a:bodyPr/>
          <a:lstStyle/>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p>
          <a:p>
            <a:pPr lvl="1" marL="0" indent="139446" defTabSz="278892">
              <a:lnSpc>
                <a:spcPct val="100000"/>
              </a:lnSpc>
              <a:spcBef>
                <a:spcPts val="0"/>
              </a:spcBef>
              <a:buSzTx/>
              <a:buNone/>
              <a:defRPr sz="1830">
                <a:solidFill>
                  <a:srgbClr val="6A9955"/>
                </a:solidFill>
                <a:latin typeface="Menlo Regular"/>
                <a:ea typeface="Menlo Regular"/>
                <a:cs typeface="Menlo Regular"/>
                <a:sym typeface="Menlo Regular"/>
              </a:defRPr>
            </a:pPr>
            <a:r>
              <a:t># System Architecture</a:t>
            </a:r>
            <a:endParaRPr>
              <a:solidFill>
                <a:srgbClr val="D4D4D4"/>
              </a:solidFill>
            </a:endParaRP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p>
          <a:p>
            <a:pPr lvl="1" marL="0" indent="139446" defTabSz="278892">
              <a:lnSpc>
                <a:spcPct val="100000"/>
              </a:lnSpc>
              <a:spcBef>
                <a:spcPts val="0"/>
              </a:spcBef>
              <a:buSzTx/>
              <a:buNone/>
              <a:defRPr sz="1830">
                <a:solidFill>
                  <a:srgbClr val="6A9955"/>
                </a:solidFill>
                <a:latin typeface="Menlo Regular"/>
                <a:ea typeface="Menlo Regular"/>
                <a:cs typeface="Menlo Regular"/>
                <a:sym typeface="Menlo Regular"/>
              </a:defRPr>
            </a:pPr>
            <a:r>
              <a:t>## Overview</a:t>
            </a:r>
            <a:endParaRPr>
              <a:solidFill>
                <a:srgbClr val="D4D4D4"/>
              </a:solidFill>
            </a:endParaRP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r>
              <a:t>┌─────────────────┐      CAN       ┌─────────────────┐</a:t>
            </a: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r>
              <a:t>│  Sensor Node    │◄──────────────►│ Main Controller │</a:t>
            </a: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r>
              <a:t>│  (STM32F405)    │                │  (STM32H747)    │</a:t>
            </a: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r>
              <a:t>└────────┬────────┘                └────────┬────────┘</a:t>
            </a: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r>
              <a:t>         │                                  │</a:t>
            </a: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r>
              <a:t>    ┌────┴────┐                       ┌─────┴─────┐</a:t>
            </a: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r>
              <a:t>    │ VL6180X │                       │  Display  │</a:t>
            </a: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r>
              <a:t>    │  Sensor │                       │  + Log    │</a:t>
            </a: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r>
              <a:t>    └─────────┘                       └───────────┘</a:t>
            </a: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p>
          <a:p>
            <a:pPr lvl="1" marL="0" indent="139446" defTabSz="278892">
              <a:lnSpc>
                <a:spcPct val="100000"/>
              </a:lnSpc>
              <a:spcBef>
                <a:spcPts val="0"/>
              </a:spcBef>
              <a:buSzTx/>
              <a:buNone/>
              <a:defRPr sz="1830">
                <a:solidFill>
                  <a:srgbClr val="6A9955"/>
                </a:solidFill>
                <a:latin typeface="Menlo Regular"/>
                <a:ea typeface="Menlo Regular"/>
                <a:cs typeface="Menlo Regular"/>
                <a:sym typeface="Menlo Regular"/>
              </a:defRPr>
            </a:pPr>
            <a:r>
              <a:t>## Design Decisions</a:t>
            </a:r>
            <a:endParaRPr>
              <a:solidFill>
                <a:srgbClr val="D4D4D4"/>
              </a:solidFill>
            </a:endParaRP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p>
          <a:p>
            <a:pPr lvl="1" marL="0" indent="139446" defTabSz="278892">
              <a:lnSpc>
                <a:spcPct val="100000"/>
              </a:lnSpc>
              <a:spcBef>
                <a:spcPts val="0"/>
              </a:spcBef>
              <a:buSzTx/>
              <a:buNone/>
              <a:defRPr sz="1830">
                <a:solidFill>
                  <a:srgbClr val="6A9955"/>
                </a:solidFill>
                <a:latin typeface="Menlo Regular"/>
                <a:ea typeface="Menlo Regular"/>
                <a:cs typeface="Menlo Regular"/>
                <a:sym typeface="Menlo Regular"/>
              </a:defRPr>
            </a:pPr>
            <a:r>
              <a:t>### Why CAN bus instead of I2C?</a:t>
            </a:r>
            <a:endParaRPr>
              <a:solidFill>
                <a:srgbClr val="D4D4D4"/>
              </a:solidFill>
            </a:endParaRP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r>
              <a:t>- Distance: sensor node is 40cm from controller</a:t>
            </a: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r>
              <a:t>- Noise immunity: operating near motors</a:t>
            </a: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r>
              <a:t>- Medical standard: common in medical devices</a:t>
            </a: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r>
              <a:t>See [ADR-001](docs/adr/ADR-001-can-bus.md)</a:t>
            </a: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p>
          <a:p>
            <a:pPr lvl="1" marL="0" indent="139446" defTabSz="278892">
              <a:lnSpc>
                <a:spcPct val="100000"/>
              </a:lnSpc>
              <a:spcBef>
                <a:spcPts val="0"/>
              </a:spcBef>
              <a:buSzTx/>
              <a:buNone/>
              <a:defRPr sz="1830">
                <a:solidFill>
                  <a:srgbClr val="6A9955"/>
                </a:solidFill>
                <a:latin typeface="Menlo Regular"/>
                <a:ea typeface="Menlo Regular"/>
                <a:cs typeface="Menlo Regular"/>
                <a:sym typeface="Menlo Regular"/>
              </a:defRPr>
            </a:pPr>
            <a:r>
              <a:t>### Why VL6180X instead of ultrasonic?</a:t>
            </a:r>
            <a:endParaRPr>
              <a:solidFill>
                <a:srgbClr val="D4D4D4"/>
              </a:solidFill>
            </a:endParaRP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r>
              <a:t>- Precision: ±1mm vs ±3mm</a:t>
            </a: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r>
              <a:t>- Speed: 10ms vs 50ms response time</a:t>
            </a: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r>
              <a:t>- Size: fits inside manikin chest cavity</a:t>
            </a: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r>
              <a:t>See [ADR-002](docs/adr/ADR-002-tof-sensor.md)</a:t>
            </a: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p>
        </p:txBody>
      </p:sp>
    </p:spTree>
  </p:cSld>
  <p:clrMapOvr>
    <a:masterClrMapping/>
  </p:clrMapOvr>
  <p:transition xmlns:p14="http://schemas.microsoft.com/office/powerpoint/2010/main" spd="med" advClick="1"/>
</p:sld>
</file>

<file path=ppt/slides/slide5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2" name="Clean code, clear comments - Modules"/>
          <p:cNvSpPr txBox="1"/>
          <p:nvPr>
            <p:ph type="title"/>
          </p:nvPr>
        </p:nvSpPr>
        <p:spPr>
          <a:prstGeom prst="rect">
            <a:avLst/>
          </a:prstGeom>
        </p:spPr>
        <p:txBody>
          <a:bodyPr/>
          <a:lstStyle/>
          <a:p>
            <a:pPr/>
            <a:r>
              <a:t>Clean code, clear comments - Modules</a:t>
            </a:r>
          </a:p>
        </p:txBody>
      </p:sp>
      <p:sp>
        <p:nvSpPr>
          <p:cNvPr id="363" name="# ADR-001: Use CAN bus for sensor communication…"/>
          <p:cNvSpPr txBox="1"/>
          <p:nvPr>
            <p:ph type="body" idx="1"/>
          </p:nvPr>
        </p:nvSpPr>
        <p:spPr>
          <a:xfrm>
            <a:off x="1688592" y="3069576"/>
            <a:ext cx="21824355" cy="9296401"/>
          </a:xfrm>
          <a:prstGeom prst="rect">
            <a:avLst/>
          </a:prstGeom>
          <a:solidFill>
            <a:srgbClr val="1E1E1E"/>
          </a:solidFill>
        </p:spPr>
        <p:txBody>
          <a:bodyPr/>
          <a:lstStyle/>
          <a:p>
            <a:pPr lvl="1" marL="0" indent="150876" defTabSz="301752">
              <a:lnSpc>
                <a:spcPct val="100000"/>
              </a:lnSpc>
              <a:spcBef>
                <a:spcPts val="0"/>
              </a:spcBef>
              <a:buSzTx/>
              <a:buNone/>
              <a:defRPr b="1" sz="1980">
                <a:solidFill>
                  <a:srgbClr val="569CD6"/>
                </a:solidFill>
                <a:latin typeface="Menlo Regular"/>
                <a:ea typeface="Menlo Regular"/>
                <a:cs typeface="Menlo Regular"/>
                <a:sym typeface="Menlo Regular"/>
              </a:defRPr>
            </a:pPr>
          </a:p>
          <a:p>
            <a:pPr lvl="1" marL="0" indent="150876" defTabSz="301752">
              <a:lnSpc>
                <a:spcPct val="100000"/>
              </a:lnSpc>
              <a:spcBef>
                <a:spcPts val="0"/>
              </a:spcBef>
              <a:buSzTx/>
              <a:buNone/>
              <a:defRPr b="1" sz="1980">
                <a:solidFill>
                  <a:srgbClr val="569CD6"/>
                </a:solidFill>
                <a:latin typeface="Menlo Regular"/>
                <a:ea typeface="Menlo Regular"/>
                <a:cs typeface="Menlo Regular"/>
                <a:sym typeface="Menlo Regular"/>
              </a:defRPr>
            </a:pPr>
            <a:r>
              <a:t># ADR-001: Use CAN bus for sensor communication</a:t>
            </a:r>
            <a:endParaRPr b="0">
              <a:solidFill>
                <a:srgbClr val="D4D4D4"/>
              </a:solidFill>
            </a:endParaRPr>
          </a:p>
          <a:p>
            <a:pPr lvl="1" marL="0" indent="150876" defTabSz="301752">
              <a:lnSpc>
                <a:spcPct val="100000"/>
              </a:lnSpc>
              <a:spcBef>
                <a:spcPts val="0"/>
              </a:spcBef>
              <a:buSzTx/>
              <a:buNone/>
              <a:defRPr sz="1980">
                <a:solidFill>
                  <a:srgbClr val="D4D4D4"/>
                </a:solidFill>
                <a:latin typeface="Menlo Regular"/>
                <a:ea typeface="Menlo Regular"/>
                <a:cs typeface="Menlo Regular"/>
                <a:sym typeface="Menlo Regular"/>
              </a:defRPr>
            </a:pPr>
          </a:p>
          <a:p>
            <a:pPr lvl="1" marL="0" indent="150876" defTabSz="301752">
              <a:lnSpc>
                <a:spcPct val="100000"/>
              </a:lnSpc>
              <a:spcBef>
                <a:spcPts val="0"/>
              </a:spcBef>
              <a:buSzTx/>
              <a:buNone/>
              <a:defRPr b="1" sz="1980">
                <a:solidFill>
                  <a:srgbClr val="569CD6"/>
                </a:solidFill>
                <a:latin typeface="Menlo Regular"/>
                <a:ea typeface="Menlo Regular"/>
                <a:cs typeface="Menlo Regular"/>
                <a:sym typeface="Menlo Regular"/>
              </a:defRPr>
            </a:pPr>
            <a:r>
              <a:t>## Status</a:t>
            </a:r>
            <a:endParaRPr b="0">
              <a:solidFill>
                <a:srgbClr val="D4D4D4"/>
              </a:solidFill>
            </a:endParaRPr>
          </a:p>
          <a:p>
            <a:pPr lvl="1" marL="0" indent="150876" defTabSz="301752">
              <a:lnSpc>
                <a:spcPct val="100000"/>
              </a:lnSpc>
              <a:spcBef>
                <a:spcPts val="0"/>
              </a:spcBef>
              <a:buSzTx/>
              <a:buNone/>
              <a:defRPr sz="1980">
                <a:solidFill>
                  <a:srgbClr val="D4D4D4"/>
                </a:solidFill>
                <a:latin typeface="Menlo Regular"/>
                <a:ea typeface="Menlo Regular"/>
                <a:cs typeface="Menlo Regular"/>
                <a:sym typeface="Menlo Regular"/>
              </a:defRPr>
            </a:pPr>
            <a:r>
              <a:t>Accepted</a:t>
            </a:r>
          </a:p>
          <a:p>
            <a:pPr lvl="1" marL="0" indent="150876" defTabSz="301752">
              <a:lnSpc>
                <a:spcPct val="100000"/>
              </a:lnSpc>
              <a:spcBef>
                <a:spcPts val="0"/>
              </a:spcBef>
              <a:buSzTx/>
              <a:buNone/>
              <a:defRPr sz="1980">
                <a:solidFill>
                  <a:srgbClr val="D4D4D4"/>
                </a:solidFill>
                <a:latin typeface="Menlo Regular"/>
                <a:ea typeface="Menlo Regular"/>
                <a:cs typeface="Menlo Regular"/>
                <a:sym typeface="Menlo Regular"/>
              </a:defRPr>
            </a:pPr>
          </a:p>
          <a:p>
            <a:pPr lvl="1" marL="0" indent="150876" defTabSz="301752">
              <a:lnSpc>
                <a:spcPct val="100000"/>
              </a:lnSpc>
              <a:spcBef>
                <a:spcPts val="0"/>
              </a:spcBef>
              <a:buSzTx/>
              <a:buNone/>
              <a:defRPr b="1" sz="1980">
                <a:solidFill>
                  <a:srgbClr val="569CD6"/>
                </a:solidFill>
                <a:latin typeface="Menlo Regular"/>
                <a:ea typeface="Menlo Regular"/>
                <a:cs typeface="Menlo Regular"/>
                <a:sym typeface="Menlo Regular"/>
              </a:defRPr>
            </a:pPr>
            <a:r>
              <a:t>## Context</a:t>
            </a:r>
            <a:endParaRPr b="0">
              <a:solidFill>
                <a:srgbClr val="D4D4D4"/>
              </a:solidFill>
            </a:endParaRPr>
          </a:p>
          <a:p>
            <a:pPr lvl="1" marL="0" indent="150876" defTabSz="301752">
              <a:lnSpc>
                <a:spcPct val="100000"/>
              </a:lnSpc>
              <a:spcBef>
                <a:spcPts val="0"/>
              </a:spcBef>
              <a:buSzTx/>
              <a:buNone/>
              <a:defRPr sz="1980">
                <a:solidFill>
                  <a:srgbClr val="D4D4D4"/>
                </a:solidFill>
                <a:latin typeface="Menlo Regular"/>
                <a:ea typeface="Menlo Regular"/>
                <a:cs typeface="Menlo Regular"/>
                <a:sym typeface="Menlo Regular"/>
              </a:defRPr>
            </a:pPr>
            <a:r>
              <a:t>We need communication between the compression sensor node </a:t>
            </a:r>
          </a:p>
          <a:p>
            <a:pPr lvl="1" marL="0" indent="150876" defTabSz="301752">
              <a:lnSpc>
                <a:spcPct val="100000"/>
              </a:lnSpc>
              <a:spcBef>
                <a:spcPts val="0"/>
              </a:spcBef>
              <a:buSzTx/>
              <a:buNone/>
              <a:defRPr sz="1980">
                <a:solidFill>
                  <a:srgbClr val="D4D4D4"/>
                </a:solidFill>
                <a:latin typeface="Menlo Regular"/>
                <a:ea typeface="Menlo Regular"/>
                <a:cs typeface="Menlo Regular"/>
                <a:sym typeface="Menlo Regular"/>
              </a:defRPr>
            </a:pPr>
            <a:r>
              <a:t>and the main controller. Distance is ~40cm, environment </a:t>
            </a:r>
          </a:p>
          <a:p>
            <a:pPr lvl="1" marL="0" indent="150876" defTabSz="301752">
              <a:lnSpc>
                <a:spcPct val="100000"/>
              </a:lnSpc>
              <a:spcBef>
                <a:spcPts val="0"/>
              </a:spcBef>
              <a:buSzTx/>
              <a:buNone/>
              <a:defRPr sz="1980">
                <a:solidFill>
                  <a:srgbClr val="D4D4D4"/>
                </a:solidFill>
                <a:latin typeface="Menlo Regular"/>
                <a:ea typeface="Menlo Regular"/>
                <a:cs typeface="Menlo Regular"/>
                <a:sym typeface="Menlo Regular"/>
              </a:defRPr>
            </a:pPr>
            <a:r>
              <a:t>includes stepper motors for lung simulation.</a:t>
            </a:r>
          </a:p>
          <a:p>
            <a:pPr lvl="1" marL="0" indent="150876" defTabSz="301752">
              <a:lnSpc>
                <a:spcPct val="100000"/>
              </a:lnSpc>
              <a:spcBef>
                <a:spcPts val="0"/>
              </a:spcBef>
              <a:buSzTx/>
              <a:buNone/>
              <a:defRPr sz="1980">
                <a:solidFill>
                  <a:srgbClr val="D4D4D4"/>
                </a:solidFill>
                <a:latin typeface="Menlo Regular"/>
                <a:ea typeface="Menlo Regular"/>
                <a:cs typeface="Menlo Regular"/>
                <a:sym typeface="Menlo Regular"/>
              </a:defRPr>
            </a:pPr>
          </a:p>
          <a:p>
            <a:pPr lvl="1" marL="0" indent="150876" defTabSz="301752">
              <a:lnSpc>
                <a:spcPct val="100000"/>
              </a:lnSpc>
              <a:spcBef>
                <a:spcPts val="0"/>
              </a:spcBef>
              <a:buSzTx/>
              <a:buNone/>
              <a:defRPr b="1" sz="1980">
                <a:solidFill>
                  <a:srgbClr val="569CD6"/>
                </a:solidFill>
                <a:latin typeface="Menlo Regular"/>
                <a:ea typeface="Menlo Regular"/>
                <a:cs typeface="Menlo Regular"/>
                <a:sym typeface="Menlo Regular"/>
              </a:defRPr>
            </a:pPr>
            <a:r>
              <a:t>## Options Considered</a:t>
            </a:r>
            <a:endParaRPr b="0">
              <a:solidFill>
                <a:srgbClr val="D4D4D4"/>
              </a:solidFill>
            </a:endParaRPr>
          </a:p>
          <a:p>
            <a:pPr lvl="1" marL="0" indent="150876" defTabSz="301752">
              <a:lnSpc>
                <a:spcPct val="100000"/>
              </a:lnSpc>
              <a:spcBef>
                <a:spcPts val="0"/>
              </a:spcBef>
              <a:buSzTx/>
              <a:buNone/>
              <a:defRPr sz="1980">
                <a:solidFill>
                  <a:srgbClr val="D4D4D4"/>
                </a:solidFill>
                <a:latin typeface="Menlo Regular"/>
                <a:ea typeface="Menlo Regular"/>
                <a:cs typeface="Menlo Regular"/>
                <a:sym typeface="Menlo Regular"/>
              </a:defRPr>
            </a:pPr>
            <a:r>
              <a:rPr>
                <a:solidFill>
                  <a:srgbClr val="6796E6"/>
                </a:solidFill>
              </a:rPr>
              <a:t>1.</a:t>
            </a:r>
            <a:r>
              <a:t> I2C - simple, but limited distance, noise sensitive</a:t>
            </a:r>
          </a:p>
          <a:p>
            <a:pPr lvl="1" marL="0" indent="150876" defTabSz="301752">
              <a:lnSpc>
                <a:spcPct val="100000"/>
              </a:lnSpc>
              <a:spcBef>
                <a:spcPts val="0"/>
              </a:spcBef>
              <a:buSzTx/>
              <a:buNone/>
              <a:defRPr sz="1980">
                <a:solidFill>
                  <a:srgbClr val="D4D4D4"/>
                </a:solidFill>
                <a:latin typeface="Menlo Regular"/>
                <a:ea typeface="Menlo Regular"/>
                <a:cs typeface="Menlo Regular"/>
                <a:sym typeface="Menlo Regular"/>
              </a:defRPr>
            </a:pPr>
            <a:r>
              <a:rPr>
                <a:solidFill>
                  <a:srgbClr val="6796E6"/>
                </a:solidFill>
              </a:rPr>
              <a:t>2.</a:t>
            </a:r>
            <a:r>
              <a:t> SPI - fast, but requires many wires, limited distance</a:t>
            </a:r>
          </a:p>
          <a:p>
            <a:pPr lvl="1" marL="0" indent="150876" defTabSz="301752">
              <a:lnSpc>
                <a:spcPct val="100000"/>
              </a:lnSpc>
              <a:spcBef>
                <a:spcPts val="0"/>
              </a:spcBef>
              <a:buSzTx/>
              <a:buNone/>
              <a:defRPr sz="1980">
                <a:solidFill>
                  <a:srgbClr val="D4D4D4"/>
                </a:solidFill>
                <a:latin typeface="Menlo Regular"/>
                <a:ea typeface="Menlo Regular"/>
                <a:cs typeface="Menlo Regular"/>
                <a:sym typeface="Menlo Regular"/>
              </a:defRPr>
            </a:pPr>
            <a:r>
              <a:rPr>
                <a:solidFill>
                  <a:srgbClr val="6796E6"/>
                </a:solidFill>
              </a:rPr>
              <a:t>3.</a:t>
            </a:r>
            <a:r>
              <a:t> CAN - robust, standard in medical, designed for noise</a:t>
            </a:r>
          </a:p>
          <a:p>
            <a:pPr lvl="1" marL="0" indent="150876" defTabSz="301752">
              <a:lnSpc>
                <a:spcPct val="100000"/>
              </a:lnSpc>
              <a:spcBef>
                <a:spcPts val="0"/>
              </a:spcBef>
              <a:buSzTx/>
              <a:buNone/>
              <a:defRPr sz="1980">
                <a:solidFill>
                  <a:srgbClr val="D4D4D4"/>
                </a:solidFill>
                <a:latin typeface="Menlo Regular"/>
                <a:ea typeface="Menlo Regular"/>
                <a:cs typeface="Menlo Regular"/>
                <a:sym typeface="Menlo Regular"/>
              </a:defRPr>
            </a:pPr>
            <a:r>
              <a:rPr>
                <a:solidFill>
                  <a:srgbClr val="6796E6"/>
                </a:solidFill>
              </a:rPr>
              <a:t>4.</a:t>
            </a:r>
            <a:r>
              <a:t> RS-485 - robust, but requires protocol design</a:t>
            </a:r>
          </a:p>
          <a:p>
            <a:pPr lvl="1" marL="0" indent="150876" defTabSz="301752">
              <a:lnSpc>
                <a:spcPct val="100000"/>
              </a:lnSpc>
              <a:spcBef>
                <a:spcPts val="0"/>
              </a:spcBef>
              <a:buSzTx/>
              <a:buNone/>
              <a:defRPr sz="1980">
                <a:solidFill>
                  <a:srgbClr val="D4D4D4"/>
                </a:solidFill>
                <a:latin typeface="Menlo Regular"/>
                <a:ea typeface="Menlo Regular"/>
                <a:cs typeface="Menlo Regular"/>
                <a:sym typeface="Menlo Regular"/>
              </a:defRPr>
            </a:pPr>
          </a:p>
          <a:p>
            <a:pPr lvl="1" marL="0" indent="150876" defTabSz="301752">
              <a:lnSpc>
                <a:spcPct val="100000"/>
              </a:lnSpc>
              <a:spcBef>
                <a:spcPts val="0"/>
              </a:spcBef>
              <a:buSzTx/>
              <a:buNone/>
              <a:defRPr b="1" sz="1980">
                <a:solidFill>
                  <a:srgbClr val="569CD6"/>
                </a:solidFill>
                <a:latin typeface="Menlo Regular"/>
                <a:ea typeface="Menlo Regular"/>
                <a:cs typeface="Menlo Regular"/>
                <a:sym typeface="Menlo Regular"/>
              </a:defRPr>
            </a:pPr>
            <a:r>
              <a:t>## Decision</a:t>
            </a:r>
            <a:endParaRPr b="0">
              <a:solidFill>
                <a:srgbClr val="D4D4D4"/>
              </a:solidFill>
            </a:endParaRPr>
          </a:p>
          <a:p>
            <a:pPr lvl="1" marL="0" indent="150876" defTabSz="301752">
              <a:lnSpc>
                <a:spcPct val="100000"/>
              </a:lnSpc>
              <a:spcBef>
                <a:spcPts val="0"/>
              </a:spcBef>
              <a:buSzTx/>
              <a:buNone/>
              <a:defRPr sz="1980">
                <a:solidFill>
                  <a:srgbClr val="D4D4D4"/>
                </a:solidFill>
                <a:latin typeface="Menlo Regular"/>
                <a:ea typeface="Menlo Regular"/>
                <a:cs typeface="Menlo Regular"/>
                <a:sym typeface="Menlo Regular"/>
              </a:defRPr>
            </a:pPr>
            <a:r>
              <a:t>CAN bus using MCP2515 controller.</a:t>
            </a:r>
          </a:p>
          <a:p>
            <a:pPr lvl="1" marL="0" indent="150876" defTabSz="301752">
              <a:lnSpc>
                <a:spcPct val="100000"/>
              </a:lnSpc>
              <a:spcBef>
                <a:spcPts val="0"/>
              </a:spcBef>
              <a:buSzTx/>
              <a:buNone/>
              <a:defRPr sz="1980">
                <a:solidFill>
                  <a:srgbClr val="D4D4D4"/>
                </a:solidFill>
                <a:latin typeface="Menlo Regular"/>
                <a:ea typeface="Menlo Regular"/>
                <a:cs typeface="Menlo Regular"/>
                <a:sym typeface="Menlo Regular"/>
              </a:defRPr>
            </a:pPr>
          </a:p>
          <a:p>
            <a:pPr lvl="1" marL="0" indent="150876" defTabSz="301752">
              <a:lnSpc>
                <a:spcPct val="100000"/>
              </a:lnSpc>
              <a:spcBef>
                <a:spcPts val="0"/>
              </a:spcBef>
              <a:buSzTx/>
              <a:buNone/>
              <a:defRPr b="1" sz="1980">
                <a:solidFill>
                  <a:srgbClr val="569CD6"/>
                </a:solidFill>
                <a:latin typeface="Menlo Regular"/>
                <a:ea typeface="Menlo Regular"/>
                <a:cs typeface="Menlo Regular"/>
                <a:sym typeface="Menlo Regular"/>
              </a:defRPr>
            </a:pPr>
            <a:r>
              <a:t>## Consequences</a:t>
            </a:r>
            <a:endParaRPr b="0">
              <a:solidFill>
                <a:srgbClr val="D4D4D4"/>
              </a:solidFill>
            </a:endParaRPr>
          </a:p>
          <a:p>
            <a:pPr lvl="1" marL="0" indent="150876" defTabSz="301752">
              <a:lnSpc>
                <a:spcPct val="100000"/>
              </a:lnSpc>
              <a:spcBef>
                <a:spcPts val="0"/>
              </a:spcBef>
              <a:buSzTx/>
              <a:buNone/>
              <a:defRPr sz="1980">
                <a:solidFill>
                  <a:srgbClr val="D4D4D4"/>
                </a:solidFill>
                <a:latin typeface="Menlo Regular"/>
                <a:ea typeface="Menlo Regular"/>
                <a:cs typeface="Menlo Regular"/>
                <a:sym typeface="Menlo Regular"/>
              </a:defRPr>
            </a:pPr>
            <a:r>
              <a:rPr>
                <a:solidFill>
                  <a:srgbClr val="6796E6"/>
                </a:solidFill>
              </a:rPr>
              <a:t>-</a:t>
            </a:r>
            <a:r>
              <a:t> Additional component cost (~€3 per node)</a:t>
            </a:r>
          </a:p>
          <a:p>
            <a:pPr lvl="1" marL="0" indent="150876" defTabSz="301752">
              <a:lnSpc>
                <a:spcPct val="100000"/>
              </a:lnSpc>
              <a:spcBef>
                <a:spcPts val="0"/>
              </a:spcBef>
              <a:buSzTx/>
              <a:buNone/>
              <a:defRPr sz="1980">
                <a:solidFill>
                  <a:srgbClr val="D4D4D4"/>
                </a:solidFill>
                <a:latin typeface="Menlo Regular"/>
                <a:ea typeface="Menlo Regular"/>
                <a:cs typeface="Menlo Regular"/>
                <a:sym typeface="Menlo Regular"/>
              </a:defRPr>
            </a:pPr>
            <a:r>
              <a:rPr>
                <a:solidFill>
                  <a:srgbClr val="6796E6"/>
                </a:solidFill>
              </a:rPr>
              <a:t>-</a:t>
            </a:r>
            <a:r>
              <a:t> Team needs CAN protocol knowledge</a:t>
            </a:r>
          </a:p>
          <a:p>
            <a:pPr lvl="1" marL="0" indent="150876" defTabSz="301752">
              <a:lnSpc>
                <a:spcPct val="100000"/>
              </a:lnSpc>
              <a:spcBef>
                <a:spcPts val="0"/>
              </a:spcBef>
              <a:buSzTx/>
              <a:buNone/>
              <a:defRPr sz="1980">
                <a:solidFill>
                  <a:srgbClr val="D4D4D4"/>
                </a:solidFill>
                <a:latin typeface="Menlo Regular"/>
                <a:ea typeface="Menlo Regular"/>
                <a:cs typeface="Menlo Regular"/>
                <a:sym typeface="Menlo Regular"/>
              </a:defRPr>
            </a:pPr>
            <a:r>
              <a:rPr>
                <a:solidFill>
                  <a:srgbClr val="6796E6"/>
                </a:solidFill>
              </a:rPr>
              <a:t>-</a:t>
            </a:r>
            <a:r>
              <a:t> Easy to add more sensor nodes later</a:t>
            </a:r>
          </a:p>
          <a:p>
            <a:pPr lvl="1" marL="0" indent="150876" defTabSz="301752">
              <a:lnSpc>
                <a:spcPct val="100000"/>
              </a:lnSpc>
              <a:spcBef>
                <a:spcPts val="0"/>
              </a:spcBef>
              <a:buSzTx/>
              <a:buNone/>
              <a:defRPr sz="1980">
                <a:solidFill>
                  <a:srgbClr val="D4D4D4"/>
                </a:solidFill>
                <a:latin typeface="Menlo Regular"/>
                <a:ea typeface="Menlo Regular"/>
                <a:cs typeface="Menlo Regular"/>
                <a:sym typeface="Menlo Regular"/>
              </a:defRPr>
            </a:pPr>
            <a:r>
              <a:rPr>
                <a:solidFill>
                  <a:srgbClr val="6796E6"/>
                </a:solidFill>
              </a:rPr>
              <a:t>-</a:t>
            </a:r>
            <a:r>
              <a:t> Compliant with medical device expectations</a:t>
            </a:r>
          </a:p>
          <a:p>
            <a:pPr lvl="1" marL="0" indent="150876" defTabSz="301752">
              <a:lnSpc>
                <a:spcPct val="100000"/>
              </a:lnSpc>
              <a:spcBef>
                <a:spcPts val="0"/>
              </a:spcBef>
              <a:buSzTx/>
              <a:buNone/>
              <a:defRPr sz="1980">
                <a:solidFill>
                  <a:srgbClr val="D4D4D4"/>
                </a:solidFill>
                <a:latin typeface="Menlo Regular"/>
                <a:ea typeface="Menlo Regular"/>
                <a:cs typeface="Menlo Regular"/>
                <a:sym typeface="Menlo Regular"/>
              </a:defRPr>
            </a:pPr>
          </a:p>
          <a:p>
            <a:pPr lvl="1" marL="0" indent="150876" defTabSz="301752">
              <a:lnSpc>
                <a:spcPct val="100000"/>
              </a:lnSpc>
              <a:spcBef>
                <a:spcPts val="0"/>
              </a:spcBef>
              <a:buSzTx/>
              <a:buNone/>
              <a:defRPr b="1" sz="1980">
                <a:solidFill>
                  <a:srgbClr val="569CD6"/>
                </a:solidFill>
                <a:latin typeface="Menlo Regular"/>
                <a:ea typeface="Menlo Regular"/>
                <a:cs typeface="Menlo Regular"/>
                <a:sym typeface="Menlo Regular"/>
              </a:defRPr>
            </a:pPr>
            <a:r>
              <a:t>## References</a:t>
            </a:r>
            <a:endParaRPr b="0">
              <a:solidFill>
                <a:srgbClr val="D4D4D4"/>
              </a:solidFill>
            </a:endParaRPr>
          </a:p>
          <a:p>
            <a:pPr lvl="1" marL="0" indent="150876" defTabSz="301752">
              <a:lnSpc>
                <a:spcPct val="100000"/>
              </a:lnSpc>
              <a:spcBef>
                <a:spcPts val="0"/>
              </a:spcBef>
              <a:buSzTx/>
              <a:buNone/>
              <a:defRPr sz="1980">
                <a:solidFill>
                  <a:srgbClr val="D4D4D4"/>
                </a:solidFill>
                <a:latin typeface="Menlo Regular"/>
                <a:ea typeface="Menlo Regular"/>
                <a:cs typeface="Menlo Regular"/>
                <a:sym typeface="Menlo Regular"/>
              </a:defRPr>
            </a:pPr>
            <a:r>
              <a:rPr>
                <a:solidFill>
                  <a:srgbClr val="6796E6"/>
                </a:solidFill>
              </a:rPr>
              <a:t>-</a:t>
            </a:r>
            <a:r>
              <a:t> MCP2515 Datasheet</a:t>
            </a:r>
          </a:p>
          <a:p>
            <a:pPr lvl="1" marL="0" indent="150876" defTabSz="301752">
              <a:lnSpc>
                <a:spcPct val="100000"/>
              </a:lnSpc>
              <a:spcBef>
                <a:spcPts val="0"/>
              </a:spcBef>
              <a:buSzTx/>
              <a:buNone/>
              <a:defRPr sz="1980">
                <a:solidFill>
                  <a:srgbClr val="D4D4D4"/>
                </a:solidFill>
                <a:latin typeface="Menlo Regular"/>
                <a:ea typeface="Menlo Regular"/>
                <a:cs typeface="Menlo Regular"/>
                <a:sym typeface="Menlo Regular"/>
              </a:defRPr>
            </a:pPr>
            <a:r>
              <a:rPr>
                <a:solidFill>
                  <a:srgbClr val="6796E6"/>
                </a:solidFill>
              </a:rPr>
              <a:t>-</a:t>
            </a:r>
            <a:r>
              <a:t> ISO 11898 (CAN standard)</a:t>
            </a:r>
          </a:p>
        </p:txBody>
      </p:sp>
    </p:spTree>
  </p:cSld>
  <p:clrMapOvr>
    <a:masterClrMapping/>
  </p:clrMapOvr>
  <p:transition xmlns:p14="http://schemas.microsoft.com/office/powerpoint/2010/main" spd="med" advClick="1"/>
</p:sld>
</file>

<file path=ppt/slides/slide5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5" name="Clean code, clear comments"/>
          <p:cNvSpPr txBox="1"/>
          <p:nvPr>
            <p:ph type="title"/>
          </p:nvPr>
        </p:nvSpPr>
        <p:spPr>
          <a:prstGeom prst="rect">
            <a:avLst/>
          </a:prstGeom>
        </p:spPr>
        <p:txBody>
          <a:bodyPr/>
          <a:lstStyle/>
          <a:p>
            <a:pPr/>
            <a:r>
              <a:t>Clean code, clear comments</a:t>
            </a:r>
          </a:p>
        </p:txBody>
      </p:sp>
      <p:sp>
        <p:nvSpPr>
          <p:cNvPr id="366" name="Levels of documentation: Inline → function → module → architectural…"/>
          <p:cNvSpPr txBox="1"/>
          <p:nvPr>
            <p:ph type="body" idx="1"/>
          </p:nvPr>
        </p:nvSpPr>
        <p:spPr>
          <a:xfrm>
            <a:off x="1688592" y="3069576"/>
            <a:ext cx="21824355" cy="9296401"/>
          </a:xfrm>
          <a:prstGeom prst="rect">
            <a:avLst/>
          </a:prstGeom>
        </p:spPr>
        <p:txBody>
          <a:bodyPr/>
          <a:lstStyle/>
          <a:p>
            <a:pPr>
              <a:lnSpc>
                <a:spcPct val="120000"/>
              </a:lnSpc>
            </a:pPr>
            <a:r>
              <a:t>Levels of documentation: Inline → function → module → </a:t>
            </a:r>
            <a:r>
              <a:rPr b="1"/>
              <a:t>architectural</a:t>
            </a:r>
          </a:p>
          <a:p>
            <a:pPr>
              <a:lnSpc>
                <a:spcPct val="120000"/>
              </a:lnSpc>
            </a:pPr>
          </a:p>
          <a:p>
            <a:pPr>
              <a:lnSpc>
                <a:spcPct val="120000"/>
              </a:lnSpc>
            </a:pPr>
          </a:p>
          <a:p>
            <a:pPr>
              <a:lnSpc>
                <a:spcPct val="120000"/>
              </a:lnSpc>
            </a:pPr>
            <a:r>
              <a:t>The test: </a:t>
            </a:r>
            <a:r>
              <a:rPr i="1"/>
              <a:t>Can a new team member understand why the system is built this way – not just how it works?</a:t>
            </a:r>
          </a:p>
          <a:p>
            <a:pPr>
              <a:lnSpc>
                <a:spcPct val="120000"/>
              </a:lnSpc>
            </a:pPr>
          </a:p>
          <a:p>
            <a:pPr>
              <a:lnSpc>
                <a:spcPct val="120000"/>
              </a:lnSpc>
            </a:pPr>
            <a:r>
              <a:t>Can they understand why you chose </a:t>
            </a:r>
            <a:r>
              <a:rPr i="1"/>
              <a:t>[CAN]</a:t>
            </a:r>
            <a:r>
              <a:t> over </a:t>
            </a:r>
            <a:r>
              <a:rPr i="1"/>
              <a:t>[I2C]</a:t>
            </a:r>
            <a:r>
              <a:t> without having to ask you?</a:t>
            </a:r>
          </a:p>
          <a:p>
            <a:pPr>
              <a:lnSpc>
                <a:spcPct val="120000"/>
              </a:lnSpc>
            </a:pPr>
            <a:r>
              <a:t>If </a:t>
            </a:r>
            <a:r>
              <a:rPr i="1"/>
              <a:t>no</a:t>
            </a:r>
            <a:r>
              <a:t> → your architectural documentation is </a:t>
            </a:r>
            <a:r>
              <a:rPr i="1"/>
              <a:t>incomplete</a:t>
            </a:r>
            <a:r>
              <a:t>.</a:t>
            </a:r>
          </a:p>
          <a:p>
            <a:pPr>
              <a:lnSpc>
                <a:spcPct val="120000"/>
              </a:lnSpc>
            </a:pPr>
          </a:p>
          <a:p>
            <a:pPr>
              <a:lnSpc>
                <a:spcPct val="120000"/>
              </a:lnSpc>
            </a:pPr>
            <a:endParaRPr i="1"/>
          </a:p>
        </p:txBody>
      </p:sp>
    </p:spTree>
  </p:cSld>
  <p:clrMapOvr>
    <a:masterClrMapping/>
  </p:clrMapOvr>
  <p:transition xmlns:p14="http://schemas.microsoft.com/office/powerpoint/2010/main" spd="med" advClick="1"/>
</p:sld>
</file>

<file path=ppt/slides/slide6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8" name="Clean code, clear comments"/>
          <p:cNvSpPr txBox="1"/>
          <p:nvPr>
            <p:ph type="title"/>
          </p:nvPr>
        </p:nvSpPr>
        <p:spPr>
          <a:prstGeom prst="rect">
            <a:avLst/>
          </a:prstGeom>
        </p:spPr>
        <p:txBody>
          <a:bodyPr/>
          <a:lstStyle/>
          <a:p>
            <a:pPr/>
            <a:r>
              <a:t>Clean code, clear comments</a:t>
            </a:r>
          </a:p>
        </p:txBody>
      </p:sp>
      <p:sp>
        <p:nvSpPr>
          <p:cNvPr id="369" name="Levels of documentation: Inline → function → module → architectural"/>
          <p:cNvSpPr txBox="1"/>
          <p:nvPr>
            <p:ph type="body" idx="1"/>
          </p:nvPr>
        </p:nvSpPr>
        <p:spPr>
          <a:xfrm>
            <a:off x="1688592" y="3069576"/>
            <a:ext cx="21824355" cy="9296401"/>
          </a:xfrm>
          <a:prstGeom prst="rect">
            <a:avLst/>
          </a:prstGeom>
        </p:spPr>
        <p:txBody>
          <a:bodyPr/>
          <a:lstStyle/>
          <a:p>
            <a:pPr>
              <a:lnSpc>
                <a:spcPct val="120000"/>
              </a:lnSpc>
            </a:pPr>
            <a:r>
              <a:t>Levels of documentation: Inline → function → module → architectural</a:t>
            </a:r>
          </a:p>
          <a:p>
            <a:pPr>
              <a:lnSpc>
                <a:spcPct val="120000"/>
              </a:lnSpc>
            </a:pPr>
          </a:p>
          <a:p>
            <a:pPr>
              <a:lnSpc>
                <a:spcPct val="120000"/>
              </a:lnSpc>
            </a:pPr>
          </a:p>
          <a:p>
            <a:pPr>
              <a:lnSpc>
                <a:spcPct val="120000"/>
              </a:lnSpc>
            </a:pPr>
          </a:p>
          <a:p>
            <a:pPr>
              <a:lnSpc>
                <a:spcPct val="120000"/>
              </a:lnSpc>
            </a:pPr>
            <a:endParaRPr i="1"/>
          </a:p>
        </p:txBody>
      </p:sp>
      <p:graphicFrame>
        <p:nvGraphicFramePr>
          <p:cNvPr id="370" name="Tabel 1"/>
          <p:cNvGraphicFramePr/>
          <p:nvPr/>
        </p:nvGraphicFramePr>
        <p:xfrm>
          <a:off x="2808380" y="4774045"/>
          <a:ext cx="13385739" cy="4154842"/>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2615524"/>
                <a:gridCol w="2295256"/>
                <a:gridCol w="2615524"/>
                <a:gridCol w="5854988"/>
              </a:tblGrid>
              <a:tr h="443380">
                <a:tc>
                  <a:txBody>
                    <a:bodyPr/>
                    <a:lstStyle/>
                    <a:p>
                      <a:pPr algn="l" defTabSz="457200">
                        <a:defRPr b="0" sz="1800">
                          <a:solidFill>
                            <a:srgbClr val="000000"/>
                          </a:solidFill>
                        </a:defRPr>
                      </a:pPr>
                      <a:r>
                        <a:rPr b="1" sz="2600">
                          <a:latin typeface="Arial"/>
                          <a:ea typeface="Arial"/>
                          <a:cs typeface="Arial"/>
                          <a:sym typeface="Arial"/>
                        </a:rPr>
                        <a:t>Level</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a:solidFill>
                        <a:srgbClr val="000000"/>
                      </a:solidFill>
                      <a:miter lim="400000"/>
                    </a:lnB>
                    <a:solidFill>
                      <a:srgbClr val="BEC0BF"/>
                    </a:solidFill>
                  </a:tcPr>
                </a:tc>
                <a:tc>
                  <a:txBody>
                    <a:bodyPr/>
                    <a:lstStyle/>
                    <a:p>
                      <a:pPr algn="l" defTabSz="457200">
                        <a:defRPr b="0" sz="1800">
                          <a:solidFill>
                            <a:srgbClr val="000000"/>
                          </a:solidFill>
                        </a:defRPr>
                      </a:pPr>
                      <a:r>
                        <a:rPr b="1" sz="2600">
                          <a:latin typeface="Arial"/>
                          <a:ea typeface="Arial"/>
                          <a:cs typeface="Arial"/>
                          <a:sym typeface="Arial"/>
                        </a:rPr>
                        <a:t>Where</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a:solidFill>
                        <a:srgbClr val="000000"/>
                      </a:solidFill>
                      <a:miter lim="400000"/>
                    </a:lnB>
                    <a:solidFill>
                      <a:srgbClr val="BEC0BF"/>
                    </a:solidFill>
                  </a:tcPr>
                </a:tc>
                <a:tc>
                  <a:txBody>
                    <a:bodyPr/>
                    <a:lstStyle/>
                    <a:p>
                      <a:pPr algn="l" defTabSz="457200">
                        <a:defRPr b="0" sz="1800">
                          <a:solidFill>
                            <a:srgbClr val="000000"/>
                          </a:solidFill>
                        </a:defRPr>
                      </a:pPr>
                      <a:r>
                        <a:rPr b="1" sz="2600">
                          <a:latin typeface="Helvetica Neue"/>
                          <a:ea typeface="Helvetica Neue"/>
                          <a:cs typeface="Helvetica Neue"/>
                          <a:sym typeface="Helvetica Neue"/>
                        </a:rPr>
                        <a:t>Changes</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a:solidFill>
                        <a:srgbClr val="000000"/>
                      </a:solidFill>
                      <a:miter lim="400000"/>
                    </a:lnB>
                    <a:solidFill>
                      <a:srgbClr val="BEC0BF"/>
                    </a:solidFill>
                  </a:tcPr>
                </a:tc>
                <a:tc>
                  <a:txBody>
                    <a:bodyPr/>
                    <a:lstStyle/>
                    <a:p>
                      <a:pPr algn="l" defTabSz="457200">
                        <a:defRPr b="0" sz="1800">
                          <a:solidFill>
                            <a:srgbClr val="000000"/>
                          </a:solidFill>
                        </a:defRPr>
                      </a:pPr>
                      <a:r>
                        <a:rPr b="1" sz="2600">
                          <a:latin typeface="Helvetica Neue"/>
                          <a:ea typeface="Helvetica Neue"/>
                          <a:cs typeface="Helvetica Neue"/>
                          <a:sym typeface="Helvetica Neue"/>
                        </a:rPr>
                        <a:t>Audience</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a:solidFill>
                        <a:srgbClr val="000000"/>
                      </a:solidFill>
                      <a:miter lim="400000"/>
                    </a:lnB>
                    <a:solidFill>
                      <a:srgbClr val="BEC0BF"/>
                    </a:solidFill>
                  </a:tcPr>
                </a:tc>
              </a:tr>
              <a:tr h="443661">
                <a:tc>
                  <a:txBody>
                    <a:bodyPr/>
                    <a:lstStyle/>
                    <a:p>
                      <a:pPr algn="l" defTabSz="457200">
                        <a:defRPr sz="1800"/>
                      </a:pPr>
                      <a:r>
                        <a:rPr sz="2600">
                          <a:latin typeface="Arial"/>
                          <a:ea typeface="Arial"/>
                          <a:cs typeface="Arial"/>
                          <a:sym typeface="Arial"/>
                        </a:rPr>
                        <a:t>Inline</a:t>
                      </a:r>
                    </a:p>
                  </a:txBody>
                  <a:tcPr marL="50800" marR="50800" marT="50800" marB="50800" anchor="t" anchorCtr="0" horzOverflow="overflow">
                    <a:lnL w="4445">
                      <a:solidFill>
                        <a:srgbClr val="000000"/>
                      </a:solidFill>
                      <a:miter lim="400000"/>
                    </a:lnL>
                    <a:lnR w="4445">
                      <a:solidFill>
                        <a:srgbClr val="000000"/>
                      </a:solidFill>
                      <a:miter lim="400000"/>
                    </a:lnR>
                    <a:lnT>
                      <a:solidFill>
                        <a:srgbClr val="000000"/>
                      </a:solidFill>
                      <a:miter lim="400000"/>
                    </a:lnT>
                    <a:lnB w="4445">
                      <a:solidFill>
                        <a:srgbClr val="000000"/>
                      </a:solidFill>
                      <a:miter lim="400000"/>
                    </a:lnB>
                    <a:noFill/>
                  </a:tcPr>
                </a:tc>
                <a:tc>
                  <a:txBody>
                    <a:bodyPr/>
                    <a:lstStyle/>
                    <a:p>
                      <a:pPr algn="l" defTabSz="457200">
                        <a:defRPr sz="1800"/>
                      </a:pPr>
                      <a:r>
                        <a:rPr sz="2600">
                          <a:latin typeface="Arial"/>
                          <a:ea typeface="Arial"/>
                          <a:cs typeface="Arial"/>
                          <a:sym typeface="Arial"/>
                        </a:rPr>
                        <a:t>In the code</a:t>
                      </a:r>
                    </a:p>
                  </a:txBody>
                  <a:tcPr marL="50800" marR="50800" marT="50800" marB="50800" anchor="t" anchorCtr="0" horzOverflow="overflow">
                    <a:lnL w="4445">
                      <a:solidFill>
                        <a:srgbClr val="000000"/>
                      </a:solidFill>
                      <a:miter lim="400000"/>
                    </a:lnL>
                    <a:lnR w="4445">
                      <a:solidFill>
                        <a:srgbClr val="000000"/>
                      </a:solidFill>
                      <a:miter lim="400000"/>
                    </a:lnR>
                    <a:lnT>
                      <a:solidFill>
                        <a:srgbClr val="000000"/>
                      </a:solidFill>
                      <a:miter lim="400000"/>
                    </a:lnT>
                    <a:lnB w="4445">
                      <a:solidFill>
                        <a:srgbClr val="000000"/>
                      </a:solidFill>
                      <a:miter lim="400000"/>
                    </a:lnB>
                    <a:noFill/>
                  </a:tcPr>
                </a:tc>
                <a:tc>
                  <a:txBody>
                    <a:bodyPr/>
                    <a:lstStyle/>
                    <a:p>
                      <a:pPr algn="l" defTabSz="457200">
                        <a:defRPr sz="1800"/>
                      </a:pPr>
                      <a:r>
                        <a:rPr sz="2600">
                          <a:latin typeface="Helvetica Neue"/>
                          <a:ea typeface="Helvetica Neue"/>
                          <a:cs typeface="Helvetica Neue"/>
                          <a:sym typeface="Helvetica Neue"/>
                        </a:rPr>
                        <a:t>Often</a:t>
                      </a:r>
                    </a:p>
                  </a:txBody>
                  <a:tcPr marL="50800" marR="50800" marT="50800" marB="50800" anchor="t" anchorCtr="0" horzOverflow="overflow">
                    <a:lnL w="4445">
                      <a:solidFill>
                        <a:srgbClr val="000000"/>
                      </a:solidFill>
                      <a:miter lim="400000"/>
                    </a:lnL>
                    <a:lnR w="4445">
                      <a:solidFill>
                        <a:srgbClr val="000000"/>
                      </a:solidFill>
                      <a:miter lim="400000"/>
                    </a:lnR>
                    <a:lnT>
                      <a:solidFill>
                        <a:srgbClr val="000000"/>
                      </a:solidFill>
                      <a:miter lim="400000"/>
                    </a:lnT>
                    <a:lnB w="4445">
                      <a:solidFill>
                        <a:srgbClr val="000000"/>
                      </a:solidFill>
                      <a:miter lim="400000"/>
                    </a:lnB>
                    <a:noFill/>
                  </a:tcPr>
                </a:tc>
                <a:tc>
                  <a:txBody>
                    <a:bodyPr/>
                    <a:lstStyle/>
                    <a:p>
                      <a:pPr algn="l" defTabSz="457200">
                        <a:defRPr sz="1800"/>
                      </a:pPr>
                      <a:r>
                        <a:rPr sz="2600">
                          <a:latin typeface="Helvetica Neue"/>
                          <a:ea typeface="Helvetica Neue"/>
                          <a:cs typeface="Helvetica Neue"/>
                          <a:sym typeface="Helvetica Neue"/>
                        </a:rPr>
                        <a:t>Developer reading this line</a:t>
                      </a:r>
                    </a:p>
                  </a:txBody>
                  <a:tcPr marL="50800" marR="50800" marT="50800" marB="50800" anchor="t" anchorCtr="0" horzOverflow="overflow">
                    <a:lnL w="4445">
                      <a:solidFill>
                        <a:srgbClr val="000000"/>
                      </a:solidFill>
                      <a:miter lim="400000"/>
                    </a:lnL>
                    <a:lnR w="4445">
                      <a:solidFill>
                        <a:srgbClr val="000000"/>
                      </a:solidFill>
                      <a:miter lim="400000"/>
                    </a:lnR>
                    <a:lnT>
                      <a:solidFill>
                        <a:srgbClr val="000000"/>
                      </a:solidFill>
                      <a:miter lim="400000"/>
                    </a:lnT>
                    <a:lnB w="4445">
                      <a:solidFill>
                        <a:srgbClr val="000000"/>
                      </a:solidFill>
                      <a:miter lim="400000"/>
                    </a:lnB>
                    <a:noFill/>
                  </a:tcPr>
                </a:tc>
              </a:tr>
              <a:tr h="441121">
                <a:tc>
                  <a:txBody>
                    <a:bodyPr/>
                    <a:lstStyle/>
                    <a:p>
                      <a:pPr algn="l" defTabSz="457200">
                        <a:defRPr sz="1800"/>
                      </a:pPr>
                      <a:r>
                        <a:rPr sz="2600">
                          <a:latin typeface="Arial"/>
                          <a:ea typeface="Arial"/>
                          <a:cs typeface="Arial"/>
                          <a:sym typeface="Arial"/>
                        </a:rPr>
                        <a:t>Function</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2600">
                          <a:latin typeface="Arial"/>
                          <a:ea typeface="Arial"/>
                          <a:cs typeface="Arial"/>
                          <a:sym typeface="Arial"/>
                        </a:rPr>
                        <a:t>Header files</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2600">
                          <a:latin typeface="Helvetica Neue"/>
                          <a:ea typeface="Helvetica Neue"/>
                          <a:cs typeface="Helvetica Neue"/>
                          <a:sym typeface="Helvetica Neue"/>
                        </a:rPr>
                        <a:t>Sometimes</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2600">
                          <a:latin typeface="Helvetica Neue"/>
                          <a:ea typeface="Helvetica Neue"/>
                          <a:cs typeface="Helvetica Neue"/>
                          <a:sym typeface="Helvetica Neue"/>
                        </a:rPr>
                        <a:t>Developer using this function</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r h="441121">
                <a:tc>
                  <a:txBody>
                    <a:bodyPr/>
                    <a:lstStyle/>
                    <a:p>
                      <a:pPr algn="l" defTabSz="457200">
                        <a:defRPr sz="1800"/>
                      </a:pPr>
                      <a:r>
                        <a:rPr sz="2600">
                          <a:latin typeface="Arial"/>
                          <a:ea typeface="Arial"/>
                          <a:cs typeface="Arial"/>
                          <a:sym typeface="Arial"/>
                        </a:rPr>
                        <a:t>Module</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2600">
                          <a:latin typeface="Arial"/>
                          <a:ea typeface="Arial"/>
                          <a:cs typeface="Arial"/>
                          <a:sym typeface="Arial"/>
                        </a:rPr>
                        <a:t>Top of file</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2600">
                          <a:latin typeface="Helvetica Neue"/>
                          <a:ea typeface="Helvetica Neue"/>
                          <a:cs typeface="Helvetica Neue"/>
                          <a:sym typeface="Helvetica Neue"/>
                        </a:rPr>
                        <a:t>Rarely</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2600">
                          <a:latin typeface="Helvetica Neue"/>
                          <a:ea typeface="Helvetica Neue"/>
                          <a:cs typeface="Helvetica Neue"/>
                          <a:sym typeface="Helvetica Neue"/>
                        </a:rPr>
                        <a:t>Developer working on this component</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r h="441121">
                <a:tc>
                  <a:txBody>
                    <a:bodyPr/>
                    <a:lstStyle/>
                    <a:p>
                      <a:pPr algn="l" defTabSz="457200">
                        <a:defRPr sz="1800"/>
                      </a:pPr>
                      <a:r>
                        <a:rPr sz="2600">
                          <a:latin typeface="Arial"/>
                          <a:ea typeface="Arial"/>
                          <a:cs typeface="Arial"/>
                          <a:sym typeface="Arial"/>
                        </a:rPr>
                        <a:t>Architectural</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2600">
                          <a:latin typeface="Arial"/>
                          <a:ea typeface="Arial"/>
                          <a:cs typeface="Arial"/>
                          <a:sym typeface="Arial"/>
                        </a:rPr>
                        <a:t>Separate docs</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2600">
                          <a:latin typeface="Helvetica Neue"/>
                          <a:ea typeface="Helvetica Neue"/>
                          <a:cs typeface="Helvetica Neue"/>
                          <a:sym typeface="Helvetica Neue"/>
                        </a:rPr>
                        <a:t>Very rarely</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2600">
                          <a:latin typeface="Helvetica Neue"/>
                          <a:ea typeface="Helvetica Neue"/>
                          <a:cs typeface="Helvetica Neue"/>
                          <a:sym typeface="Helvetica Neue"/>
                        </a:rPr>
                        <a:t>Everyone, including future team</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bl>
          </a:graphicData>
        </a:graphic>
      </p:graphicFrame>
    </p:spTree>
  </p:cSld>
  <p:clrMapOvr>
    <a:masterClrMapping/>
  </p:clrMapOvr>
  <p:transition xmlns:p14="http://schemas.microsoft.com/office/powerpoint/2010/main" spd="med" advClick="1"/>
</p:sld>
</file>

<file path=ppt/slides/slide6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2" name="Clean code, clear comments, clear documentation"/>
          <p:cNvSpPr txBox="1"/>
          <p:nvPr>
            <p:ph type="title"/>
          </p:nvPr>
        </p:nvSpPr>
        <p:spPr>
          <a:prstGeom prst="rect">
            <a:avLst/>
          </a:prstGeom>
        </p:spPr>
        <p:txBody>
          <a:bodyPr/>
          <a:lstStyle/>
          <a:p>
            <a:pPr/>
            <a:r>
              <a:t>Clean code, clear comments, clear documentation</a:t>
            </a:r>
          </a:p>
        </p:txBody>
      </p:sp>
      <p:sp>
        <p:nvSpPr>
          <p:cNvPr id="373" name="Theo Theunissen's &quot;knowledge vaporization&quot; – when the original developers leave, the why disappears. The code shows what. Only documentation preserves why."/>
          <p:cNvSpPr txBox="1"/>
          <p:nvPr>
            <p:ph type="body" idx="1"/>
          </p:nvPr>
        </p:nvSpPr>
        <p:spPr>
          <a:xfrm>
            <a:off x="1688592" y="3069576"/>
            <a:ext cx="21824355" cy="9296401"/>
          </a:xfrm>
          <a:prstGeom prst="rect">
            <a:avLst/>
          </a:prstGeom>
        </p:spPr>
        <p:txBody>
          <a:bodyPr/>
          <a:lstStyle/>
          <a:p>
            <a:pPr>
              <a:lnSpc>
                <a:spcPct val="120000"/>
              </a:lnSpc>
            </a:pPr>
            <a:r>
              <a:t>Theo Theunissen's </a:t>
            </a:r>
            <a:r>
              <a:rPr i="1"/>
              <a:t>"knowledge vaporization" </a:t>
            </a:r>
            <a:r>
              <a:t>– when the original developers leave, the </a:t>
            </a:r>
            <a:r>
              <a:rPr i="1"/>
              <a:t>why</a:t>
            </a:r>
            <a:r>
              <a:t> disappears. The code shows </a:t>
            </a:r>
            <a:r>
              <a:rPr i="1"/>
              <a:t>what</a:t>
            </a:r>
            <a:r>
              <a:t>. Only documentation preserves </a:t>
            </a:r>
            <a:r>
              <a:rPr i="1"/>
              <a:t>why</a:t>
            </a:r>
            <a:r>
              <a:t>.</a:t>
            </a:r>
          </a:p>
          <a:p>
            <a:pPr>
              <a:lnSpc>
                <a:spcPct val="120000"/>
              </a:lnSpc>
            </a:pPr>
          </a:p>
          <a:p>
            <a:pPr>
              <a:lnSpc>
                <a:spcPct val="120000"/>
              </a:lnSpc>
            </a:pPr>
            <a:endParaRPr i="1"/>
          </a:p>
        </p:txBody>
      </p:sp>
    </p:spTree>
  </p:cSld>
  <p:clrMapOvr>
    <a:masterClrMapping/>
  </p:clrMapOvr>
  <p:transition xmlns:p14="http://schemas.microsoft.com/office/powerpoint/2010/main" spd="med" advClick="1"/>
</p:sld>
</file>

<file path=ppt/slides/slide6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5" name="Exercise 4: Write the function header"/>
          <p:cNvSpPr txBox="1"/>
          <p:nvPr>
            <p:ph type="title"/>
          </p:nvPr>
        </p:nvSpPr>
        <p:spPr>
          <a:prstGeom prst="rect">
            <a:avLst/>
          </a:prstGeom>
        </p:spPr>
        <p:txBody>
          <a:bodyPr/>
          <a:lstStyle/>
          <a:p>
            <a:pPr/>
            <a:r>
              <a:t>Exercise 4: Write the function header</a:t>
            </a:r>
          </a:p>
        </p:txBody>
      </p:sp>
      <p:sp>
        <p:nvSpPr>
          <p:cNvPr id="376" name="Write the Doxygen documentation.…"/>
          <p:cNvSpPr txBox="1"/>
          <p:nvPr>
            <p:ph type="body" idx="1"/>
          </p:nvPr>
        </p:nvSpPr>
        <p:spPr>
          <a:xfrm>
            <a:off x="1688592" y="3069576"/>
            <a:ext cx="21824355" cy="9296401"/>
          </a:xfrm>
          <a:prstGeom prst="rect">
            <a:avLst/>
          </a:prstGeom>
        </p:spPr>
        <p:txBody>
          <a:bodyPr/>
          <a:lstStyle/>
          <a:p>
            <a:pPr>
              <a:lnSpc>
                <a:spcPct val="120000"/>
              </a:lnSpc>
            </a:pPr>
            <a:r>
              <a:t>Write the Doxygen documentation. </a:t>
            </a:r>
          </a:p>
          <a:p>
            <a:pPr>
              <a:lnSpc>
                <a:spcPct val="120000"/>
              </a:lnSpc>
            </a:pPr>
            <a:r>
              <a:t>What questions would a user need answered?</a:t>
            </a:r>
          </a:p>
          <a:p>
            <a:pPr>
              <a:lnSpc>
                <a:spcPct val="120000"/>
              </a:lnSpc>
            </a:pPr>
            <a:endParaRPr i="1"/>
          </a:p>
        </p:txBody>
      </p:sp>
    </p:spTree>
  </p:cSld>
  <p:clrMapOvr>
    <a:masterClrMapping/>
  </p:clrMapOvr>
  <p:transition xmlns:p14="http://schemas.microsoft.com/office/powerpoint/2010/main" spd="med" advClick="1"/>
</p:sld>
</file>

<file path=ppt/slides/slide6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0" name="Exercise 5: Bonus"/>
          <p:cNvSpPr txBox="1"/>
          <p:nvPr>
            <p:ph type="title"/>
          </p:nvPr>
        </p:nvSpPr>
        <p:spPr>
          <a:prstGeom prst="rect">
            <a:avLst/>
          </a:prstGeom>
        </p:spPr>
        <p:txBody>
          <a:bodyPr/>
          <a:lstStyle/>
          <a:p>
            <a:pPr/>
            <a:r>
              <a:t>Exercise 5: Bonus</a:t>
            </a:r>
          </a:p>
        </p:txBody>
      </p:sp>
      <p:sp>
        <p:nvSpPr>
          <p:cNvPr id="381" name="Volunteer needed: Is anyone willing to show some code from Prog 1 - 4?"/>
          <p:cNvSpPr txBox="1"/>
          <p:nvPr>
            <p:ph type="body" idx="1"/>
          </p:nvPr>
        </p:nvSpPr>
        <p:spPr>
          <a:xfrm>
            <a:off x="1688592" y="3069576"/>
            <a:ext cx="21824355" cy="9296401"/>
          </a:xfrm>
          <a:prstGeom prst="rect">
            <a:avLst/>
          </a:prstGeom>
        </p:spPr>
        <p:txBody>
          <a:bodyPr/>
          <a:lstStyle>
            <a:lvl1pPr>
              <a:lnSpc>
                <a:spcPct val="120000"/>
              </a:lnSpc>
            </a:lvl1pPr>
          </a:lstStyle>
          <a:p>
            <a:pPr/>
            <a:r>
              <a:t>Volunteer needed: Is anyone willing to show some code from Prog 1 - 4?</a:t>
            </a:r>
            <a:endParaRPr i="1"/>
          </a:p>
        </p:txBody>
      </p:sp>
    </p:spTree>
  </p:cSld>
  <p:clrMapOvr>
    <a:masterClrMapping/>
  </p:clrMapOvr>
  <p:transition xmlns:p14="http://schemas.microsoft.com/office/powerpoint/2010/main" spd="med" advClick="1"/>
</p:sld>
</file>

<file path=ppt/slides/slide6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5" name="Final topic: Vibe-documenting"/>
          <p:cNvSpPr txBox="1"/>
          <p:nvPr>
            <p:ph type="title"/>
          </p:nvPr>
        </p:nvSpPr>
        <p:spPr>
          <a:prstGeom prst="rect">
            <a:avLst/>
          </a:prstGeom>
        </p:spPr>
        <p:txBody>
          <a:bodyPr/>
          <a:lstStyle/>
          <a:p>
            <a:pPr/>
            <a:r>
              <a:t>Final topic: Vibe-documenting</a:t>
            </a:r>
          </a:p>
        </p:txBody>
      </p:sp>
      <p:sp>
        <p:nvSpPr>
          <p:cNvPr id="386" name="&quot;Hey ChatGPT, add comments to this code&quot;…"/>
          <p:cNvSpPr txBox="1"/>
          <p:nvPr>
            <p:ph type="body" idx="1"/>
          </p:nvPr>
        </p:nvSpPr>
        <p:spPr>
          <a:xfrm>
            <a:off x="1688592" y="3069576"/>
            <a:ext cx="21824355" cy="9296401"/>
          </a:xfrm>
          <a:prstGeom prst="rect">
            <a:avLst/>
          </a:prstGeom>
        </p:spPr>
        <p:txBody>
          <a:bodyPr/>
          <a:lstStyle/>
          <a:p>
            <a:pPr>
              <a:lnSpc>
                <a:spcPct val="120000"/>
              </a:lnSpc>
            </a:pPr>
            <a:r>
              <a:t>"Hey ChatGPT, add comments to this code"</a:t>
            </a:r>
          </a:p>
          <a:p>
            <a:pPr>
              <a:lnSpc>
                <a:spcPct val="120000"/>
              </a:lnSpc>
            </a:pPr>
            <a:r>
              <a:t>"Hey Copilot, document this function"</a:t>
            </a:r>
          </a:p>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p>
        </p:txBody>
      </p:sp>
      <p:sp>
        <p:nvSpPr>
          <p:cNvPr id="387" name="Rechthoek"/>
          <p:cNvSpPr/>
          <p:nvPr/>
        </p:nvSpPr>
        <p:spPr>
          <a:xfrm>
            <a:off x="1625640" y="5047595"/>
            <a:ext cx="18886873" cy="5161439"/>
          </a:xfrm>
          <a:prstGeom prst="rect">
            <a:avLst/>
          </a:prstGeom>
          <a:solidFill>
            <a:srgbClr val="1E1E1E"/>
          </a:solidFill>
          <a:ln w="12700">
            <a:solidFill>
              <a:schemeClr val="accent1"/>
            </a:solidFill>
            <a:miter/>
          </a:ln>
        </p:spPr>
        <p:txBody>
          <a:bodyPr lIns="45719" rIns="45719" anchor="ctr"/>
          <a:lstStyle/>
          <a:p>
            <a:pPr/>
          </a:p>
        </p:txBody>
      </p:sp>
      <p:sp>
        <p:nvSpPr>
          <p:cNvPr id="388" name="/**…"/>
          <p:cNvSpPr txBox="1"/>
          <p:nvPr/>
        </p:nvSpPr>
        <p:spPr>
          <a:xfrm>
            <a:off x="1688592" y="5101576"/>
            <a:ext cx="21824355" cy="505347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defTabSz="416052">
              <a:defRPr sz="2730">
                <a:solidFill>
                  <a:srgbClr val="6A9955"/>
                </a:solidFill>
                <a:latin typeface="Menlo Regular"/>
                <a:ea typeface="Menlo Regular"/>
                <a:cs typeface="Menlo Regular"/>
                <a:sym typeface="Menlo Regular"/>
              </a:defRPr>
            </a:pPr>
            <a:r>
              <a:t>/**</a:t>
            </a:r>
            <a:endParaRPr>
              <a:solidFill>
                <a:srgbClr val="D4D4D4"/>
              </a:solidFill>
            </a:endParaRPr>
          </a:p>
          <a:p>
            <a:pPr defTabSz="416052">
              <a:defRPr sz="2730">
                <a:solidFill>
                  <a:srgbClr val="6A9955"/>
                </a:solidFill>
                <a:latin typeface="Menlo Regular"/>
                <a:ea typeface="Menlo Regular"/>
                <a:cs typeface="Menlo Regular"/>
                <a:sym typeface="Menlo Regular"/>
              </a:defRPr>
            </a:pPr>
            <a:r>
              <a:t> * </a:t>
            </a:r>
            <a:r>
              <a:rPr>
                <a:solidFill>
                  <a:srgbClr val="569CD6"/>
                </a:solidFill>
              </a:rPr>
              <a:t>@brief</a:t>
            </a:r>
            <a:r>
              <a:t> Reads temperature from sensor</a:t>
            </a:r>
            <a:endParaRPr>
              <a:solidFill>
                <a:srgbClr val="D4D4D4"/>
              </a:solidFill>
            </a:endParaRPr>
          </a:p>
          <a:p>
            <a:pPr defTabSz="416052">
              <a:defRPr sz="2730">
                <a:solidFill>
                  <a:srgbClr val="6A9955"/>
                </a:solidFill>
                <a:latin typeface="Menlo Regular"/>
                <a:ea typeface="Menlo Regular"/>
                <a:cs typeface="Menlo Regular"/>
                <a:sym typeface="Menlo Regular"/>
              </a:defRPr>
            </a:pPr>
            <a:r>
              <a:t> * </a:t>
            </a:r>
            <a:r>
              <a:rPr>
                <a:solidFill>
                  <a:srgbClr val="569CD6"/>
                </a:solidFill>
              </a:rPr>
              <a:t>@param</a:t>
            </a:r>
            <a:r>
              <a:t> </a:t>
            </a:r>
            <a:r>
              <a:rPr>
                <a:solidFill>
                  <a:srgbClr val="9CDCFE"/>
                </a:solidFill>
              </a:rPr>
              <a:t>sensor</a:t>
            </a:r>
            <a:r>
              <a:t> Pointer to sensor instance</a:t>
            </a:r>
            <a:endParaRPr>
              <a:solidFill>
                <a:srgbClr val="D4D4D4"/>
              </a:solidFill>
            </a:endParaRPr>
          </a:p>
          <a:p>
            <a:pPr defTabSz="416052">
              <a:defRPr sz="2730">
                <a:solidFill>
                  <a:srgbClr val="6A9955"/>
                </a:solidFill>
                <a:latin typeface="Menlo Regular"/>
                <a:ea typeface="Menlo Regular"/>
                <a:cs typeface="Menlo Regular"/>
                <a:sym typeface="Menlo Regular"/>
              </a:defRPr>
            </a:pPr>
            <a:r>
              <a:t> * </a:t>
            </a:r>
            <a:r>
              <a:rPr>
                <a:solidFill>
                  <a:srgbClr val="569CD6"/>
                </a:solidFill>
              </a:rPr>
              <a:t>@return</a:t>
            </a:r>
            <a:r>
              <a:t> Temperature value in degrees Celsius</a:t>
            </a:r>
            <a:endParaRPr>
              <a:solidFill>
                <a:srgbClr val="D4D4D4"/>
              </a:solidFill>
            </a:endParaRPr>
          </a:p>
          <a:p>
            <a:pPr defTabSz="416052">
              <a:defRPr sz="2730">
                <a:solidFill>
                  <a:srgbClr val="6A9955"/>
                </a:solidFill>
                <a:latin typeface="Menlo Regular"/>
                <a:ea typeface="Menlo Regular"/>
                <a:cs typeface="Menlo Regular"/>
                <a:sym typeface="Menlo Regular"/>
              </a:defRPr>
            </a:pPr>
            <a:r>
              <a:t> */</a:t>
            </a:r>
            <a:endParaRPr>
              <a:solidFill>
                <a:srgbClr val="D4D4D4"/>
              </a:solidFill>
            </a:endParaRPr>
          </a:p>
          <a:p>
            <a:pPr defTabSz="416052">
              <a:defRPr sz="2730">
                <a:solidFill>
                  <a:srgbClr val="9CDCFE"/>
                </a:solidFill>
                <a:latin typeface="Menlo Regular"/>
                <a:ea typeface="Menlo Regular"/>
                <a:cs typeface="Menlo Regular"/>
                <a:sym typeface="Menlo Regular"/>
              </a:defRPr>
            </a:pPr>
            <a:r>
              <a:rPr>
                <a:solidFill>
                  <a:srgbClr val="569CD6"/>
                </a:solidFill>
              </a:rPr>
              <a:t>float</a:t>
            </a:r>
            <a:r>
              <a:rPr>
                <a:solidFill>
                  <a:srgbClr val="D4D4D4"/>
                </a:solidFill>
              </a:rPr>
              <a:t> </a:t>
            </a:r>
            <a:r>
              <a:t>readTemperature</a:t>
            </a:r>
            <a:r>
              <a:rPr>
                <a:solidFill>
                  <a:srgbClr val="D4D4D4"/>
                </a:solidFill>
              </a:rPr>
              <a:t>(</a:t>
            </a:r>
            <a:r>
              <a:rPr>
                <a:solidFill>
                  <a:srgbClr val="4EC9B0"/>
                </a:solidFill>
              </a:rPr>
              <a:t>Sensor</a:t>
            </a:r>
            <a:r>
              <a:rPr>
                <a:solidFill>
                  <a:srgbClr val="569CD6"/>
                </a:solidFill>
              </a:rPr>
              <a:t>*</a:t>
            </a:r>
            <a:r>
              <a:rPr>
                <a:solidFill>
                  <a:srgbClr val="D4D4D4"/>
                </a:solidFill>
              </a:rPr>
              <a:t> </a:t>
            </a:r>
            <a:r>
              <a:t>sensor</a:t>
            </a:r>
            <a:r>
              <a:rPr>
                <a:solidFill>
                  <a:srgbClr val="D4D4D4"/>
                </a:solidFill>
              </a:rPr>
              <a:t>) {</a:t>
            </a:r>
            <a:endParaRPr>
              <a:solidFill>
                <a:srgbClr val="D4D4D4"/>
              </a:solidFill>
            </a:endParaRPr>
          </a:p>
          <a:p>
            <a:pPr defTabSz="416052">
              <a:defRPr sz="2730">
                <a:solidFill>
                  <a:srgbClr val="6A9955"/>
                </a:solidFill>
                <a:latin typeface="Menlo Regular"/>
                <a:ea typeface="Menlo Regular"/>
                <a:cs typeface="Menlo Regular"/>
                <a:sym typeface="Menlo Regular"/>
              </a:defRPr>
            </a:pPr>
            <a:r>
              <a:t>    // Read the raw value from the sensor</a:t>
            </a:r>
            <a:endParaRPr>
              <a:solidFill>
                <a:srgbClr val="D4D4D4"/>
              </a:solidFill>
            </a:endParaRPr>
          </a:p>
          <a:p>
            <a:pPr defTabSz="416052">
              <a:defRPr sz="2730">
                <a:solidFill>
                  <a:srgbClr val="569CD6"/>
                </a:solidFill>
                <a:latin typeface="Menlo Regular"/>
                <a:ea typeface="Menlo Regular"/>
                <a:cs typeface="Menlo Regular"/>
                <a:sym typeface="Menlo Regular"/>
              </a:defRPr>
            </a:pPr>
            <a:r>
              <a:rPr>
                <a:solidFill>
                  <a:srgbClr val="D4D4D4"/>
                </a:solidFill>
              </a:rPr>
              <a:t>    </a:t>
            </a:r>
            <a:r>
              <a:t>uint16_t</a:t>
            </a:r>
            <a:r>
              <a:rPr>
                <a:solidFill>
                  <a:srgbClr val="D4D4D4"/>
                </a:solidFill>
              </a:rPr>
              <a:t> raw = </a:t>
            </a:r>
            <a:r>
              <a:rPr>
                <a:solidFill>
                  <a:srgbClr val="9CDCFE"/>
                </a:solidFill>
              </a:rPr>
              <a:t>sensor</a:t>
            </a:r>
            <a:r>
              <a:rPr>
                <a:solidFill>
                  <a:srgbClr val="D4D4D4"/>
                </a:solidFill>
              </a:rPr>
              <a:t>-&gt;</a:t>
            </a:r>
            <a:r>
              <a:rPr>
                <a:solidFill>
                  <a:srgbClr val="DCDCAA"/>
                </a:solidFill>
              </a:rPr>
              <a:t>read</a:t>
            </a:r>
            <a:r>
              <a:rPr>
                <a:solidFill>
                  <a:srgbClr val="D4D4D4"/>
                </a:solidFill>
              </a:rPr>
              <a:t>();</a:t>
            </a:r>
            <a:endParaRPr>
              <a:solidFill>
                <a:srgbClr val="D4D4D4"/>
              </a:solidFill>
            </a:endParaRPr>
          </a:p>
          <a:p>
            <a:pPr defTabSz="416052">
              <a:defRPr sz="2730">
                <a:solidFill>
                  <a:srgbClr val="6A9955"/>
                </a:solidFill>
                <a:latin typeface="Menlo Regular"/>
                <a:ea typeface="Menlo Regular"/>
                <a:cs typeface="Menlo Regular"/>
                <a:sym typeface="Menlo Regular"/>
              </a:defRPr>
            </a:pPr>
            <a:r>
              <a:t>    // Convert to temperature using formula</a:t>
            </a:r>
            <a:endParaRPr>
              <a:solidFill>
                <a:srgbClr val="D4D4D4"/>
              </a:solidFill>
            </a:endParaRPr>
          </a:p>
          <a:p>
            <a:pPr defTabSz="416052">
              <a:defRPr sz="2730">
                <a:solidFill>
                  <a:srgbClr val="D4D4D4"/>
                </a:solidFill>
                <a:latin typeface="Menlo Regular"/>
                <a:ea typeface="Menlo Regular"/>
                <a:cs typeface="Menlo Regular"/>
                <a:sym typeface="Menlo Regular"/>
              </a:defRPr>
            </a:pPr>
            <a:r>
              <a:t>    </a:t>
            </a:r>
            <a:r>
              <a:rPr>
                <a:solidFill>
                  <a:srgbClr val="C586C0"/>
                </a:solidFill>
              </a:rPr>
              <a:t>return</a:t>
            </a:r>
            <a:r>
              <a:t> raw * </a:t>
            </a:r>
            <a:r>
              <a:rPr>
                <a:solidFill>
                  <a:srgbClr val="B5CEA8"/>
                </a:solidFill>
              </a:rPr>
              <a:t>0.0625f</a:t>
            </a:r>
            <a:r>
              <a:t> - </a:t>
            </a:r>
            <a:r>
              <a:rPr>
                <a:solidFill>
                  <a:srgbClr val="B5CEA8"/>
                </a:solidFill>
              </a:rPr>
              <a:t>40.0f</a:t>
            </a:r>
            <a:r>
              <a:t>;</a:t>
            </a:r>
          </a:p>
          <a:p>
            <a:pPr defTabSz="416052">
              <a:defRPr sz="2730">
                <a:solidFill>
                  <a:srgbClr val="D4D4D4"/>
                </a:solidFill>
                <a:latin typeface="Menlo Regular"/>
                <a:ea typeface="Menlo Regular"/>
                <a:cs typeface="Menlo Regular"/>
                <a:sym typeface="Menlo Regular"/>
              </a:defRPr>
            </a:pPr>
            <a:r>
              <a:t>}</a:t>
            </a:r>
          </a:p>
        </p:txBody>
      </p:sp>
    </p:spTree>
  </p:cSld>
  <p:clrMapOvr>
    <a:masterClrMapping/>
  </p:clrMapOvr>
  <p:transition xmlns:p14="http://schemas.microsoft.com/office/powerpoint/2010/main" spd="med" advClick="1"/>
</p:sld>
</file>

<file path=ppt/slides/slide6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0" name="Vibe-documenting"/>
          <p:cNvSpPr txBox="1"/>
          <p:nvPr>
            <p:ph type="title"/>
          </p:nvPr>
        </p:nvSpPr>
        <p:spPr>
          <a:prstGeom prst="rect">
            <a:avLst/>
          </a:prstGeom>
        </p:spPr>
        <p:txBody>
          <a:bodyPr/>
          <a:lstStyle/>
          <a:p>
            <a:pPr/>
            <a:r>
              <a:t>Vibe-documenting</a:t>
            </a:r>
          </a:p>
        </p:txBody>
      </p:sp>
      <p:sp>
        <p:nvSpPr>
          <p:cNvPr id="391" name="The problem:…"/>
          <p:cNvSpPr txBox="1"/>
          <p:nvPr>
            <p:ph type="body" idx="1"/>
          </p:nvPr>
        </p:nvSpPr>
        <p:spPr>
          <a:xfrm>
            <a:off x="1688592" y="3069576"/>
            <a:ext cx="21824355" cy="9296401"/>
          </a:xfrm>
          <a:prstGeom prst="rect">
            <a:avLst/>
          </a:prstGeom>
        </p:spPr>
        <p:txBody>
          <a:bodyPr/>
          <a:lstStyle/>
          <a:p>
            <a:pPr>
              <a:lnSpc>
                <a:spcPct val="120000"/>
              </a:lnSpc>
            </a:pPr>
            <a:r>
              <a:t>The problem:</a:t>
            </a:r>
          </a:p>
          <a:p>
            <a:pPr>
              <a:lnSpc>
                <a:spcPct val="120000"/>
              </a:lnSpc>
            </a:pPr>
            <a:r>
              <a:t>- Where did 0.0625f come from? Where did 40.0f come from?</a:t>
            </a:r>
          </a:p>
          <a:p>
            <a:pPr>
              <a:lnSpc>
                <a:spcPct val="120000"/>
              </a:lnSpc>
            </a:pPr>
          </a:p>
          <a:p>
            <a:pPr>
              <a:lnSpc>
                <a:spcPct val="120000"/>
              </a:lnSpc>
            </a:pPr>
            <a:r>
              <a:t>The AI doesn't know. It pattern-matched from training data. Maybe it's right. Maybe it's hallucinated.</a:t>
            </a:r>
          </a:p>
          <a:p>
            <a:pPr>
              <a:lnSpc>
                <a:spcPct val="120000"/>
              </a:lnSpc>
            </a:pPr>
            <a:r>
              <a:t>You/we don’t know either – we might just accepted it.</a:t>
            </a:r>
            <a:br/>
          </a:p>
          <a:p>
            <a:pPr>
              <a:lnSpc>
                <a:spcPct val="120000"/>
              </a:lnSpc>
            </a:pPr>
            <a:r>
              <a:t>This is vibe documenting:</a:t>
            </a:r>
          </a:p>
          <a:p>
            <a:pPr>
              <a:lnSpc>
                <a:spcPct val="120000"/>
              </a:lnSpc>
            </a:pPr>
            <a:r>
              <a:t>- Comments that look correct</a:t>
            </a:r>
          </a:p>
          <a:p>
            <a:pPr>
              <a:lnSpc>
                <a:spcPct val="120000"/>
              </a:lnSpc>
            </a:pPr>
            <a:r>
              <a:t>- But aren't grounded in actual knowledge</a:t>
            </a:r>
          </a:p>
          <a:p>
            <a:pPr>
              <a:lnSpc>
                <a:spcPct val="120000"/>
              </a:lnSpc>
            </a:pPr>
            <a:r>
              <a:t>- Written by someone (AI) who never read the datasheet</a:t>
            </a:r>
          </a:p>
          <a:p>
            <a:pPr>
              <a:lnSpc>
                <a:spcPct val="120000"/>
              </a:lnSpc>
            </a:pPr>
            <a:r>
              <a:t>- Accepted by someone (developer) who also never read the datasheet</a:t>
            </a:r>
          </a:p>
        </p:txBody>
      </p:sp>
    </p:spTree>
  </p:cSld>
  <p:clrMapOvr>
    <a:masterClrMapping/>
  </p:clrMapOvr>
  <p:transition xmlns:p14="http://schemas.microsoft.com/office/powerpoint/2010/main" spd="med" advClick="1"/>
</p:sld>
</file>

<file path=ppt/slides/slide6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3" name="Vibe-documenting"/>
          <p:cNvSpPr txBox="1"/>
          <p:nvPr>
            <p:ph type="title"/>
          </p:nvPr>
        </p:nvSpPr>
        <p:spPr>
          <a:prstGeom prst="rect">
            <a:avLst/>
          </a:prstGeom>
        </p:spPr>
        <p:txBody>
          <a:bodyPr/>
          <a:lstStyle/>
          <a:p>
            <a:pPr/>
            <a:r>
              <a:t>Vibe-documenting</a:t>
            </a:r>
          </a:p>
        </p:txBody>
      </p:sp>
      <p:sp>
        <p:nvSpPr>
          <p:cNvPr id="394" name="Knowledge vaporization at the point of creation…"/>
          <p:cNvSpPr txBox="1"/>
          <p:nvPr>
            <p:ph type="body" idx="1"/>
          </p:nvPr>
        </p:nvSpPr>
        <p:spPr>
          <a:xfrm>
            <a:off x="1688592" y="3069576"/>
            <a:ext cx="21824355" cy="9296401"/>
          </a:xfrm>
          <a:prstGeom prst="rect">
            <a:avLst/>
          </a:prstGeom>
        </p:spPr>
        <p:txBody>
          <a:bodyPr/>
          <a:lstStyle/>
          <a:p>
            <a:pPr>
              <a:lnSpc>
                <a:spcPct val="120000"/>
              </a:lnSpc>
              <a:defRPr i="1"/>
            </a:pPr>
            <a:r>
              <a:t>Knowledge vaporization at the point of creation</a:t>
            </a:r>
          </a:p>
          <a:p>
            <a:pPr>
              <a:lnSpc>
                <a:spcPct val="120000"/>
              </a:lnSpc>
            </a:pPr>
          </a:p>
          <a:p>
            <a:pPr>
              <a:lnSpc>
                <a:spcPct val="120000"/>
              </a:lnSpc>
            </a:pPr>
            <a:r>
              <a:t>Theo Theunissen described knowledge evaporating over time.</a:t>
            </a:r>
          </a:p>
          <a:p>
            <a:pPr>
              <a:lnSpc>
                <a:spcPct val="120000"/>
              </a:lnSpc>
            </a:pPr>
            <a:r>
              <a:t>- With AI-generated comments, there was </a:t>
            </a:r>
            <a:r>
              <a:rPr i="1"/>
              <a:t>never</a:t>
            </a:r>
            <a:r>
              <a:t> any knowledge to begin with.</a:t>
            </a:r>
          </a:p>
          <a:p>
            <a:pPr>
              <a:lnSpc>
                <a:spcPct val="120000"/>
              </a:lnSpc>
            </a:pPr>
          </a:p>
          <a:p>
            <a:pPr>
              <a:lnSpc>
                <a:spcPct val="120000"/>
              </a:lnSpc>
            </a:pPr>
            <a:r>
              <a:t>The comment says </a:t>
            </a:r>
            <a:r>
              <a:rPr i="1"/>
              <a:t>what</a:t>
            </a:r>
            <a:r>
              <a:t>. But the </a:t>
            </a:r>
            <a:r>
              <a:rPr i="1"/>
              <a:t>why</a:t>
            </a:r>
            <a:r>
              <a:t> was never known by anyone:</a:t>
            </a:r>
          </a:p>
          <a:p>
            <a:pPr>
              <a:lnSpc>
                <a:spcPct val="120000"/>
              </a:lnSpc>
            </a:pPr>
            <a:r>
              <a:t>- Not by the AI (it doesn't "know" anything)</a:t>
            </a:r>
          </a:p>
          <a:p>
            <a:pPr>
              <a:lnSpc>
                <a:spcPct val="120000"/>
              </a:lnSpc>
            </a:pPr>
            <a:r>
              <a:t>- Not by the developer (they didn't research it)</a:t>
            </a:r>
          </a:p>
          <a:p>
            <a:pPr>
              <a:lnSpc>
                <a:spcPct val="120000"/>
              </a:lnSpc>
            </a:pPr>
            <a:r>
              <a:t>- Not by the code reviewer (they see professional-looking docs and approve)</a:t>
            </a:r>
          </a:p>
        </p:txBody>
      </p:sp>
    </p:spTree>
  </p:cSld>
  <p:clrMapOvr>
    <a:masterClrMapping/>
  </p:clrMapOvr>
  <p:transition xmlns:p14="http://schemas.microsoft.com/office/powerpoint/2010/main" spd="med" advClick="1"/>
</p:sld>
</file>

<file path=ppt/slides/slide6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6" name="Vibe-documenting"/>
          <p:cNvSpPr txBox="1"/>
          <p:nvPr>
            <p:ph type="title"/>
          </p:nvPr>
        </p:nvSpPr>
        <p:spPr>
          <a:prstGeom prst="rect">
            <a:avLst/>
          </a:prstGeom>
        </p:spPr>
        <p:txBody>
          <a:bodyPr/>
          <a:lstStyle/>
          <a:p>
            <a:pPr/>
            <a:r>
              <a:t>Vibe-documenting</a:t>
            </a:r>
          </a:p>
        </p:txBody>
      </p:sp>
      <p:sp>
        <p:nvSpPr>
          <p:cNvPr id="397" name="Knowledge vaporization at the point of creation…"/>
          <p:cNvSpPr txBox="1"/>
          <p:nvPr>
            <p:ph type="body" idx="1"/>
          </p:nvPr>
        </p:nvSpPr>
        <p:spPr>
          <a:xfrm>
            <a:off x="1688592" y="3069576"/>
            <a:ext cx="21824355" cy="9296401"/>
          </a:xfrm>
          <a:prstGeom prst="rect">
            <a:avLst/>
          </a:prstGeom>
        </p:spPr>
        <p:txBody>
          <a:bodyPr/>
          <a:lstStyle/>
          <a:p>
            <a:pPr defTabSz="722376">
              <a:lnSpc>
                <a:spcPct val="120000"/>
              </a:lnSpc>
              <a:spcBef>
                <a:spcPts val="700"/>
              </a:spcBef>
              <a:defRPr i="1" sz="3002"/>
            </a:pPr>
            <a:r>
              <a:t>Knowledge vaporization at the point of creation</a:t>
            </a:r>
          </a:p>
          <a:p>
            <a:pPr defTabSz="722376">
              <a:lnSpc>
                <a:spcPct val="120000"/>
              </a:lnSpc>
              <a:spcBef>
                <a:spcPts val="700"/>
              </a:spcBef>
              <a:defRPr sz="3002"/>
            </a:pPr>
          </a:p>
          <a:p>
            <a:pPr defTabSz="722376">
              <a:lnSpc>
                <a:spcPct val="120000"/>
              </a:lnSpc>
              <a:spcBef>
                <a:spcPts val="700"/>
              </a:spcBef>
              <a:defRPr sz="3002"/>
            </a:pPr>
            <a:r>
              <a:t>Theo Theunissen described knowledge evaporating over time.</a:t>
            </a:r>
          </a:p>
          <a:p>
            <a:pPr defTabSz="722376">
              <a:lnSpc>
                <a:spcPct val="120000"/>
              </a:lnSpc>
              <a:spcBef>
                <a:spcPts val="700"/>
              </a:spcBef>
              <a:defRPr sz="3002"/>
            </a:pPr>
            <a:r>
              <a:t>- With AI-generated comments, there was </a:t>
            </a:r>
            <a:r>
              <a:rPr i="1"/>
              <a:t>never</a:t>
            </a:r>
            <a:r>
              <a:t> any knowledge to begin with.</a:t>
            </a:r>
          </a:p>
          <a:p>
            <a:pPr defTabSz="722376">
              <a:lnSpc>
                <a:spcPct val="120000"/>
              </a:lnSpc>
              <a:spcBef>
                <a:spcPts val="700"/>
              </a:spcBef>
              <a:defRPr sz="3002"/>
            </a:pPr>
          </a:p>
          <a:p>
            <a:pPr defTabSz="722376">
              <a:lnSpc>
                <a:spcPct val="120000"/>
              </a:lnSpc>
              <a:spcBef>
                <a:spcPts val="700"/>
              </a:spcBef>
              <a:defRPr sz="3002"/>
            </a:pPr>
            <a:r>
              <a:t>The comment says </a:t>
            </a:r>
            <a:r>
              <a:rPr i="1"/>
              <a:t>what</a:t>
            </a:r>
            <a:r>
              <a:t>. But the </a:t>
            </a:r>
            <a:r>
              <a:rPr i="1"/>
              <a:t>why</a:t>
            </a:r>
            <a:r>
              <a:t> was never known by anyone:</a:t>
            </a:r>
          </a:p>
          <a:p>
            <a:pPr defTabSz="722376">
              <a:lnSpc>
                <a:spcPct val="120000"/>
              </a:lnSpc>
              <a:spcBef>
                <a:spcPts val="700"/>
              </a:spcBef>
              <a:defRPr sz="3002"/>
            </a:pPr>
            <a:r>
              <a:t>- Not by the AI (it doesn't "know" anything)</a:t>
            </a:r>
          </a:p>
          <a:p>
            <a:pPr defTabSz="722376">
              <a:lnSpc>
                <a:spcPct val="120000"/>
              </a:lnSpc>
              <a:spcBef>
                <a:spcPts val="700"/>
              </a:spcBef>
              <a:defRPr sz="3002"/>
            </a:pPr>
            <a:r>
              <a:t>- Not by the developer (they didn't research it)</a:t>
            </a:r>
          </a:p>
          <a:p>
            <a:pPr defTabSz="722376">
              <a:lnSpc>
                <a:spcPct val="120000"/>
              </a:lnSpc>
              <a:spcBef>
                <a:spcPts val="700"/>
              </a:spcBef>
              <a:defRPr sz="3002"/>
            </a:pPr>
            <a:r>
              <a:t>- Not by the code reviewer (they see professional-looking docs and approve)</a:t>
            </a:r>
          </a:p>
          <a:p>
            <a:pPr defTabSz="722376">
              <a:lnSpc>
                <a:spcPct val="120000"/>
              </a:lnSpc>
              <a:spcBef>
                <a:spcPts val="700"/>
              </a:spcBef>
              <a:defRPr sz="3002"/>
            </a:pPr>
          </a:p>
          <a:p>
            <a:pPr defTabSz="722376">
              <a:lnSpc>
                <a:spcPct val="120000"/>
              </a:lnSpc>
              <a:spcBef>
                <a:spcPts val="700"/>
              </a:spcBef>
              <a:defRPr b="1" sz="3002"/>
            </a:pPr>
            <a:r>
              <a:t>The real danger:</a:t>
            </a:r>
          </a:p>
          <a:p>
            <a:pPr defTabSz="722376">
              <a:lnSpc>
                <a:spcPct val="120000"/>
              </a:lnSpc>
              <a:spcBef>
                <a:spcPts val="700"/>
              </a:spcBef>
              <a:defRPr sz="3002"/>
            </a:pPr>
            <a:r>
              <a:t>- Six months later, someone asks: "Why 40.0f? Can we change it?"</a:t>
            </a:r>
          </a:p>
          <a:p>
            <a:pPr defTabSz="722376">
              <a:lnSpc>
                <a:spcPct val="120000"/>
              </a:lnSpc>
              <a:spcBef>
                <a:spcPts val="700"/>
              </a:spcBef>
              <a:defRPr sz="3002"/>
            </a:pPr>
            <a:r>
              <a:t>- Nobody knows. The "documentation" is fiction. </a:t>
            </a:r>
          </a:p>
          <a:p>
            <a:pPr defTabSz="722376">
              <a:lnSpc>
                <a:spcPct val="120000"/>
              </a:lnSpc>
              <a:spcBef>
                <a:spcPts val="700"/>
              </a:spcBef>
              <a:defRPr sz="3002"/>
            </a:pPr>
            <a:r>
              <a:t>- The original developer can't answer because they never knew. </a:t>
            </a:r>
          </a:p>
          <a:p>
            <a:pPr defTabSz="722376">
              <a:lnSpc>
                <a:spcPct val="120000"/>
              </a:lnSpc>
              <a:spcBef>
                <a:spcPts val="700"/>
              </a:spcBef>
              <a:defRPr sz="3002"/>
            </a:pPr>
            <a:r>
              <a:t>- The knowledge didn't vaporize – it never condensed in the first place.</a:t>
            </a:r>
          </a:p>
        </p:txBody>
      </p:sp>
    </p:spTree>
  </p:cSld>
  <p:clrMapOvr>
    <a:masterClrMapping/>
  </p:clrMapOvr>
  <p:transition xmlns:p14="http://schemas.microsoft.com/office/powerpoint/2010/main" spd="med" advClick="1"/>
</p:sld>
</file>

<file path=ppt/slides/slide6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9" name="LLM’s usefulness in Commenting and Documenting"/>
          <p:cNvSpPr txBox="1"/>
          <p:nvPr>
            <p:ph type="title"/>
          </p:nvPr>
        </p:nvSpPr>
        <p:spPr>
          <a:prstGeom prst="rect">
            <a:avLst/>
          </a:prstGeom>
        </p:spPr>
        <p:txBody>
          <a:bodyPr/>
          <a:lstStyle/>
          <a:p>
            <a:pPr/>
            <a:r>
              <a:t>LLM’s usefulness in Commenting and Documenting</a:t>
            </a:r>
          </a:p>
        </p:txBody>
      </p:sp>
      <p:sp>
        <p:nvSpPr>
          <p:cNvPr id="400" name="When AI can help…"/>
          <p:cNvSpPr txBox="1"/>
          <p:nvPr>
            <p:ph type="body" idx="1"/>
          </p:nvPr>
        </p:nvSpPr>
        <p:spPr>
          <a:xfrm>
            <a:off x="1688592" y="3069576"/>
            <a:ext cx="21824355" cy="9296401"/>
          </a:xfrm>
          <a:prstGeom prst="rect">
            <a:avLst/>
          </a:prstGeom>
        </p:spPr>
        <p:txBody>
          <a:bodyPr/>
          <a:lstStyle/>
          <a:p>
            <a:pPr defTabSz="850391">
              <a:lnSpc>
                <a:spcPct val="120000"/>
              </a:lnSpc>
              <a:spcBef>
                <a:spcPts val="900"/>
              </a:spcBef>
              <a:defRPr sz="3534"/>
            </a:pPr>
            <a:r>
              <a:t>When AI </a:t>
            </a:r>
            <a:r>
              <a:rPr i="1"/>
              <a:t>can</a:t>
            </a:r>
            <a:r>
              <a:t> help</a:t>
            </a:r>
          </a:p>
          <a:p>
            <a:pPr defTabSz="850391">
              <a:lnSpc>
                <a:spcPct val="120000"/>
              </a:lnSpc>
              <a:spcBef>
                <a:spcPts val="900"/>
              </a:spcBef>
              <a:defRPr i="1" sz="3534"/>
            </a:pPr>
            <a:br/>
            <a:r>
              <a:rPr i="0"/>
              <a:t>AI is useful for:</a:t>
            </a:r>
            <a:endParaRPr i="0"/>
          </a:p>
          <a:p>
            <a:pPr defTabSz="850391">
              <a:lnSpc>
                <a:spcPct val="120000"/>
              </a:lnSpc>
              <a:spcBef>
                <a:spcPts val="900"/>
              </a:spcBef>
              <a:defRPr sz="3534"/>
            </a:pPr>
            <a:r>
              <a:t>- Boilerplate: </a:t>
            </a:r>
            <a:r>
              <a:rPr i="1"/>
              <a:t>"Generate Doxygen template for this function"</a:t>
            </a:r>
            <a:endParaRPr i="1"/>
          </a:p>
          <a:p>
            <a:pPr defTabSz="850391">
              <a:lnSpc>
                <a:spcPct val="120000"/>
              </a:lnSpc>
              <a:spcBef>
                <a:spcPts val="900"/>
              </a:spcBef>
              <a:defRPr sz="3534"/>
            </a:pPr>
            <a:r>
              <a:t>- Grammar/clarity: </a:t>
            </a:r>
            <a:r>
              <a:rPr i="1"/>
              <a:t>"Improve the wording of this comment"</a:t>
            </a:r>
            <a:endParaRPr i="1"/>
          </a:p>
          <a:p>
            <a:pPr defTabSz="850391">
              <a:lnSpc>
                <a:spcPct val="120000"/>
              </a:lnSpc>
              <a:spcBef>
                <a:spcPts val="900"/>
              </a:spcBef>
              <a:defRPr sz="3534"/>
            </a:pPr>
            <a:r>
              <a:t>- Format conversion: </a:t>
            </a:r>
            <a:r>
              <a:rPr i="1"/>
              <a:t>"Convert these comments to Doxygen format"</a:t>
            </a:r>
            <a:endParaRPr i="1"/>
          </a:p>
          <a:p>
            <a:pPr defTabSz="850391">
              <a:lnSpc>
                <a:spcPct val="120000"/>
              </a:lnSpc>
              <a:spcBef>
                <a:spcPts val="900"/>
              </a:spcBef>
              <a:defRPr sz="3534"/>
            </a:pPr>
          </a:p>
          <a:p>
            <a:pPr defTabSz="850391">
              <a:lnSpc>
                <a:spcPct val="120000"/>
              </a:lnSpc>
              <a:spcBef>
                <a:spcPts val="900"/>
              </a:spcBef>
              <a:defRPr sz="3534"/>
            </a:pPr>
            <a:r>
              <a:t>But you must supply:</a:t>
            </a:r>
          </a:p>
          <a:p>
            <a:pPr defTabSz="850391">
              <a:lnSpc>
                <a:spcPct val="120000"/>
              </a:lnSpc>
              <a:spcBef>
                <a:spcPts val="900"/>
              </a:spcBef>
              <a:defRPr sz="3534"/>
            </a:pPr>
            <a:r>
              <a:t>- The </a:t>
            </a:r>
            <a:r>
              <a:rPr i="1"/>
              <a:t>why</a:t>
            </a:r>
          </a:p>
          <a:p>
            <a:pPr defTabSz="850391">
              <a:lnSpc>
                <a:spcPct val="120000"/>
              </a:lnSpc>
              <a:spcBef>
                <a:spcPts val="900"/>
              </a:spcBef>
              <a:defRPr sz="3534"/>
            </a:pPr>
            <a:r>
              <a:t>- The datasheet references</a:t>
            </a:r>
          </a:p>
          <a:p>
            <a:pPr defTabSz="850391">
              <a:lnSpc>
                <a:spcPct val="120000"/>
              </a:lnSpc>
              <a:spcBef>
                <a:spcPts val="900"/>
              </a:spcBef>
              <a:defRPr sz="3534"/>
            </a:pPr>
            <a:r>
              <a:t>- The design decisions</a:t>
            </a:r>
          </a:p>
          <a:p>
            <a:pPr defTabSz="850391">
              <a:lnSpc>
                <a:spcPct val="120000"/>
              </a:lnSpc>
              <a:spcBef>
                <a:spcPts val="900"/>
              </a:spcBef>
              <a:defRPr sz="3534"/>
            </a:pPr>
            <a:r>
              <a:t>- The validation evidence</a:t>
            </a:r>
          </a:p>
        </p:txBody>
      </p:sp>
    </p:spTree>
  </p:cSld>
  <p:clrMapOvr>
    <a:masterClrMapping/>
  </p:clrMapOvr>
  <p:transition xmlns:p14="http://schemas.microsoft.com/office/powerpoint/2010/main" spd="med" advClick="1"/>
</p:sld>
</file>

<file path=ppt/slides/slide6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2" name="LLM’s usefulness in Commenting and Documenting"/>
          <p:cNvSpPr txBox="1"/>
          <p:nvPr>
            <p:ph type="title"/>
          </p:nvPr>
        </p:nvSpPr>
        <p:spPr>
          <a:prstGeom prst="rect">
            <a:avLst/>
          </a:prstGeom>
        </p:spPr>
        <p:txBody>
          <a:bodyPr/>
          <a:lstStyle/>
          <a:p>
            <a:pPr/>
            <a:r>
              <a:t>LLM’s usefulness in Commenting and Documenting</a:t>
            </a:r>
          </a:p>
        </p:txBody>
      </p:sp>
      <p:sp>
        <p:nvSpPr>
          <p:cNvPr id="403" name="The rule…"/>
          <p:cNvSpPr txBox="1"/>
          <p:nvPr>
            <p:ph type="body" idx="1"/>
          </p:nvPr>
        </p:nvSpPr>
        <p:spPr>
          <a:xfrm>
            <a:off x="1688592" y="3069576"/>
            <a:ext cx="21824355" cy="9296401"/>
          </a:xfrm>
          <a:prstGeom prst="rect">
            <a:avLst/>
          </a:prstGeom>
        </p:spPr>
        <p:txBody>
          <a:bodyPr/>
          <a:lstStyle/>
          <a:p>
            <a:pPr>
              <a:lnSpc>
                <a:spcPct val="120000"/>
              </a:lnSpc>
              <a:defRPr b="1"/>
            </a:pPr>
            <a:r>
              <a:t>The rule</a:t>
            </a:r>
          </a:p>
          <a:p>
            <a:pPr>
              <a:lnSpc>
                <a:spcPct val="120000"/>
              </a:lnSpc>
            </a:pPr>
            <a:r>
              <a:t>AI can help you write comments. </a:t>
            </a:r>
          </a:p>
          <a:p>
            <a:pPr>
              <a:lnSpc>
                <a:spcPct val="120000"/>
              </a:lnSpc>
            </a:pPr>
            <a:r>
              <a:t>AI cannot help you know what to write.</a:t>
            </a:r>
          </a:p>
        </p:txBody>
      </p:sp>
    </p:spTree>
  </p:cSld>
  <p:clrMapOvr>
    <a:masterClrMapping/>
  </p:clrMapOvr>
  <p:transition xmlns:p14="http://schemas.microsoft.com/office/powerpoint/2010/main" spd="med" advClick="1"/>
</p:sld>
</file>

<file path=ppt/slides/slide7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5" name="Final topic: Vibe-documenting"/>
          <p:cNvSpPr txBox="1"/>
          <p:nvPr>
            <p:ph type="title"/>
          </p:nvPr>
        </p:nvSpPr>
        <p:spPr>
          <a:prstGeom prst="rect">
            <a:avLst/>
          </a:prstGeom>
        </p:spPr>
        <p:txBody>
          <a:bodyPr/>
          <a:lstStyle/>
          <a:p>
            <a:pPr/>
            <a:r>
              <a:t>Final topic: Vibe-documenting</a:t>
            </a:r>
          </a:p>
        </p:txBody>
      </p:sp>
      <p:sp>
        <p:nvSpPr>
          <p:cNvPr id="406" name="Is this documentation complete?"/>
          <p:cNvSpPr txBox="1"/>
          <p:nvPr>
            <p:ph type="body" idx="1"/>
          </p:nvPr>
        </p:nvSpPr>
        <p:spPr>
          <a:xfrm>
            <a:off x="1688592" y="3069576"/>
            <a:ext cx="21824355" cy="9296401"/>
          </a:xfrm>
          <a:prstGeom prst="rect">
            <a:avLst/>
          </a:prstGeom>
        </p:spPr>
        <p:txBody>
          <a:bodyPr/>
          <a:lstStyle>
            <a:lvl1pPr>
              <a:lnSpc>
                <a:spcPct val="120000"/>
              </a:lnSpc>
              <a:defRPr i="1"/>
            </a:lvl1pPr>
          </a:lstStyle>
          <a:p>
            <a:pPr/>
            <a:r>
              <a:t>Is this documentation complete?</a:t>
            </a:r>
          </a:p>
        </p:txBody>
      </p:sp>
      <p:sp>
        <p:nvSpPr>
          <p:cNvPr id="407" name="Rechthoek"/>
          <p:cNvSpPr/>
          <p:nvPr/>
        </p:nvSpPr>
        <p:spPr>
          <a:xfrm>
            <a:off x="1625640" y="5047595"/>
            <a:ext cx="18886873" cy="5161439"/>
          </a:xfrm>
          <a:prstGeom prst="rect">
            <a:avLst/>
          </a:prstGeom>
          <a:solidFill>
            <a:srgbClr val="1E1E1E"/>
          </a:solidFill>
          <a:ln w="12700">
            <a:solidFill>
              <a:schemeClr val="accent1"/>
            </a:solidFill>
            <a:miter/>
          </a:ln>
        </p:spPr>
        <p:txBody>
          <a:bodyPr lIns="45719" rIns="45719" anchor="ctr"/>
          <a:lstStyle/>
          <a:p>
            <a:pPr/>
          </a:p>
        </p:txBody>
      </p:sp>
      <p:sp>
        <p:nvSpPr>
          <p:cNvPr id="408" name="/**…"/>
          <p:cNvSpPr txBox="1"/>
          <p:nvPr/>
        </p:nvSpPr>
        <p:spPr>
          <a:xfrm>
            <a:off x="1688592" y="5101576"/>
            <a:ext cx="21824355" cy="505347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defTabSz="457200">
              <a:defRPr sz="3000">
                <a:solidFill>
                  <a:srgbClr val="6A9955"/>
                </a:solidFill>
                <a:latin typeface="Menlo Regular"/>
                <a:ea typeface="Menlo Regular"/>
                <a:cs typeface="Menlo Regular"/>
                <a:sym typeface="Menlo Regular"/>
              </a:defRPr>
            </a:pPr>
            <a:r>
              <a:t>/**</a:t>
            </a:r>
            <a:endParaRPr>
              <a:solidFill>
                <a:srgbClr val="D4D4D4"/>
              </a:solidFill>
            </a:endParaRPr>
          </a:p>
          <a:p>
            <a:pPr defTabSz="457200">
              <a:defRPr sz="3000">
                <a:solidFill>
                  <a:srgbClr val="6A9955"/>
                </a:solidFill>
                <a:latin typeface="Menlo Regular"/>
                <a:ea typeface="Menlo Regular"/>
                <a:cs typeface="Menlo Regular"/>
                <a:sym typeface="Menlo Regular"/>
              </a:defRPr>
            </a:pPr>
            <a:r>
              <a:t> * </a:t>
            </a:r>
            <a:r>
              <a:rPr>
                <a:solidFill>
                  <a:srgbClr val="569CD6"/>
                </a:solidFill>
              </a:rPr>
              <a:t>@brief</a:t>
            </a:r>
            <a:r>
              <a:t> Waits for sensor to stabilise</a:t>
            </a:r>
            <a:endParaRPr>
              <a:solidFill>
                <a:srgbClr val="D4D4D4"/>
              </a:solidFill>
            </a:endParaRPr>
          </a:p>
          <a:p>
            <a:pPr defTabSz="457200">
              <a:defRPr sz="3000">
                <a:solidFill>
                  <a:srgbClr val="6A9955"/>
                </a:solidFill>
                <a:latin typeface="Menlo Regular"/>
                <a:ea typeface="Menlo Regular"/>
                <a:cs typeface="Menlo Regular"/>
                <a:sym typeface="Menlo Regular"/>
              </a:defRPr>
            </a:pPr>
            <a:r>
              <a:t> * </a:t>
            </a:r>
            <a:r>
              <a:rPr>
                <a:solidFill>
                  <a:srgbClr val="569CD6"/>
                </a:solidFill>
              </a:rPr>
              <a:t>@param</a:t>
            </a:r>
            <a:r>
              <a:t> </a:t>
            </a:r>
            <a:r>
              <a:rPr>
                <a:solidFill>
                  <a:srgbClr val="9CDCFE"/>
                </a:solidFill>
              </a:rPr>
              <a:t>ms</a:t>
            </a:r>
            <a:r>
              <a:t> Milliseconds to wait</a:t>
            </a:r>
            <a:endParaRPr>
              <a:solidFill>
                <a:srgbClr val="D4D4D4"/>
              </a:solidFill>
            </a:endParaRPr>
          </a:p>
          <a:p>
            <a:pPr defTabSz="457200">
              <a:defRPr sz="3000">
                <a:solidFill>
                  <a:srgbClr val="6A9955"/>
                </a:solidFill>
                <a:latin typeface="Menlo Regular"/>
                <a:ea typeface="Menlo Regular"/>
                <a:cs typeface="Menlo Regular"/>
                <a:sym typeface="Menlo Regular"/>
              </a:defRPr>
            </a:pPr>
            <a:r>
              <a:t> */</a:t>
            </a:r>
            <a:endParaRPr>
              <a:solidFill>
                <a:srgbClr val="D4D4D4"/>
              </a:solidFill>
            </a:endParaRPr>
          </a:p>
          <a:p>
            <a:pPr defTabSz="457200">
              <a:defRPr sz="3000">
                <a:solidFill>
                  <a:srgbClr val="DCDCAA"/>
                </a:solidFill>
                <a:latin typeface="Menlo Regular"/>
                <a:ea typeface="Menlo Regular"/>
                <a:cs typeface="Menlo Regular"/>
                <a:sym typeface="Menlo Regular"/>
              </a:defRPr>
            </a:pPr>
            <a:r>
              <a:rPr>
                <a:solidFill>
                  <a:srgbClr val="569CD6"/>
                </a:solidFill>
              </a:rPr>
              <a:t>void</a:t>
            </a:r>
            <a:r>
              <a:rPr>
                <a:solidFill>
                  <a:srgbClr val="D4D4D4"/>
                </a:solidFill>
              </a:rPr>
              <a:t> </a:t>
            </a:r>
            <a:r>
              <a:t>stabilisationDelay</a:t>
            </a:r>
            <a:r>
              <a:rPr>
                <a:solidFill>
                  <a:srgbClr val="D4D4D4"/>
                </a:solidFill>
              </a:rPr>
              <a:t>(</a:t>
            </a:r>
            <a:r>
              <a:rPr>
                <a:solidFill>
                  <a:srgbClr val="569CD6"/>
                </a:solidFill>
              </a:rPr>
              <a:t>uint16_t</a:t>
            </a:r>
            <a:r>
              <a:rPr>
                <a:solidFill>
                  <a:srgbClr val="D4D4D4"/>
                </a:solidFill>
              </a:rPr>
              <a:t> </a:t>
            </a:r>
            <a:r>
              <a:rPr>
                <a:solidFill>
                  <a:srgbClr val="9CDCFE"/>
                </a:solidFill>
              </a:rPr>
              <a:t>ms</a:t>
            </a:r>
            <a:r>
              <a:rPr>
                <a:solidFill>
                  <a:srgbClr val="D4D4D4"/>
                </a:solidFill>
              </a:rPr>
              <a:t>) {</a:t>
            </a:r>
            <a:endParaRPr>
              <a:solidFill>
                <a:srgbClr val="D4D4D4"/>
              </a:solidFill>
            </a:endParaRPr>
          </a:p>
          <a:p>
            <a:pPr defTabSz="457200">
              <a:defRPr sz="3000">
                <a:solidFill>
                  <a:srgbClr val="DCDCAA"/>
                </a:solidFill>
                <a:latin typeface="Menlo Regular"/>
                <a:ea typeface="Menlo Regular"/>
                <a:cs typeface="Menlo Regular"/>
                <a:sym typeface="Menlo Regular"/>
              </a:defRPr>
            </a:pPr>
            <a:r>
              <a:rPr>
                <a:solidFill>
                  <a:srgbClr val="D4D4D4"/>
                </a:solidFill>
              </a:rPr>
              <a:t>    </a:t>
            </a:r>
            <a:r>
              <a:t>delay</a:t>
            </a:r>
            <a:r>
              <a:rPr>
                <a:solidFill>
                  <a:srgbClr val="D4D4D4"/>
                </a:solidFill>
              </a:rPr>
              <a:t>(</a:t>
            </a:r>
            <a:r>
              <a:rPr>
                <a:solidFill>
                  <a:srgbClr val="9CDCFE"/>
                </a:solidFill>
              </a:rPr>
              <a:t>ms</a:t>
            </a:r>
            <a:r>
              <a:rPr>
                <a:solidFill>
                  <a:srgbClr val="D4D4D4"/>
                </a:solidFill>
              </a:rPr>
              <a:t>);</a:t>
            </a:r>
            <a:endParaRPr>
              <a:solidFill>
                <a:srgbClr val="D4D4D4"/>
              </a:solidFill>
            </a:endParaRPr>
          </a:p>
          <a:p>
            <a:pPr defTabSz="457200">
              <a:defRPr sz="3000">
                <a:solidFill>
                  <a:srgbClr val="D4D4D4"/>
                </a:solidFill>
                <a:latin typeface="Menlo Regular"/>
                <a:ea typeface="Menlo Regular"/>
                <a:cs typeface="Menlo Regular"/>
                <a:sym typeface="Menlo Regular"/>
              </a:defRPr>
            </a:pPr>
            <a:r>
              <a:t>}</a:t>
            </a:r>
          </a:p>
        </p:txBody>
      </p:sp>
    </p:spTree>
  </p:cSld>
  <p:clrMapOvr>
    <a:masterClrMapping/>
  </p:clrMapOvr>
  <p:transition xmlns:p14="http://schemas.microsoft.com/office/powerpoint/2010/main" spd="med" advClick="1"/>
</p:sld>
</file>

<file path=ppt/slides/slide7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2" name="LLM/AI as documentation assistant"/>
          <p:cNvSpPr txBox="1"/>
          <p:nvPr>
            <p:ph type="title"/>
          </p:nvPr>
        </p:nvSpPr>
        <p:spPr>
          <a:prstGeom prst="rect">
            <a:avLst/>
          </a:prstGeom>
        </p:spPr>
        <p:txBody>
          <a:bodyPr/>
          <a:lstStyle/>
          <a:p>
            <a:pPr/>
            <a:r>
              <a:t>LLM/AI as documentation assistant</a:t>
            </a:r>
          </a:p>
        </p:txBody>
      </p:sp>
      <p:sp>
        <p:nvSpPr>
          <p:cNvPr id="413" name="AI as documentation assistant, not documentation author…"/>
          <p:cNvSpPr txBox="1"/>
          <p:nvPr>
            <p:ph type="body" idx="1"/>
          </p:nvPr>
        </p:nvSpPr>
        <p:spPr>
          <a:xfrm>
            <a:off x="1688592" y="3069576"/>
            <a:ext cx="21824355" cy="9296401"/>
          </a:xfrm>
          <a:prstGeom prst="rect">
            <a:avLst/>
          </a:prstGeom>
        </p:spPr>
        <p:txBody>
          <a:bodyPr/>
          <a:lstStyle/>
          <a:p>
            <a:pPr>
              <a:lnSpc>
                <a:spcPct val="120000"/>
              </a:lnSpc>
            </a:pPr>
            <a:r>
              <a:t>AI as documentation assistant, not documentation author</a:t>
            </a:r>
            <a:br/>
          </a:p>
          <a:p>
            <a:pPr>
              <a:lnSpc>
                <a:spcPct val="120000"/>
              </a:lnSpc>
              <a:defRPr b="1"/>
            </a:pPr>
            <a:r>
              <a:t>Bad prompt:</a:t>
            </a:r>
          </a:p>
          <a:p>
            <a:pPr>
              <a:lnSpc>
                <a:spcPct val="120000"/>
              </a:lnSpc>
            </a:pPr>
            <a:r>
              <a:t>“Add comments to this code”</a:t>
            </a:r>
          </a:p>
        </p:txBody>
      </p:sp>
    </p:spTree>
  </p:cSld>
  <p:clrMapOvr>
    <a:masterClrMapping/>
  </p:clrMapOvr>
  <p:transition xmlns:p14="http://schemas.microsoft.com/office/powerpoint/2010/main" spd="med" advClick="1"/>
</p:sld>
</file>

<file path=ppt/slides/slide7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5" name="LLM/AI as documentation assistant"/>
          <p:cNvSpPr txBox="1"/>
          <p:nvPr>
            <p:ph type="title"/>
          </p:nvPr>
        </p:nvSpPr>
        <p:spPr>
          <a:prstGeom prst="rect">
            <a:avLst/>
          </a:prstGeom>
        </p:spPr>
        <p:txBody>
          <a:bodyPr/>
          <a:lstStyle/>
          <a:p>
            <a:pPr/>
            <a:r>
              <a:t>LLM/AI as documentation assistant</a:t>
            </a:r>
          </a:p>
        </p:txBody>
      </p:sp>
      <p:sp>
        <p:nvSpPr>
          <p:cNvPr id="416" name="AI as documentation assistant, not documentation author…"/>
          <p:cNvSpPr txBox="1"/>
          <p:nvPr>
            <p:ph type="body" idx="1"/>
          </p:nvPr>
        </p:nvSpPr>
        <p:spPr>
          <a:xfrm>
            <a:off x="1688592" y="3069576"/>
            <a:ext cx="21824355" cy="9296401"/>
          </a:xfrm>
          <a:prstGeom prst="rect">
            <a:avLst/>
          </a:prstGeom>
        </p:spPr>
        <p:txBody>
          <a:bodyPr/>
          <a:lstStyle/>
          <a:p>
            <a:pPr>
              <a:lnSpc>
                <a:spcPct val="120000"/>
              </a:lnSpc>
            </a:pPr>
            <a:r>
              <a:t>AI as documentation assistant, not documentation author</a:t>
            </a:r>
            <a:br/>
          </a:p>
          <a:p>
            <a:pPr>
              <a:lnSpc>
                <a:spcPct val="120000"/>
              </a:lnSpc>
              <a:defRPr b="1"/>
            </a:pPr>
            <a:r>
              <a:t>Bad prompt:</a:t>
            </a:r>
          </a:p>
          <a:p>
            <a:pPr>
              <a:lnSpc>
                <a:spcPct val="120000"/>
              </a:lnSpc>
            </a:pPr>
            <a:r>
              <a:t>“Add comments to this code”</a:t>
            </a:r>
          </a:p>
          <a:p>
            <a:pPr>
              <a:lnSpc>
                <a:spcPct val="120000"/>
              </a:lnSpc>
            </a:pPr>
          </a:p>
          <a:p>
            <a:pPr>
              <a:lnSpc>
                <a:spcPct val="120000"/>
              </a:lnSpc>
              <a:defRPr b="1"/>
            </a:pPr>
            <a:r>
              <a:t>Better prompt:</a:t>
            </a:r>
          </a:p>
          <a:p>
            <a:pPr>
              <a:lnSpc>
                <a:spcPct val="120000"/>
              </a:lnSpc>
            </a:pPr>
            <a:r>
              <a:t>“Here is the SHT31 datasheet. Document this code with references to the relevant datasheet sections.”</a:t>
            </a:r>
          </a:p>
        </p:txBody>
      </p:sp>
    </p:spTree>
  </p:cSld>
  <p:clrMapOvr>
    <a:masterClrMapping/>
  </p:clrMapOvr>
  <p:transition xmlns:p14="http://schemas.microsoft.com/office/powerpoint/2010/main" spd="med" advClick="1"/>
</p:sld>
</file>

<file path=ppt/slides/slide7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8" name="LLM/AI as documentation assistant"/>
          <p:cNvSpPr txBox="1"/>
          <p:nvPr>
            <p:ph type="title"/>
          </p:nvPr>
        </p:nvSpPr>
        <p:spPr>
          <a:prstGeom prst="rect">
            <a:avLst/>
          </a:prstGeom>
        </p:spPr>
        <p:txBody>
          <a:bodyPr/>
          <a:lstStyle/>
          <a:p>
            <a:pPr/>
            <a:r>
              <a:t>LLM/AI as documentation assistant</a:t>
            </a:r>
          </a:p>
        </p:txBody>
      </p:sp>
      <p:sp>
        <p:nvSpPr>
          <p:cNvPr id="419" name="AI as documentation assistant, not documentation author…"/>
          <p:cNvSpPr txBox="1"/>
          <p:nvPr>
            <p:ph type="body" idx="1"/>
          </p:nvPr>
        </p:nvSpPr>
        <p:spPr>
          <a:xfrm>
            <a:off x="1688592" y="3069576"/>
            <a:ext cx="21824355" cy="9296401"/>
          </a:xfrm>
          <a:prstGeom prst="rect">
            <a:avLst/>
          </a:prstGeom>
        </p:spPr>
        <p:txBody>
          <a:bodyPr/>
          <a:lstStyle/>
          <a:p>
            <a:pPr defTabSz="896111">
              <a:lnSpc>
                <a:spcPct val="120000"/>
              </a:lnSpc>
              <a:spcBef>
                <a:spcPts val="900"/>
              </a:spcBef>
              <a:defRPr sz="3724"/>
            </a:pPr>
            <a:r>
              <a:t>AI as documentation assistant, not documentation author</a:t>
            </a:r>
            <a:br/>
          </a:p>
          <a:p>
            <a:pPr defTabSz="896111">
              <a:lnSpc>
                <a:spcPct val="120000"/>
              </a:lnSpc>
              <a:spcBef>
                <a:spcPts val="900"/>
              </a:spcBef>
              <a:defRPr b="1" sz="3724"/>
            </a:pPr>
            <a:r>
              <a:t>Bad prompt:</a:t>
            </a:r>
          </a:p>
          <a:p>
            <a:pPr defTabSz="896111">
              <a:lnSpc>
                <a:spcPct val="120000"/>
              </a:lnSpc>
              <a:spcBef>
                <a:spcPts val="900"/>
              </a:spcBef>
              <a:defRPr sz="3724"/>
            </a:pPr>
            <a:r>
              <a:t>“Add comments to this code”</a:t>
            </a:r>
          </a:p>
          <a:p>
            <a:pPr defTabSz="896111">
              <a:lnSpc>
                <a:spcPct val="120000"/>
              </a:lnSpc>
              <a:spcBef>
                <a:spcPts val="900"/>
              </a:spcBef>
              <a:defRPr sz="3724"/>
            </a:pPr>
          </a:p>
          <a:p>
            <a:pPr defTabSz="896111">
              <a:lnSpc>
                <a:spcPct val="120000"/>
              </a:lnSpc>
              <a:spcBef>
                <a:spcPts val="900"/>
              </a:spcBef>
              <a:defRPr b="1" sz="3724"/>
            </a:pPr>
            <a:r>
              <a:t>Better prompt:</a:t>
            </a:r>
          </a:p>
          <a:p>
            <a:pPr defTabSz="896111">
              <a:lnSpc>
                <a:spcPct val="120000"/>
              </a:lnSpc>
              <a:spcBef>
                <a:spcPts val="900"/>
              </a:spcBef>
              <a:defRPr sz="3724"/>
            </a:pPr>
            <a:r>
              <a:t>“Here is the SHT31 datasheet. Document this code with references to the relevant datasheet sections.”</a:t>
            </a:r>
          </a:p>
          <a:p>
            <a:pPr defTabSz="896111">
              <a:lnSpc>
                <a:spcPct val="120000"/>
              </a:lnSpc>
              <a:spcBef>
                <a:spcPts val="900"/>
              </a:spcBef>
              <a:defRPr sz="3724"/>
            </a:pPr>
          </a:p>
          <a:p>
            <a:pPr defTabSz="896111">
              <a:lnSpc>
                <a:spcPct val="120000"/>
              </a:lnSpc>
              <a:spcBef>
                <a:spcPts val="900"/>
              </a:spcBef>
              <a:defRPr b="1" sz="3724"/>
            </a:pPr>
            <a:r>
              <a:t>Best prompt:</a:t>
            </a:r>
          </a:p>
          <a:p>
            <a:pPr defTabSz="896111">
              <a:lnSpc>
                <a:spcPct val="120000"/>
              </a:lnSpc>
              <a:spcBef>
                <a:spcPts val="900"/>
              </a:spcBef>
              <a:defRPr sz="3724"/>
            </a:pPr>
            <a:r>
              <a:t>“Here is the SHT31 datasheet. Here is our calibration report HCL-CAL-2024-003. Document this code explaining: Which datasheet tables the timing values come from,  Why we chose high repeatability mode, How the calibration offset was determined”</a:t>
            </a:r>
          </a:p>
        </p:txBody>
      </p:sp>
    </p:spTree>
  </p:cSld>
  <p:clrMapOvr>
    <a:masterClrMapping/>
  </p:clrMapOvr>
  <p:transition xmlns:p14="http://schemas.microsoft.com/office/powerpoint/2010/main" spd="med" advClick="1"/>
</p:sld>
</file>

<file path=ppt/slides/slide7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1" name="LLM/AI documentation assistant workflow"/>
          <p:cNvSpPr txBox="1"/>
          <p:nvPr>
            <p:ph type="title"/>
          </p:nvPr>
        </p:nvSpPr>
        <p:spPr>
          <a:prstGeom prst="rect">
            <a:avLst/>
          </a:prstGeom>
        </p:spPr>
        <p:txBody>
          <a:bodyPr/>
          <a:lstStyle/>
          <a:p>
            <a:pPr/>
            <a:r>
              <a:t>LLM/AI documentation assistant workflow</a:t>
            </a:r>
          </a:p>
        </p:txBody>
      </p:sp>
      <p:sp>
        <p:nvSpPr>
          <p:cNvPr id="422" name="The workflow…"/>
          <p:cNvSpPr txBox="1"/>
          <p:nvPr>
            <p:ph type="body" idx="1"/>
          </p:nvPr>
        </p:nvSpPr>
        <p:spPr>
          <a:xfrm>
            <a:off x="1688592" y="3069576"/>
            <a:ext cx="21824355" cy="9296401"/>
          </a:xfrm>
          <a:prstGeom prst="rect">
            <a:avLst/>
          </a:prstGeom>
        </p:spPr>
        <p:txBody>
          <a:bodyPr/>
          <a:lstStyle/>
          <a:p>
            <a:pPr>
              <a:lnSpc>
                <a:spcPct val="120000"/>
              </a:lnSpc>
              <a:defRPr b="1"/>
            </a:pPr>
            <a:r>
              <a:t>The workflow</a:t>
            </a:r>
          </a:p>
          <a:p>
            <a:pPr>
              <a:lnSpc>
                <a:spcPct val="120000"/>
              </a:lnSpc>
            </a:pPr>
            <a:r>
              <a:t>- You read the datasheet</a:t>
            </a:r>
          </a:p>
          <a:p>
            <a:pPr>
              <a:lnSpc>
                <a:spcPct val="120000"/>
              </a:lnSpc>
            </a:pPr>
            <a:r>
              <a:t>- You make the design decisions</a:t>
            </a:r>
          </a:p>
          <a:p>
            <a:pPr>
              <a:lnSpc>
                <a:spcPct val="120000"/>
              </a:lnSpc>
            </a:pPr>
            <a:r>
              <a:t>- You understand </a:t>
            </a:r>
            <a:r>
              <a:rPr i="1"/>
              <a:t>why</a:t>
            </a:r>
            <a:endParaRPr i="1"/>
          </a:p>
          <a:p>
            <a:pPr>
              <a:lnSpc>
                <a:spcPct val="120000"/>
              </a:lnSpc>
            </a:pPr>
          </a:p>
          <a:p>
            <a:pPr>
              <a:lnSpc>
                <a:spcPct val="120000"/>
              </a:lnSpc>
            </a:pPr>
            <a:r>
              <a:t>AI LLMs help you write it clearly, consistently, in proper Doxygen format</a:t>
            </a:r>
          </a:p>
          <a:p>
            <a:pPr>
              <a:lnSpc>
                <a:spcPct val="120000"/>
              </a:lnSpc>
            </a:pPr>
          </a:p>
          <a:p>
            <a:pPr>
              <a:lnSpc>
                <a:spcPct val="120000"/>
              </a:lnSpc>
            </a:pPr>
            <a:r>
              <a:t>AI LLMs are writing tools, not a knowledge tools.</a:t>
            </a:r>
          </a:p>
        </p:txBody>
      </p:sp>
    </p:spTree>
  </p:cSld>
  <p:clrMapOvr>
    <a:masterClrMapping/>
  </p:clrMapOvr>
  <p:transition xmlns:p14="http://schemas.microsoft.com/office/powerpoint/2010/main" spd="med" advClick="1"/>
</p:sld>
</file>

<file path=ppt/slides/slide7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4" name="Take away message"/>
          <p:cNvSpPr txBox="1"/>
          <p:nvPr>
            <p:ph type="title"/>
          </p:nvPr>
        </p:nvSpPr>
        <p:spPr>
          <a:prstGeom prst="rect">
            <a:avLst/>
          </a:prstGeom>
        </p:spPr>
        <p:txBody>
          <a:bodyPr/>
          <a:lstStyle/>
          <a:p>
            <a:pPr/>
            <a:r>
              <a:t>Take away message</a:t>
            </a:r>
          </a:p>
        </p:txBody>
      </p:sp>
      <p:sp>
        <p:nvSpPr>
          <p:cNvPr id="425" name="Comments explain what the code cannot say.…"/>
          <p:cNvSpPr txBox="1"/>
          <p:nvPr>
            <p:ph type="body" idx="1"/>
          </p:nvPr>
        </p:nvSpPr>
        <p:spPr>
          <a:xfrm>
            <a:off x="1688592" y="3069576"/>
            <a:ext cx="21824355" cy="9296401"/>
          </a:xfrm>
          <a:prstGeom prst="rect">
            <a:avLst/>
          </a:prstGeom>
        </p:spPr>
        <p:txBody>
          <a:bodyPr/>
          <a:lstStyle/>
          <a:p>
            <a:pPr>
              <a:lnSpc>
                <a:spcPct val="120000"/>
              </a:lnSpc>
              <a:defRPr i="1"/>
            </a:pPr>
            <a:r>
              <a:t>Comments explain what the code cannot say.</a:t>
            </a:r>
          </a:p>
          <a:p>
            <a:pPr>
              <a:lnSpc>
                <a:spcPct val="120000"/>
              </a:lnSpc>
            </a:pPr>
          </a:p>
          <a:p>
            <a:pPr>
              <a:lnSpc>
                <a:spcPct val="120000"/>
              </a:lnSpc>
            </a:pPr>
            <a:r>
              <a:t>AI only knows what the code already says.</a:t>
            </a:r>
          </a:p>
          <a:p>
            <a:pPr>
              <a:lnSpc>
                <a:spcPct val="120000"/>
              </a:lnSpc>
            </a:pPr>
            <a:r>
              <a:t>That's why AI LLMs can't write the comments that matter.</a:t>
            </a:r>
          </a:p>
          <a:p>
            <a:pPr>
              <a:lnSpc>
                <a:spcPct val="120000"/>
              </a:lnSpc>
            </a:pPr>
          </a:p>
          <a:p>
            <a:pPr>
              <a:lnSpc>
                <a:spcPct val="120000"/>
              </a:lnSpc>
            </a:pPr>
            <a:r>
              <a:t>AI + datasheet = useful documentation</a:t>
            </a:r>
          </a:p>
          <a:p>
            <a:pPr>
              <a:lnSpc>
                <a:spcPct val="120000"/>
              </a:lnSpc>
            </a:pPr>
            <a:r>
              <a:t>AI + nothing = professional-looking fiction</a:t>
            </a:r>
          </a:p>
        </p:txBody>
      </p:sp>
    </p:spTree>
  </p:cSld>
  <p:clrMapOvr>
    <a:masterClrMapping/>
  </p:clrMapOvr>
  <p:transition xmlns:p14="http://schemas.microsoft.com/office/powerpoint/2010/main" spd="med" advClick="1"/>
</p:sld>
</file>

<file path=ppt/slides/slide7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7" name="Titel 1"/>
          <p:cNvSpPr txBox="1"/>
          <p:nvPr>
            <p:ph type="title"/>
          </p:nvPr>
        </p:nvSpPr>
        <p:spPr>
          <a:prstGeom prst="rect">
            <a:avLst/>
          </a:prstGeom>
        </p:spPr>
        <p:txBody>
          <a:bodyPr/>
          <a:lstStyle/>
          <a:p>
            <a:pPr/>
            <a:r>
              <a:t>That’s all…</a:t>
            </a:r>
          </a:p>
          <a:p>
            <a:pPr/>
          </a:p>
          <a:p>
            <a:pPr/>
            <a:r>
              <a:t>Any questions?</a:t>
            </a:r>
          </a:p>
        </p:txBody>
      </p:sp>
      <p:sp>
        <p:nvSpPr>
          <p:cNvPr id="428" name="Tijdelijke aanduiding voor tekst 2"/>
          <p:cNvSpPr txBox="1"/>
          <p:nvPr>
            <p:ph type="body" sz="quarter" idx="1"/>
          </p:nvPr>
        </p:nvSpPr>
        <p:spPr>
          <a:xfrm>
            <a:off x="7416848" y="10488638"/>
            <a:ext cx="9550301" cy="1910626"/>
          </a:xfrm>
          <a:prstGeom prst="rect">
            <a:avLst/>
          </a:prstGeom>
        </p:spPr>
        <p:txBody>
          <a:bodyPr/>
          <a:lstStyle/>
          <a:p>
            <a:pPr>
              <a:lnSpc>
                <a:spcPct val="120000"/>
              </a:lnSpc>
            </a:pP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Kantoorthema">
  <a:themeElements>
    <a:clrScheme name="Kantoorthema">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Kantoorthema">
      <a:majorFont>
        <a:latin typeface="Helvetica"/>
        <a:ea typeface="Helvetica"/>
        <a:cs typeface="Helvetica"/>
      </a:majorFont>
      <a:minorFont>
        <a:latin typeface="Calibri"/>
        <a:ea typeface="Calibri"/>
        <a:cs typeface="Calibri"/>
      </a:minorFont>
    </a:fontScheme>
    <a:fmtScheme name="Kantoorthem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Kantoorthema">
  <a:themeElements>
    <a:clrScheme name="Kantoorthema">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Kantoorthema">
      <a:majorFont>
        <a:latin typeface="Helvetica"/>
        <a:ea typeface="Helvetica"/>
        <a:cs typeface="Helvetica"/>
      </a:majorFont>
      <a:minorFont>
        <a:latin typeface="Calibri"/>
        <a:ea typeface="Calibri"/>
        <a:cs typeface="Calibri"/>
      </a:minorFont>
    </a:fontScheme>
    <a:fmtScheme name="Kantoorthem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